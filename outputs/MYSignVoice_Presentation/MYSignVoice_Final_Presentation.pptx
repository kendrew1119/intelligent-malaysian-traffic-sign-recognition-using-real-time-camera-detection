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e80caafa934e6b" /><Relationship Type="http://schemas.openxmlformats.org/officeDocument/2006/relationships/extended-properties" Target="/docProps/app.xml" Id="R0dbb8ec413f44b34" /><Relationship Type="http://schemas.openxmlformats.org/officeDocument/2006/relationships/officeDocument" Target="/ppt/presentation.xml" Id="R2f0049cef357434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28cfb3e63e94019"/>
  </p:sldMasterIdLst>
  <p:notesMasterIdLst>
    <p:notesMasterId xmlns:r="http://schemas.openxmlformats.org/officeDocument/2006/relationships" r:id="Ra77672136bd34282"/>
  </p:notesMasterIdLst>
  <p:sldIdLst>
    <p:sldId xmlns:r="http://schemas.openxmlformats.org/officeDocument/2006/relationships" id="256" r:id="R1a1f2ceed2684061"/>
    <p:sldId xmlns:r="http://schemas.openxmlformats.org/officeDocument/2006/relationships" id="257" r:id="R3cf7e023691e40b9"/>
    <p:sldId xmlns:r="http://schemas.openxmlformats.org/officeDocument/2006/relationships" id="258" r:id="R9379db8a60404062"/>
    <p:sldId xmlns:r="http://schemas.openxmlformats.org/officeDocument/2006/relationships" id="259" r:id="R457c75c36f3c4c7f"/>
    <p:sldId xmlns:r="http://schemas.openxmlformats.org/officeDocument/2006/relationships" id="260" r:id="R7e6e3dc8e1104497"/>
    <p:sldId xmlns:r="http://schemas.openxmlformats.org/officeDocument/2006/relationships" id="261" r:id="R88dd236b07674f49"/>
    <p:sldId xmlns:r="http://schemas.openxmlformats.org/officeDocument/2006/relationships" id="262" r:id="Rcc3d36dfb2e445a9"/>
    <p:sldId xmlns:r="http://schemas.openxmlformats.org/officeDocument/2006/relationships" id="263" r:id="Ra141c0ad27734ae5"/>
    <p:sldId xmlns:r="http://schemas.openxmlformats.org/officeDocument/2006/relationships" id="264" r:id="R657533d9df664331"/>
    <p:sldId xmlns:r="http://schemas.openxmlformats.org/officeDocument/2006/relationships" id="265" r:id="R0d6bbfba03504976"/>
    <p:sldId xmlns:r="http://schemas.openxmlformats.org/officeDocument/2006/relationships" id="266" r:id="R0423047a5e7a499e"/>
    <p:sldId xmlns:r="http://schemas.openxmlformats.org/officeDocument/2006/relationships" id="267" r:id="R99c4c704bc2c4ac3"/>
    <p:sldId xmlns:r="http://schemas.openxmlformats.org/officeDocument/2006/relationships" id="268" r:id="R3ef2f1376e7e46b5"/>
    <p:sldId xmlns:r="http://schemas.openxmlformats.org/officeDocument/2006/relationships" id="269" r:id="Rd4ee60db6f5b4fcc"/>
    <p:sldId xmlns:r="http://schemas.openxmlformats.org/officeDocument/2006/relationships" id="270" r:id="Re0e93971d0104154"/>
    <p:sldId xmlns:r="http://schemas.openxmlformats.org/officeDocument/2006/relationships" id="271" r:id="Rc912e124230d4eeb"/>
    <p:sldId xmlns:r="http://schemas.openxmlformats.org/officeDocument/2006/relationships" id="272" r:id="Re31e50c9611341d5"/>
    <p:sldId xmlns:r="http://schemas.openxmlformats.org/officeDocument/2006/relationships" id="273" r:id="R789ac60d10084603"/>
    <p:sldId xmlns:r="http://schemas.openxmlformats.org/officeDocument/2006/relationships" id="274" r:id="R3d884c565d064a0c"/>
    <p:sldId xmlns:r="http://schemas.openxmlformats.org/officeDocument/2006/relationships" id="275" r:id="R56995da37ad04e9b"/>
    <p:sldId xmlns:r="http://schemas.openxmlformats.org/officeDocument/2006/relationships" id="276" r:id="R9af98263f4d34990"/>
    <p:sldId xmlns:r="http://schemas.openxmlformats.org/officeDocument/2006/relationships" id="277" r:id="R5fb118c192224ac7"/>
    <p:sldId xmlns:r="http://schemas.openxmlformats.org/officeDocument/2006/relationships" id="278" r:id="R4dc044b958884900"/>
  </p:sldIdLst>
  <p:sldSz cx="18288000" cy="10287000"/>
  <p:notesSz cx="6858000" cy="9144000"/>
  <p:embeddedFontLst>
    <p:embeddedFont>
      <p:font typeface="Open Sauce"/>
      <p:regular xmlns:r="http://schemas.openxmlformats.org/officeDocument/2006/relationships" r:id="R143521e0b4b844c4"/>
    </p:embeddedFont>
    <p:embeddedFont>
      <p:font typeface="Open Sauce Medium"/>
      <p:regular xmlns:r="http://schemas.openxmlformats.org/officeDocument/2006/relationships" r:id="R44b084b971ff4937"/>
    </p:embeddedFont>
    <p:embeddedFont>
      <p:font typeface="Open Sauce Bold"/>
      <p:regular xmlns:r="http://schemas.openxmlformats.org/officeDocument/2006/relationships" r:id="R2cad060394bb40a5"/>
    </p:embeddedFont>
    <p:embeddedFont>
      <p:font typeface="Glacial Indifference Bold"/>
      <p:regular xmlns:r="http://schemas.openxmlformats.org/officeDocument/2006/relationships" r:id="Ra0cec0f2fb9349c4"/>
    </p:embeddedFont>
    <p:embeddedFont>
      <p:font typeface="Canva Sans Bold"/>
      <p:regular xmlns:r="http://schemas.openxmlformats.org/officeDocument/2006/relationships" r:id="Rc080d5623d5d40a4"/>
    </p:embeddedFont>
    <p:embeddedFont>
      <p:font typeface="Canva Sans"/>
      <p:regular xmlns:r="http://schemas.openxmlformats.org/officeDocument/2006/relationships" r:id="R6a471925732e476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233b8c492ef428e" /><Relationship Type="http://schemas.openxmlformats.org/officeDocument/2006/relationships/slideMaster" Target="/ppt/slideMasters/slideMaster1.xml" Id="R128cfb3e63e94019" /><Relationship Type="http://schemas.openxmlformats.org/officeDocument/2006/relationships/notesMaster" Target="/ppt/notesMasters/notesMaster1.xml" Id="Ra77672136bd34282" /><Relationship Type="http://schemas.openxmlformats.org/officeDocument/2006/relationships/presProps" Target="/ppt/presProps.xml" Id="Rc0eb190d0d7f45c8" /><Relationship Type="http://schemas.openxmlformats.org/officeDocument/2006/relationships/viewProps" Target="/ppt/viewProps.xml" Id="R45317493bd514580" /><Relationship Type="http://schemas.openxmlformats.org/officeDocument/2006/relationships/tableStyles" Target="/ppt/tableStyles.xml" Id="R4b0edacf5a304085" /><Relationship Type="http://schemas.openxmlformats.org/officeDocument/2006/relationships/font" Target="/ppt/fonts/font.dat" Id="R143521e0b4b844c4" /><Relationship Type="http://schemas.openxmlformats.org/officeDocument/2006/relationships/font" Target="/ppt/fonts/font2.dat" Id="R44b084b971ff4937" /><Relationship Type="http://schemas.openxmlformats.org/officeDocument/2006/relationships/font" Target="/ppt/fonts/font3.dat" Id="R2cad060394bb40a5" /><Relationship Type="http://schemas.openxmlformats.org/officeDocument/2006/relationships/font" Target="/ppt/fonts/font4.dat" Id="Ra0cec0f2fb9349c4" /><Relationship Type="http://schemas.openxmlformats.org/officeDocument/2006/relationships/font" Target="/ppt/fonts/font5.dat" Id="Rc080d5623d5d40a4" /><Relationship Type="http://schemas.openxmlformats.org/officeDocument/2006/relationships/font" Target="/ppt/fonts/font6.dat" Id="R6a471925732e4762" /><Relationship Type="http://schemas.openxmlformats.org/officeDocument/2006/relationships/slide" Target="/ppt/slides/slide1.xml" Id="R1a1f2ceed2684061" /><Relationship Type="http://schemas.openxmlformats.org/officeDocument/2006/relationships/slide" Target="/ppt/slides/slide2.xml" Id="R3cf7e023691e40b9" /><Relationship Type="http://schemas.openxmlformats.org/officeDocument/2006/relationships/slide" Target="/ppt/slides/slide3.xml" Id="R9379db8a60404062" /><Relationship Type="http://schemas.openxmlformats.org/officeDocument/2006/relationships/slide" Target="/ppt/slides/slide4.xml" Id="R457c75c36f3c4c7f" /><Relationship Type="http://schemas.openxmlformats.org/officeDocument/2006/relationships/slide" Target="/ppt/slides/slide5.xml" Id="R7e6e3dc8e1104497" /><Relationship Type="http://schemas.openxmlformats.org/officeDocument/2006/relationships/slide" Target="/ppt/slides/slide6.xml" Id="R88dd236b07674f49" /><Relationship Type="http://schemas.openxmlformats.org/officeDocument/2006/relationships/slide" Target="/ppt/slides/slide7.xml" Id="Rcc3d36dfb2e445a9" /><Relationship Type="http://schemas.openxmlformats.org/officeDocument/2006/relationships/slide" Target="/ppt/slides/slide8.xml" Id="Ra141c0ad27734ae5" /><Relationship Type="http://schemas.openxmlformats.org/officeDocument/2006/relationships/slide" Target="/ppt/slides/slide9.xml" Id="R657533d9df664331" /><Relationship Type="http://schemas.openxmlformats.org/officeDocument/2006/relationships/slide" Target="/ppt/slides/slide10.xml" Id="R0d6bbfba03504976" /><Relationship Type="http://schemas.openxmlformats.org/officeDocument/2006/relationships/slide" Target="/ppt/slides/slide11.xml" Id="R0423047a5e7a499e" /><Relationship Type="http://schemas.openxmlformats.org/officeDocument/2006/relationships/slide" Target="/ppt/slides/slide12.xml" Id="R99c4c704bc2c4ac3" /><Relationship Type="http://schemas.openxmlformats.org/officeDocument/2006/relationships/slide" Target="/ppt/slides/slide13.xml" Id="R3ef2f1376e7e46b5" /><Relationship Type="http://schemas.openxmlformats.org/officeDocument/2006/relationships/slide" Target="/ppt/slides/slide14.xml" Id="Rd4ee60db6f5b4fcc" /><Relationship Type="http://schemas.openxmlformats.org/officeDocument/2006/relationships/slide" Target="/ppt/slides/slide15.xml" Id="Re0e93971d0104154" /><Relationship Type="http://schemas.openxmlformats.org/officeDocument/2006/relationships/slide" Target="/ppt/slides/slide16.xml" Id="Rc912e124230d4eeb" /><Relationship Type="http://schemas.openxmlformats.org/officeDocument/2006/relationships/slide" Target="/ppt/slides/slide17.xml" Id="Re31e50c9611341d5" /><Relationship Type="http://schemas.openxmlformats.org/officeDocument/2006/relationships/slide" Target="/ppt/slides/slide18.xml" Id="R789ac60d10084603" /><Relationship Type="http://schemas.openxmlformats.org/officeDocument/2006/relationships/slide" Target="/ppt/slides/slide19.xml" Id="R3d884c565d064a0c" /><Relationship Type="http://schemas.openxmlformats.org/officeDocument/2006/relationships/slide" Target="/ppt/slides/slide20.xml" Id="R56995da37ad04e9b" /><Relationship Type="http://schemas.openxmlformats.org/officeDocument/2006/relationships/slide" Target="/ppt/slides/slide21.xml" Id="R9af98263f4d34990" /><Relationship Type="http://schemas.openxmlformats.org/officeDocument/2006/relationships/slide" Target="/ppt/slides/slide22.xml" Id="R5fb118c192224ac7" /><Relationship Type="http://schemas.openxmlformats.org/officeDocument/2006/relationships/slide" Target="/ppt/slides/slide23.xml" Id="R4dc044b9588849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e00aef4fa443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3f00bfb4cc42d3" /><Relationship Type="http://schemas.openxmlformats.org/officeDocument/2006/relationships/notesMaster" Target="/ppt/notesMasters/notesMaster1.xml" Id="R89ba62facd344e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ae06709ffb47d3" /><Relationship Type="http://schemas.openxmlformats.org/officeDocument/2006/relationships/notesMaster" Target="/ppt/notesMasters/notesMaster1.xml" Id="R1c5cd2491037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09c282fb724675" /><Relationship Type="http://schemas.openxmlformats.org/officeDocument/2006/relationships/notesMaster" Target="/ppt/notesMasters/notesMaster1.xml" Id="R16dcdd1cc99842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ba4810a1b342f3" /><Relationship Type="http://schemas.openxmlformats.org/officeDocument/2006/relationships/notesMaster" Target="/ppt/notesMasters/notesMaster1.xml" Id="Rfda881f1a0b540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74bb01370c4dc7" /><Relationship Type="http://schemas.openxmlformats.org/officeDocument/2006/relationships/notesMaster" Target="/ppt/notesMasters/notesMaster1.xml" Id="R100932b5de80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1eb9a1278c40ed" /><Relationship Type="http://schemas.openxmlformats.org/officeDocument/2006/relationships/notesMaster" Target="/ppt/notesMasters/notesMaster1.xml" Id="Rc23210380eed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13670493c644ce" /><Relationship Type="http://schemas.openxmlformats.org/officeDocument/2006/relationships/notesMaster" Target="/ppt/notesMasters/notesMaster1.xml" Id="R17efb62f3a9346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af94f7ffa34718" /><Relationship Type="http://schemas.openxmlformats.org/officeDocument/2006/relationships/notesMaster" Target="/ppt/notesMasters/notesMaster1.xml" Id="Reaffaa662a1842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c2500630244b89" /><Relationship Type="http://schemas.openxmlformats.org/officeDocument/2006/relationships/notesMaster" Target="/ppt/notesMasters/notesMaster1.xml" Id="Ra50bd14cdb6546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8111edfe444ba4" /><Relationship Type="http://schemas.openxmlformats.org/officeDocument/2006/relationships/notesMaster" Target="/ppt/notesMasters/notesMaster1.xml" Id="R432db9f032cc47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35e3ea13e04bd9" /><Relationship Type="http://schemas.openxmlformats.org/officeDocument/2006/relationships/notesMaster" Target="/ppt/notesMasters/notesMaster1.xml" Id="R8754b496b56d42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28649b0ae443a5" /><Relationship Type="http://schemas.openxmlformats.org/officeDocument/2006/relationships/notesMaster" Target="/ppt/notesMasters/notesMaster1.xml" Id="R53a90ee45cde40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dea057db6240aa" /><Relationship Type="http://schemas.openxmlformats.org/officeDocument/2006/relationships/notesMaster" Target="/ppt/notesMasters/notesMaster1.xml" Id="R20803e88750d4a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8e7254f3da478e" /><Relationship Type="http://schemas.openxmlformats.org/officeDocument/2006/relationships/notesMaster" Target="/ppt/notesMasters/notesMaster1.xml" Id="R9a6706c17c0243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983deb1998452d" /><Relationship Type="http://schemas.openxmlformats.org/officeDocument/2006/relationships/notesMaster" Target="/ppt/notesMasters/notesMaster1.xml" Id="R96d3dbf3badc47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1d6f42a3304f38" /><Relationship Type="http://schemas.openxmlformats.org/officeDocument/2006/relationships/notesMaster" Target="/ppt/notesMasters/notesMaster1.xml" Id="Rdc8012298c4a43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9c46f29e9540ee" /><Relationship Type="http://schemas.openxmlformats.org/officeDocument/2006/relationships/notesMaster" Target="/ppt/notesMasters/notesMaster1.xml" Id="Reee7d38144a14f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7a38af5f474d44" /><Relationship Type="http://schemas.openxmlformats.org/officeDocument/2006/relationships/notesMaster" Target="/ppt/notesMasters/notesMaster1.xml" Id="R7e616d7742a343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63bf3497ec42f0" /><Relationship Type="http://schemas.openxmlformats.org/officeDocument/2006/relationships/notesMaster" Target="/ppt/notesMasters/notesMaster1.xml" Id="R803ffc21efd545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823f592cfa4596" /><Relationship Type="http://schemas.openxmlformats.org/officeDocument/2006/relationships/notesMaster" Target="/ppt/notesMasters/notesMaster1.xml" Id="R8fd4773ded2b45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9ab7dae635c452c" /><Relationship Type="http://schemas.openxmlformats.org/officeDocument/2006/relationships/notesMaster" Target="/ppt/notesMasters/notesMaster1.xml" Id="Rfd03e70a91c84f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d47a3a053e4e7c" /><Relationship Type="http://schemas.openxmlformats.org/officeDocument/2006/relationships/notesMaster" Target="/ppt/notesMasters/notesMaster1.xml" Id="R4915c5ba75a74f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e90a7729094c08" /><Relationship Type="http://schemas.openxmlformats.org/officeDocument/2006/relationships/notesMaster" Target="/ppt/notesMasters/notesMaster1.xml" Id="R3dc5f2bb7dc94d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Aedan Loh</a:t>
            </a:r>
          </a:p>
          <a:p xmlns:a="http://schemas.openxmlformats.org/drawingml/2006/main">
            <a:r>
              <a:t>Suggested time: 18 seconds</a:t>
            </a:r>
          </a:p>
          <a:p xmlns:a="http://schemas.openxmlformats.org/drawingml/2006/main">
            <a:r>
              <a:t/>
            </a:r>
          </a:p>
          <a:p xmlns:a="http://schemas.openxmlformats.org/drawingml/2006/main">
            <a:r>
              <a:t>Introduce MYSignVoice as a traffic-sign information prototype. The main design goal is to make visible sign information available through speech. It is not a navigation system or a medical aid.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Aedan Loh</a:t>
            </a:r>
          </a:p>
          <a:p xmlns:a="http://schemas.openxmlformats.org/drawingml/2006/main">
            <a:r>
              <a:t>Suggested time: 51 seconds</a:t>
            </a:r>
          </a:p>
          <a:p xmlns:a="http://schemas.openxmlformats.org/drawingml/2006/main">
            <a:r>
              <a:t/>
            </a:r>
          </a:p>
          <a:p xmlns:a="http://schemas.openxmlformats.org/drawingml/2006/main">
            <a:r>
              <a:t>Describe an example: a person can hear the name and meaning of a sign instead of relying only on the screen. Our prototype can support access to sign information, but this is a design goal rather than a proven outcome for people with visual impairment. Driver awareness is a secondary application. We have not implemented route guidance or crossing decisions.</a:t>
            </a:r>
          </a:p>
          <a:p xmlns:a="http://schemas.openxmlformats.org/drawingml/2006/main">
            <a:r>
              <a:t/>
            </a:r>
          </a:p>
          <a:p xmlns:a="http://schemas.openxmlformats.org/drawingml/2006/main">
            <a:r>
              <a:t>Sources:</a:t>
            </a:r>
          </a:p>
          <a:p xmlns:a="http://schemas.openxmlformats.org/drawingml/2006/main">
            <a:r>
              <a:t>webapp/sign_catalog.py</a:t>
            </a:r>
          </a:p>
          <a:p xmlns:a="http://schemas.openxmlformats.org/drawingml/2006/main">
            <a:r>
              <a:t>webapp/static/app.js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Aedan Loh</a:t>
            </a:r>
          </a:p>
          <a:p xmlns:a="http://schemas.openxmlformats.org/drawingml/2006/main">
            <a:r>
              <a:t>Suggested time: 45 seconds</a:t>
            </a:r>
          </a:p>
          <a:p xmlns:a="http://schemas.openxmlformats.org/drawingml/2006/main">
            <a:r>
              <a:t/>
            </a:r>
          </a:p>
          <a:p xmlns:a="http://schemas.openxmlformats.org/drawingml/2006/main">
            <a:r>
              <a:t>Present novelty as the way the system combines components for Malaysian sign information, not as a new neural-network architecture. The output includes meaning and speech, and the camera confirms signs over time. The system also checks the number inside a speed-limit sign. Hand over to Hui Min for the working interface.</a:t>
            </a:r>
          </a:p>
          <a:p xmlns:a="http://schemas.openxmlformats.org/drawingml/2006/main">
            <a:r>
              <a:t/>
            </a:r>
          </a:p>
          <a:p xmlns:a="http://schemas.openxmlformats.org/drawingml/2006/main">
            <a:r>
              <a:t>Sources:</a:t>
            </a:r>
          </a:p>
          <a:p xmlns:a="http://schemas.openxmlformats.org/drawingml/2006/main">
            <a:r>
              <a:t>webapp/sign_catalog.py</a:t>
            </a:r>
          </a:p>
          <a:p xmlns:a="http://schemas.openxmlformats.org/drawingml/2006/main">
            <a:r>
              <a:t>webapp/static/app.js</a:t>
            </a:r>
          </a:p>
          <a:p xmlns:a="http://schemas.openxmlformats.org/drawingml/2006/main">
            <a:r>
              <a:t>webapp/speed_limit_ocr.py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Tan Hui Min</a:t>
            </a:r>
          </a:p>
          <a:p xmlns:a="http://schemas.openxmlformats.org/drawingml/2006/main">
            <a:r>
              <a:t>Suggested time: 48 seconds</a:t>
            </a:r>
          </a:p>
          <a:p xmlns:a="http://schemas.openxmlformats.org/drawingml/2006/main">
            <a:r>
              <a:t/>
            </a:r>
          </a:p>
          <a:p xmlns:a="http://schemas.openxmlformats.org/drawingml/2006/main">
            <a:r>
              <a:t>Explain the two modes and point to the real interface. A user can upload an image, read the class and meaning, and press the speaker icon to hear it. The live camera uses automatic confirmation before speech. History includes processing milliseconds. These functions support the accessibility goal, although we still need a target-user evaluation.</a:t>
            </a:r>
          </a:p>
          <a:p xmlns:a="http://schemas.openxmlformats.org/drawingml/2006/main">
            <a:r>
              <a:t/>
            </a:r>
          </a:p>
          <a:p xmlns:a="http://schemas.openxmlformats.org/drawingml/2006/main">
            <a:r>
              <a:t>Sources:</a:t>
            </a:r>
          </a:p>
          <a:p xmlns:a="http://schemas.openxmlformats.org/drawingml/2006/main">
            <a:r>
              <a:t>webapp/static/index.html</a:t>
            </a:r>
          </a:p>
          <a:p xmlns:a="http://schemas.openxmlformats.org/drawingml/2006/main">
            <a:r>
              <a:t>webapp/static/app.js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Tan Hui Min</a:t>
            </a:r>
          </a:p>
          <a:p xmlns:a="http://schemas.openxmlformats.org/drawingml/2006/main">
            <a:r>
              <a:t>Suggested time: 54 seconds</a:t>
            </a:r>
          </a:p>
          <a:p xmlns:a="http://schemas.openxmlformats.org/drawingml/2006/main">
            <a:r>
              <a:t/>
            </a:r>
          </a:p>
          <a:p xmlns:a="http://schemas.openxmlformats.org/drawingml/2006/main">
            <a:r>
              <a:t>Explain one request from the browser. The API checks the upload, decodes it to an image, runs the detector, and returns JSON. The model stays loaded instead of loading again per frame. Detector calls use a lock to avoid simultaneous access. OCR only runs on speed-limit proposals, so ordinary signs avoid that work.</a:t>
            </a:r>
          </a:p>
          <a:p xmlns:a="http://schemas.openxmlformats.org/drawingml/2006/main">
            <a:r>
              <a:t/>
            </a:r>
          </a:p>
          <a:p xmlns:a="http://schemas.openxmlformats.org/drawingml/2006/main">
            <a:r>
              <a:t>Sources:</a:t>
            </a:r>
          </a:p>
          <a:p xmlns:a="http://schemas.openxmlformats.org/drawingml/2006/main">
            <a:r>
              <a:t>webapp/main.py</a:t>
            </a:r>
          </a:p>
          <a:p xmlns:a="http://schemas.openxmlformats.org/drawingml/2006/main">
            <a:r>
              <a:t>webapp/inference.py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Tan Hui Min</a:t>
            </a:r>
          </a:p>
          <a:p xmlns:a="http://schemas.openxmlformats.org/drawingml/2006/main">
            <a:r>
              <a:t>Suggested time: 54 seconds</a:t>
            </a:r>
          </a:p>
          <a:p xmlns:a="http://schemas.openxmlformats.org/drawingml/2006/main">
            <a:r>
              <a:t/>
            </a:r>
          </a:p>
          <a:p xmlns:a="http://schemas.openxmlformats.org/drawingml/2006/main">
            <a:r>
              <a:t>The camera has to balance missed signs against noisy speech. Spatial matching compares overlapping boxes, centre movement and size. High-confidence signs require two observations; others need three. Multiple confirmed classes can be spoken together. The five-second cooldown reduces repetition. Explain that an error repeated consistently could still be announced.</a:t>
            </a:r>
          </a:p>
          <a:p xmlns:a="http://schemas.openxmlformats.org/drawingml/2006/main">
            <a:r>
              <a:t/>
            </a:r>
          </a:p>
          <a:p xmlns:a="http://schemas.openxmlformats.org/drawingml/2006/main">
            <a:r>
              <a:t>Sources:</a:t>
            </a:r>
          </a:p>
          <a:p xmlns:a="http://schemas.openxmlformats.org/drawingml/2006/main">
            <a:r>
              <a:t>webapp/static/app.js</a:t>
            </a:r>
          </a:p>
          <a:p xmlns:a="http://schemas.openxmlformats.org/drawingml/2006/main">
            <a:r>
              <a:t>webapp/static/camera_safety.js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54 seconds</a:t>
            </a:r>
          </a:p>
          <a:p xmlns:a="http://schemas.openxmlformats.org/drawingml/2006/main">
            <a:r>
              <a:t/>
            </a:r>
          </a:p>
          <a:p xmlns:a="http://schemas.openxmlformats.org/drawingml/2006/main">
            <a:r>
              <a:t>Walk through the diagram from left to right, then back to the browser. Cloudflare provides an HTTPS route to the laptop; it does not run the model. FastAPI executes inference using OpenVINO. Only speed-limit candidates go through OCR. Browser logic confirms camera detections and produces speech. The illustration represents the implementation; it is not a cloud-compute architecture.</a:t>
            </a:r>
          </a:p>
          <a:p xmlns:a="http://schemas.openxmlformats.org/drawingml/2006/main">
            <a:r>
              <a:t/>
            </a:r>
          </a:p>
          <a:p xmlns:a="http://schemas.openxmlformats.org/drawingml/2006/main">
            <a:r>
              <a:t>Sources:</a:t>
            </a:r>
          </a:p>
          <a:p xmlns:a="http://schemas.openxmlformats.org/drawingml/2006/main">
            <a:r>
              <a:t>webapp/main.py</a:t>
            </a:r>
          </a:p>
          <a:p xmlns:a="http://schemas.openxmlformats.org/drawingml/2006/main">
            <a:r>
              <a:t>webapp/inference.py</a:t>
            </a:r>
          </a:p>
          <a:p xmlns:a="http://schemas.openxmlformats.org/drawingml/2006/main">
            <a:r>
              <a:t>README.md: Run on a phone with Cloudflare Tunnel</a:t>
            </a:r>
          </a:p>
          <a:p xmlns:a="http://schemas.openxmlformats.org/drawingml/2006/main">
            <a:r>
              <a:t>Architecture illustration generated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48 seconds</a:t>
            </a:r>
          </a:p>
          <a:p xmlns:a="http://schemas.openxmlformats.org/drawingml/2006/main">
            <a:r>
              <a:t/>
            </a:r>
          </a:p>
          <a:p xmlns:a="http://schemas.openxmlformats.org/drawingml/2006/main">
            <a:r>
              <a:t>Explain supervised object detection using labelled images, bounding boxes and class IDs. Training adjusts weights; validation informs checkpoint selection; the held-out test is reserved for evaluation. Export changes the runtime format rather than replacing the trained task. Avoid implying that our project invented YOLO or that the test set updates the model.</a:t>
            </a:r>
          </a:p>
          <a:p xmlns:a="http://schemas.openxmlformats.org/drawingml/2006/main">
            <a:r>
              <a:t/>
            </a:r>
          </a:p>
          <a:p xmlns:a="http://schemas.openxmlformats.org/drawingml/2006/main">
            <a:r>
              <a:t>Sources:</a:t>
            </a:r>
          </a:p>
          <a:p xmlns:a="http://schemas.openxmlformats.org/drawingml/2006/main">
            <a:r>
              <a:t>models/model_manifest.json</a:t>
            </a:r>
          </a:p>
          <a:p xmlns:a="http://schemas.openxmlformats.org/drawingml/2006/main">
            <a:r>
              <a:t>models/best_openvino_model/metadata.yaml</a:t>
            </a:r>
          </a:p>
          <a:p xmlns:a="http://schemas.openxmlformats.org/drawingml/2006/main">
            <a:r>
              <a:t>training/build_yolo26_v3_runpod_notebook.py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48 seconds</a:t>
            </a:r>
          </a:p>
          <a:p xmlns:a="http://schemas.openxmlformats.org/drawingml/2006/main">
            <a:r>
              <a:t/>
            </a:r>
          </a:p>
          <a:p xmlns:a="http://schemas.openxmlformats.org/drawingml/2006/main">
            <a:r>
              <a:t>These are the final Version 3 image counts. Explain the separate roles of the training, validation and test splits. Related frames must stay together to avoid similar images leaking across sets. The class distribution is uneven. Some rare classes have very few test examples, which limits conclusions about those classes.</a:t>
            </a:r>
          </a:p>
          <a:p xmlns:a="http://schemas.openxmlformats.org/drawingml/2006/main">
            <a:r>
              <a:t/>
            </a:r>
          </a:p>
          <a:p xmlns:a="http://schemas.openxmlformats.org/drawingml/2006/main">
            <a:r>
              <a:t>Sources:</a:t>
            </a:r>
          </a:p>
          <a:p xmlns:a="http://schemas.openxmlformats.org/drawingml/2006/main">
            <a:r>
              <a:t>training/results/v3/report_artifacts/dataset_split_summary.csv</a:t>
            </a:r>
          </a:p>
          <a:p xmlns:a="http://schemas.openxmlformats.org/drawingml/2006/main">
            <a:r>
              <a:t>training/results/v3/report_artifacts/class_distribution.csv</a:t>
            </a:r>
          </a:p>
          <a:p xmlns:a="http://schemas.openxmlformats.org/drawingml/2006/main">
            <a:r>
              <a:t>models/model_manifest.json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60 seconds</a:t>
            </a:r>
          </a:p>
          <a:p xmlns:a="http://schemas.openxmlformats.org/drawingml/2006/main">
            <a:r>
              <a:t/>
            </a:r>
          </a:p>
          <a:p xmlns:a="http://schemas.openxmlformats.org/drawingml/2006/main">
            <a:r>
              <a:t>These curves come from the saved Version 1 baseline training record. Lower loss means the predicted boxes better match the labels. Validation mAP increases and then approaches a plateau. The stricter mAP across IoU thresholds stays lower because it demands more accurate localization. Version 3 is a later fine-tuned model, and its test results are reported separately.</a:t>
            </a:r>
          </a:p>
          <a:p xmlns:a="http://schemas.openxmlformats.org/drawingml/2006/main">
            <a:r>
              <a:t/>
            </a:r>
          </a:p>
          <a:p xmlns:a="http://schemas.openxmlformats.org/drawingml/2006/main">
            <a:r>
              <a:t>Sources:</a:t>
            </a:r>
          </a:p>
          <a:p xmlns:a="http://schemas.openxmlformats.org/drawingml/2006/main">
            <a:r>
              <a:t>training/results/final_v1/baseline_results.csv</a:t>
            </a:r>
          </a:p>
          <a:p xmlns:a="http://schemas.openxmlformats.org/drawingml/2006/main">
            <a:r>
              <a:t>training/results/final_v1/report_artifacts/baseline_summary.csv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48 seconds</a:t>
            </a:r>
          </a:p>
          <a:p xmlns:a="http://schemas.openxmlformats.org/drawingml/2006/main">
            <a:r>
              <a:t/>
            </a:r>
          </a:p>
          <a:p xmlns:a="http://schemas.openxmlformats.org/drawingml/2006/main">
            <a:r>
              <a:t>Explain precision as how often a reported sign is correct and recall as how many labelled signs are found. Raising confidence can reduce false positives but also miss more signs. F1 balances precision and recall. These are Version 1 tuned-model curves and do not establish an optimal threshold for every camera condition. The app uses 20% for uploads and a higher default for camera mode.</a:t>
            </a:r>
          </a:p>
          <a:p xmlns:a="http://schemas.openxmlformats.org/drawingml/2006/main">
            <a:r>
              <a:t/>
            </a:r>
          </a:p>
          <a:p xmlns:a="http://schemas.openxmlformats.org/drawingml/2006/main">
            <a:r>
              <a:t>Sources:</a:t>
            </a:r>
          </a:p>
          <a:p xmlns:a="http://schemas.openxmlformats.org/drawingml/2006/main">
            <a:r>
              <a:t>training/results/final_v1/report_artifacts/final_test_tuned_cls_pw_025/BoxPR_curve.png</a:t>
            </a:r>
          </a:p>
          <a:p xmlns:a="http://schemas.openxmlformats.org/drawingml/2006/main">
            <a:r>
              <a:t>training/results/final_v1/report_artifacts/final_test_tuned_cls_pw_025/BoxF1_curve.png</a:t>
            </a:r>
          </a:p>
          <a:p xmlns:a="http://schemas.openxmlformats.org/drawingml/2006/main">
            <a:r>
              <a:t>webapp/static/app.js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51 seconds</a:t>
            </a:r>
          </a:p>
          <a:p xmlns:a="http://schemas.openxmlformats.org/drawingml/2006/main">
            <a:r>
              <a:t/>
            </a:r>
          </a:p>
          <a:p xmlns:a="http://schemas.openxmlformats.org/drawingml/2006/main">
            <a:r>
              <a:t>State the final deployed Version 3 results: precision 93.04%, recall 86.70%, F1 89.76%, mAP at 0.5 of 93.86%, and stricter mAP of 77.70%. The precision-recall difference means missed signs remain important. The test set contains 838 images and 867 labelled objects. Do not describe the 84-image recognition result as the test-set accuracy.</a:t>
            </a:r>
          </a:p>
          <a:p xmlns:a="http://schemas.openxmlformats.org/drawingml/2006/main">
            <a:r>
              <a:t/>
            </a:r>
          </a:p>
          <a:p xmlns:a="http://schemas.openxmlformats.org/drawingml/2006/main">
            <a:r>
              <a:t>Sources:</a:t>
            </a:r>
          </a:p>
          <a:p xmlns:a="http://schemas.openxmlformats.org/drawingml/2006/main">
            <a:r>
              <a:t>models/model_manifest.json</a:t>
            </a:r>
          </a:p>
          <a:p xmlns:a="http://schemas.openxmlformats.org/drawingml/2006/main">
            <a:r>
              <a:t>training/results/v3/report_artifacts/final_test_comparison.csv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48 seconds</a:t>
            </a:r>
          </a:p>
          <a:p xmlns:a="http://schemas.openxmlformats.org/drawingml/2006/main">
            <a:r>
              <a:t/>
            </a:r>
          </a:p>
          <a:p xmlns:a="http://schemas.openxmlformats.org/drawingml/2006/main">
            <a:r>
              <a:t>Explain why the fastest measured option was not selected. ROI-only processing ran quickly because it submitted very few candidate crops to YOLO. It found detections on only 2 of the 84 images. Full-frame processing detected a sign in every image, at about 3.34 FPS. This benchmark has no ground-truth boxes, so the coverage measure must not be called recall. The hybrid interval also skips full scans in this independent-image sequence; it is not a video tracking comparison.</a:t>
            </a:r>
          </a:p>
          <a:p xmlns:a="http://schemas.openxmlformats.org/drawingml/2006/main">
            <a:r>
              <a:t/>
            </a:r>
          </a:p>
          <a:p xmlns:a="http://schemas.openxmlformats.org/drawingml/2006/main">
            <a:r>
              <a:t>Sources:</a:t>
            </a:r>
          </a:p>
          <a:p xmlns:a="http://schemas.openxmlformats.org/drawingml/2006/main">
            <a:r>
              <a:t>outputs/v3_84_benchmark/benchmark_summary.json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42 seconds</a:t>
            </a:r>
          </a:p>
          <a:p xmlns:a="http://schemas.openxmlformats.org/drawingml/2006/main">
            <a:r>
              <a:t/>
            </a:r>
          </a:p>
          <a:p xmlns:a="http://schemas.openxmlformats.org/drawingml/2006/main">
            <a:r>
              <a:t>Keep the evidence levels separate. Held-out detection metrics assess a labelled test set. The reviewed 84 images assess the highest-confidence class only and cover 48 classes. We have also rechecked one original demo image for each available class through the running API; all 48 returned the expected class. The team will supply the remaining 15 examples. A prepared successful demo is not a replacement for an unbiased test.</a:t>
            </a:r>
          </a:p>
          <a:p xmlns:a="http://schemas.openxmlformats.org/drawingml/2006/main">
            <a:r>
              <a:t/>
            </a:r>
          </a:p>
          <a:p xmlns:a="http://schemas.openxmlformats.org/drawingml/2006/main">
            <a:r>
              <a:t>Sources:</a:t>
            </a:r>
          </a:p>
          <a:p xmlns:a="http://schemas.openxmlformats.org/drawingml/2006/main">
            <a:r>
              <a:t>outputs/v2_v3_84_comparison/summary.json</a:t>
            </a:r>
          </a:p>
          <a:p xmlns:a="http://schemas.openxmlformats.org/drawingml/2006/main">
            <a:r>
              <a:t>outputs/MYSignVoice_Presentation/demo/verification_results.json</a:t>
            </a:r>
          </a:p>
          <a:p xmlns:a="http://schemas.openxmlformats.org/drawingml/2006/main">
            <a:r>
              <a:t>outputs/MYSignVoice_Presentation/demo/class_coverage.csv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51 seconds</a:t>
            </a:r>
          </a:p>
          <a:p xmlns:a="http://schemas.openxmlformats.org/drawingml/2006/main">
            <a:r>
              <a:t/>
            </a:r>
          </a:p>
          <a:p xmlns:a="http://schemas.openxmlformats.org/drawingml/2006/main">
            <a:r>
              <a:t>Use the new collage test as an honest stress example. Every selected sign worked alone, but putting four full images in one square frame changed apparent size and context. Across 12 collages, 36 of 48 expected classes appeared and 11 additional class detections appeared; only four frames recovered all four expected classes. These figures are not mAP and we have not isolated the exact cause of each error. The model also has a closed set of supported labels.</a:t>
            </a:r>
          </a:p>
          <a:p xmlns:a="http://schemas.openxmlformats.org/drawingml/2006/main">
            <a:r>
              <a:t/>
            </a:r>
          </a:p>
          <a:p xmlns:a="http://schemas.openxmlformats.org/drawingml/2006/main">
            <a:r>
              <a:t>Sources:</a:t>
            </a:r>
          </a:p>
          <a:p xmlns:a="http://schemas.openxmlformats.org/drawingml/2006/main">
            <a:r>
              <a:t>outputs/MYSignVoice_Presentation/demo/verification_results.json</a:t>
            </a:r>
          </a:p>
          <a:p xmlns:a="http://schemas.openxmlformats.org/drawingml/2006/main">
            <a:r>
              <a:t>models/model_manifest.json</a:t>
            </a:r>
          </a:p>
          <a:p xmlns:a="http://schemas.openxmlformats.org/drawingml/2006/main">
            <a:r>
              <a:t>training/results/v3/report_artifacts/class_distribution.csv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30 seconds</a:t>
            </a:r>
          </a:p>
          <a:p xmlns:a="http://schemas.openxmlformats.org/drawingml/2006/main">
            <a:r>
              <a:t/>
            </a:r>
          </a:p>
          <a:p xmlns:a="http://schemas.openxmlformats.org/drawingml/2006/main">
            <a:r>
              <a:t>Describe beta testing as the next user-evaluation step. Ask participants outside the team to complete tasks and provide feedback, and involve target users where feasible. Use the questionnaire to assess speech clarity, repetition and readability. Participant results remain to be collected and verified.</a:t>
            </a:r>
          </a:p>
          <a:p xmlns:a="http://schemas.openxmlformats.org/drawingml/2006/main">
            <a:r>
              <a:t/>
            </a:r>
          </a:p>
          <a:p xmlns:a="http://schemas.openxmlformats.org/drawingml/2006/main">
            <a:r>
              <a:t>Sources:</a:t>
            </a:r>
          </a:p>
          <a:p xmlns:a="http://schemas.openxmlformats.org/drawingml/2006/main">
            <a:r>
              <a:t>D:/MYSignVoice_Final_Report_5_Chapters_final.docx: sections 4.6, 5.2 and Appendix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Crystalina Dibble</a:t>
            </a:r>
          </a:p>
          <a:p xmlns:a="http://schemas.openxmlformats.org/drawingml/2006/main">
            <a:r>
              <a:t>Suggested time: 39 seconds</a:t>
            </a:r>
          </a:p>
          <a:p xmlns:a="http://schemas.openxmlformats.org/drawingml/2006/main">
            <a:r>
              <a:t/>
            </a:r>
          </a:p>
          <a:p xmlns:a="http://schemas.openxmlformats.org/drawingml/2006/main">
            <a:r>
              <a:t>Link each limitation to a concrete follow-up. More data is needed for rare signs and challenging conditions. Accessible interaction requires work with target users, including control sizes, contrast and speech. A portable deployment could remove laptop dependence but must be tested for speed and accuracy. Higher resolution and multi-sign training may help crowded scenes, but these are proposed improvements rather than proven fixes.</a:t>
            </a:r>
          </a:p>
          <a:p xmlns:a="http://schemas.openxmlformats.org/drawingml/2006/main">
            <a:r>
              <a:t/>
            </a:r>
          </a:p>
          <a:p xmlns:a="http://schemas.openxmlformats.org/drawingml/2006/main">
            <a:r>
              <a:t>Sources:</a:t>
            </a:r>
          </a:p>
          <a:p xmlns:a="http://schemas.openxmlformats.org/drawingml/2006/main">
            <a:r>
              <a:t>models/model_manifest.json</a:t>
            </a:r>
          </a:p>
          <a:p xmlns:a="http://schemas.openxmlformats.org/drawingml/2006/main">
            <a:r>
              <a:t>webapp/static/app.js</a:t>
            </a:r>
          </a:p>
          <a:p xmlns:a="http://schemas.openxmlformats.org/drawingml/2006/main">
            <a:r>
              <a:t>outputs/v3_84_benchmark/benchmark_summary.json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Aedan Loh</a:t>
            </a:r>
          </a:p>
          <a:p xmlns:a="http://schemas.openxmlformats.org/drawingml/2006/main">
            <a:r>
              <a:t>Suggested time: 39 seconds</a:t>
            </a:r>
          </a:p>
          <a:p xmlns:a="http://schemas.openxmlformats.org/drawingml/2006/main">
            <a:r>
              <a:t/>
            </a:r>
          </a:p>
          <a:p xmlns:a="http://schemas.openxmlformats.org/drawingml/2006/main">
            <a:r>
              <a:t>Summarize the implemented system and its main evidence. The project contributes an integrated sign-to-speech experience around a trained detector. Our key next step is user validation and more demanding camera tests. Then introduce Hui Min, who will play the recorded demonstration and show class coverage.</a:t>
            </a:r>
          </a:p>
          <a:p xmlns:a="http://schemas.openxmlformats.org/drawingml/2006/main">
            <a:r>
              <a:t/>
            </a:r>
          </a:p>
          <a:p xmlns:a="http://schemas.openxmlformats.org/drawingml/2006/main">
            <a:r>
              <a:t>Sources:</a:t>
            </a:r>
          </a:p>
          <a:p xmlns:a="http://schemas.openxmlformats.org/drawingml/2006/main">
            <a:r>
              <a:t>models/model_manifest.json</a:t>
            </a:r>
          </a:p>
          <a:p xmlns:a="http://schemas.openxmlformats.org/drawingml/2006/main">
            <a:r>
              <a:t>webapp/main.py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Tan Hui Min</a:t>
            </a:r>
          </a:p>
          <a:p xmlns:a="http://schemas.openxmlformats.org/drawingml/2006/main">
            <a:r>
              <a:t>Suggested time: 300 seconds</a:t>
            </a:r>
          </a:p>
          <a:p xmlns:a="http://schemas.openxmlformats.org/drawingml/2006/main">
            <a:r>
              <a:t/>
            </a:r>
          </a:p>
          <a:p xmlns:a="http://schemas.openxmlformats.org/drawingml/2006/main">
            <a:r>
              <a:t>Switch to the external video. Allocate about 1–2 minutes to the school-zone recording and the remaining time to class coverage. Use a fixed camera or a passenger to operate recording equipment; the driver should not operate the app. The supplied 48 originals cover 48 classes; add and test the remaining 15. A montage of actual detections can make the coverage video short enough, but keep every class name readable. The current deck does not contain the video.</a:t>
            </a:r>
          </a:p>
          <a:p xmlns:a="http://schemas.openxmlformats.org/drawingml/2006/main">
            <a:r>
              <a:t/>
            </a:r>
          </a:p>
          <a:p xmlns:a="http://schemas.openxmlformats.org/drawingml/2006/main">
            <a:r>
              <a:t>Sources:</a:t>
            </a:r>
          </a:p>
          <a:p xmlns:a="http://schemas.openxmlformats.org/drawingml/2006/main">
            <a:r>
              <a:t>outputs/MYSignVoice_Presentation/demo/README.md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Team 4</a:t>
            </a:r>
          </a:p>
          <a:p xmlns:a="http://schemas.openxmlformats.org/drawingml/2006/main">
            <a:r>
              <a:t>Suggested time: Backup / transition</a:t>
            </a:r>
          </a:p>
          <a:p xmlns:a="http://schemas.openxmlformats.org/drawingml/2006/main">
            <a:r>
              <a:t/>
            </a:r>
          </a:p>
          <a:p xmlns:a="http://schemas.openxmlformats.org/drawingml/2006/main">
            <a:r>
              <a:t>Return to this slide after the demonstration and invite questions. Backup plots follow only if needed.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Backup / transition</a:t>
            </a:r>
          </a:p>
          <a:p xmlns:a="http://schemas.openxmlformats.org/drawingml/2006/main">
            <a:r>
              <a:t/>
            </a:r>
          </a:p>
          <a:p xmlns:a="http://schemas.openxmlformats.org/drawingml/2006/main">
            <a:r>
              <a:t>Use only for questions about loss components. These plots are from Version 1, not the final Version 3 tuning run.</a:t>
            </a:r>
          </a:p>
          <a:p xmlns:a="http://schemas.openxmlformats.org/drawingml/2006/main">
            <a:r>
              <a:t/>
            </a:r>
          </a:p>
          <a:p xmlns:a="http://schemas.openxmlformats.org/drawingml/2006/main">
            <a:r>
              <a:t>Sources:</a:t>
            </a:r>
          </a:p>
          <a:p xmlns:a="http://schemas.openxmlformats.org/drawingml/2006/main">
            <a:r>
              <a:t>training/results/final_v1/report_artifacts/baseline_loss_curves.png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Backup / transition</a:t>
            </a:r>
          </a:p>
          <a:p xmlns:a="http://schemas.openxmlformats.org/drawingml/2006/main">
            <a:r>
              <a:t/>
            </a:r>
          </a:p>
          <a:p xmlns:a="http://schemas.openxmlformats.org/drawingml/2006/main">
            <a:r>
              <a:t>Use only for threshold questions. Explain that a threshold decision depends on the intended tradeoff and operating conditions.</a:t>
            </a:r>
          </a:p>
          <a:p xmlns:a="http://schemas.openxmlformats.org/drawingml/2006/main">
            <a:r>
              <a:t/>
            </a:r>
          </a:p>
          <a:p xmlns:a="http://schemas.openxmlformats.org/drawingml/2006/main">
            <a:r>
              <a:t>Sources:</a:t>
            </a:r>
          </a:p>
          <a:p xmlns:a="http://schemas.openxmlformats.org/drawingml/2006/main">
            <a:r>
              <a:t>training/results/final_v1/report_artifacts/final_test_tuned_cls_pw_025/BoxP_curve.png</a:t>
            </a:r>
          </a:p>
          <a:p xmlns:a="http://schemas.openxmlformats.org/drawingml/2006/main">
            <a:r>
              <a:t>training/results/final_v1/report_artifacts/final_test_tuned_cls_pw_025/BoxR_curve.png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Kendrew Lim Yan Zhe</a:t>
            </a:r>
          </a:p>
          <a:p xmlns:a="http://schemas.openxmlformats.org/drawingml/2006/main">
            <a:r>
              <a:t>Suggested time: Backup / transition</a:t>
            </a:r>
          </a:p>
          <a:p xmlns:a="http://schemas.openxmlformats.org/drawingml/2006/main">
            <a:r>
              <a:t/>
            </a:r>
          </a:p>
          <a:p xmlns:a="http://schemas.openxmlformats.org/drawingml/2006/main">
            <a:r>
              <a:t>This is the original Version 1 tuned-model test confusion matrix. Read its axis labels before interpreting a cell. The diagonal shows matches; off-diagonal values show confusion and the background category represents unmatched predictions or ground truth. Do not label this as the Version 3 confusion matrix.</a:t>
            </a:r>
          </a:p>
          <a:p xmlns:a="http://schemas.openxmlformats.org/drawingml/2006/main">
            <a:r>
              <a:t/>
            </a:r>
          </a:p>
          <a:p xmlns:a="http://schemas.openxmlformats.org/drawingml/2006/main">
            <a:r>
              <a:t>Sources:</a:t>
            </a:r>
          </a:p>
          <a:p xmlns:a="http://schemas.openxmlformats.org/drawingml/2006/main">
            <a:r>
              <a:t>training/results/final_v1/report_artifacts/final_test_tuned_cls_pw_025/confusion_matrix_normalized.png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9cbf3f34c848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c339438fbb41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df01961a3846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619f7ee39942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ad46bc207344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5421eee8c248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39ad57295a45d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c336542af248b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b4d73412ac7489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2abc70b4875495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61278cbe16c47f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E8F456-0E9C-41A0-B1B9-11F59C2A277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1F88677-1933-4903-9DE9-A62E9C9DCC9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C626BDC-8027-4F5C-AA3A-73F7A9278D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07760C4-759C-4A56-865F-598A460685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20C3547-052B-4A7E-A739-0A53D677A6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1A0404-6994-4641-A9CD-315967683F9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B39C0C6-7139-4974-B2FF-C045D4CC47C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23DC3D7-5432-4D25-A109-664EFFF6D0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6A9A461-3D04-4C4E-B99A-C29F131E71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A3CF83-3CCB-4C6C-9C29-2550191222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AE5834-284A-48E3-BA9F-834DF1D7AE43}"/>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2395610-DCF1-49BE-8214-8C7833DDE9D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990C1C-462E-4627-B1C1-7774D2BC8E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3345307-FBD7-4582-B227-BCF48C759D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E2884E-A89F-4F70-80A8-F3772451C5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643D4E8-CD1F-4FC1-A022-7A394E3DFD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5618740-EE7D-4696-BEA5-9E2BEB534E5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E003421-B3BC-4851-93E0-BF76A604617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3613EC7-9F90-46FC-9DEE-941342E627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5C2FF2D7-8F45-46EF-9CA6-742DF0ACD1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ADE4934-DD0D-45AC-9AB9-6C82F0D987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F0BE9B-0FCF-4C83-BE12-D6F8B95713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FF1A726-5322-49B0-B068-A4D10DEDE9C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3CED7FF-71B4-41B9-8327-D975BADF777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B5AA0EA-0BA5-44CB-9DD1-6CA903E7B16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D946393-B785-44CD-ABC3-C062B9B2EE0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B28FE05-D9EB-46D4-B846-70A215B060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2F91ACA1-9EBB-4CB0-9B23-6FB5D857A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05DFD4C-C933-4050-81D4-E8D97681FB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B167C6-B199-47DD-BE7E-DAB72EC2546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856D43C-84B0-4817-9F07-8C9D98DE7F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83492B87-0F1A-4A3B-A667-F0C516E8D2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E477323-AF65-453C-8583-404F5E82A6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773CB09-938E-45C6-AE8C-AF37394485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38FF205C-65A2-43CE-A7E4-33FA604A83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C295723-8EFD-48EB-9C8F-EF46AEE12B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DF5E83-99EA-4019-A2AA-3163192B8FF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F4AAD8A-B7BC-44C8-8C88-9C2D10883C3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03EF685-1630-4CBF-8163-80B9A5BA288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5BEE60-2E20-45CF-B5CA-F4697C5722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2B6BAEF-1BC7-46D8-BEB1-2FF11AC8A0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632F37D-6F7D-4E88-8C04-76F2418C43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021F1A-80D9-4A42-8040-E4B19361761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EF2C510-9B55-451A-87FA-1C408A183E7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EB2BFE7-F24F-4007-8717-24EF0ECBE8C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339DAC-FDC7-49B8-90AF-38E44ECBC4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B9E71486-A0B2-408E-8250-349DF76600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3F370C9-3547-40BF-896F-DDDC763AC8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F89DBB-C557-4297-B7D2-DB9DB6935F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A0E947B-E3AA-4597-89B2-9320BACC7AA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08B9343-97C0-48B6-AD03-338819648D8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CD74FA0-4AE1-4BD7-9C10-2A930EE080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040443-138E-4AAB-9BE5-C8C312A31B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8D44BEF-213B-4D31-97C7-A93F5256E16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0328CE1-1137-4607-8961-83A9F2F8A46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4BB41B-58B9-4DEC-99D5-20C1D3DAEA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BECC3DC-38B2-465A-81CE-B9A7A056DE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8485F2-ABDD-4F0B-BCFE-5A55A89EF1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a8f1e38c554127" /><Relationship Type="http://schemas.openxmlformats.org/officeDocument/2006/relationships/slideLayout" Target="/ppt/slideLayouts/slideLayout1.xml" Id="Rec4739968b65401a" /><Relationship Type="http://schemas.openxmlformats.org/officeDocument/2006/relationships/slideLayout" Target="/ppt/slideLayouts/slideLayout2.xml" Id="R960f2e4e81d84e51" /><Relationship Type="http://schemas.openxmlformats.org/officeDocument/2006/relationships/slideLayout" Target="/ppt/slideLayouts/slideLayout3.xml" Id="R5cbf74b1996e4de1" /><Relationship Type="http://schemas.openxmlformats.org/officeDocument/2006/relationships/slideLayout" Target="/ppt/slideLayouts/slideLayout4.xml" Id="R02290efff1314bc4" /><Relationship Type="http://schemas.openxmlformats.org/officeDocument/2006/relationships/slideLayout" Target="/ppt/slideLayouts/slideLayout5.xml" Id="Rb9c1527ee85b4065" /><Relationship Type="http://schemas.openxmlformats.org/officeDocument/2006/relationships/slideLayout" Target="/ppt/slideLayouts/slideLayout6.xml" Id="R4c9293b3d93a4383" /><Relationship Type="http://schemas.openxmlformats.org/officeDocument/2006/relationships/slideLayout" Target="/ppt/slideLayouts/slideLayout7.xml" Id="R38de24e3af3249bc" /><Relationship Type="http://schemas.openxmlformats.org/officeDocument/2006/relationships/slideLayout" Target="/ppt/slideLayouts/slideLayout8.xml" Id="Rf30814e1470648ad" /><Relationship Type="http://schemas.openxmlformats.org/officeDocument/2006/relationships/slideLayout" Target="/ppt/slideLayouts/slideLayout9.xml" Id="Rac4069a8fc324ae6" /><Relationship Type="http://schemas.openxmlformats.org/officeDocument/2006/relationships/slideLayout" Target="/ppt/slideLayouts/slideLayout10.xml" Id="Rb3c63085638149f4" /><Relationship Type="http://schemas.openxmlformats.org/officeDocument/2006/relationships/slideLayout" Target="/ppt/slideLayouts/slideLayout11.xml" Id="Rc303d784c3df467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3A5542B-7BF7-44E7-A0B9-FABBE9203FA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A3E7740-F543-4F4D-9FAA-801DB101596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D7281F8-2DB3-4B13-A04B-3DA91FE1C19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09055DF-4060-4C8B-BEF2-F95BA2DA7B4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77F1D36-459D-4547-AC85-9DAD80420F2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4739968b65401a"/>
    <p:sldLayoutId xmlns:r="http://schemas.openxmlformats.org/officeDocument/2006/relationships" id="2147483650" r:id="R960f2e4e81d84e51"/>
    <p:sldLayoutId xmlns:r="http://schemas.openxmlformats.org/officeDocument/2006/relationships" id="2147483651" r:id="R5cbf74b1996e4de1"/>
    <p:sldLayoutId xmlns:r="http://schemas.openxmlformats.org/officeDocument/2006/relationships" id="2147483652" r:id="R02290efff1314bc4"/>
    <p:sldLayoutId xmlns:r="http://schemas.openxmlformats.org/officeDocument/2006/relationships" id="2147483653" r:id="Rb9c1527ee85b4065"/>
    <p:sldLayoutId xmlns:r="http://schemas.openxmlformats.org/officeDocument/2006/relationships" id="2147483654" r:id="R4c9293b3d93a4383"/>
    <p:sldLayoutId xmlns:r="http://schemas.openxmlformats.org/officeDocument/2006/relationships" id="2147483655" r:id="R38de24e3af3249bc"/>
    <p:sldLayoutId xmlns:r="http://schemas.openxmlformats.org/officeDocument/2006/relationships" id="2147483656" r:id="Rf30814e1470648ad"/>
    <p:sldLayoutId xmlns:r="http://schemas.openxmlformats.org/officeDocument/2006/relationships" id="2147483657" r:id="Rac4069a8fc324ae6"/>
    <p:sldLayoutId xmlns:r="http://schemas.openxmlformats.org/officeDocument/2006/relationships" id="2147483658" r:id="Rb3c63085638149f4"/>
    <p:sldLayoutId xmlns:r="http://schemas.openxmlformats.org/officeDocument/2006/relationships" id="2147483659" r:id="Rc303d784c3df4672"/>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6b016f2b7fe46f1" /><Relationship Type="http://schemas.openxmlformats.org/officeDocument/2006/relationships/image" Target="/ppt/media/image.png" Id="R62a02e94f4cf400f" /><Relationship Type="http://schemas.openxmlformats.org/officeDocument/2006/relationships/notesSlide" Target="/ppt/notesSlides/notesSlide1.xml" Id="Rb922c8bd306e41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dfb06a17b0f4467" /><Relationship Type="http://schemas.openxmlformats.org/officeDocument/2006/relationships/image" Target="/ppt/media/image2.png" Id="Rab9998ba93964ae4" /><Relationship Type="http://schemas.openxmlformats.org/officeDocument/2006/relationships/image" Target="/ppt/media/image.svg" Id="Rb56c0522ebe14868" /><Relationship Type="http://schemas.openxmlformats.org/officeDocument/2006/relationships/notesSlide" Target="/ppt/notesSlides/notesSlide2.xml" Id="Reec5bcc9005f48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3b8ef6d73184a08" /><Relationship Type="http://schemas.openxmlformats.org/officeDocument/2006/relationships/image" Target="/ppt/media/image2.png" Id="Rb767e59f7e544c09" /><Relationship Type="http://schemas.openxmlformats.org/officeDocument/2006/relationships/image" Target="/ppt/media/image.svg" Id="R9ee14dfc77c64c18" /><Relationship Type="http://schemas.openxmlformats.org/officeDocument/2006/relationships/notesSlide" Target="/ppt/notesSlides/notesSlide3.xml" Id="R9c2015d74ff841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ef1abe25dc241a0" /><Relationship Type="http://schemas.openxmlformats.org/officeDocument/2006/relationships/image" Target="/ppt/media/image2.png" Id="Rc8f1a204b4544b43" /><Relationship Type="http://schemas.openxmlformats.org/officeDocument/2006/relationships/image" Target="/ppt/media/image.svg" Id="R89b262dc797341c0" /><Relationship Type="http://schemas.openxmlformats.org/officeDocument/2006/relationships/image" Target="/ppt/media/image3.png" Id="R3c264c73e160454c" /><Relationship Type="http://schemas.openxmlformats.org/officeDocument/2006/relationships/notesSlide" Target="/ppt/notesSlides/notesSlide4.xml" Id="Rb998f3c471b546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6c5b08302284528" /><Relationship Type="http://schemas.openxmlformats.org/officeDocument/2006/relationships/image" Target="/ppt/media/image2.png" Id="Ra870b24dd6d84db5" /><Relationship Type="http://schemas.openxmlformats.org/officeDocument/2006/relationships/image" Target="/ppt/media/image.svg" Id="Rf33b10ca3c0e4404" /><Relationship Type="http://schemas.openxmlformats.org/officeDocument/2006/relationships/notesSlide" Target="/ppt/notesSlides/notesSlide5.xml" Id="R7c22af71ee8f4a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25606539ef844b5" /><Relationship Type="http://schemas.openxmlformats.org/officeDocument/2006/relationships/image" Target="/ppt/media/image2.png" Id="Rc535bc56641e48e8" /><Relationship Type="http://schemas.openxmlformats.org/officeDocument/2006/relationships/image" Target="/ppt/media/image.svg" Id="Ra0882ec8f3b34e34" /><Relationship Type="http://schemas.openxmlformats.org/officeDocument/2006/relationships/notesSlide" Target="/ppt/notesSlides/notesSlide6.xml" Id="Rb0a48db7921745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5ff18b5d96c4b8e" /><Relationship Type="http://schemas.openxmlformats.org/officeDocument/2006/relationships/image" Target="/ppt/media/image2.png" Id="R7ee62e4ee66b4c91" /><Relationship Type="http://schemas.openxmlformats.org/officeDocument/2006/relationships/image" Target="/ppt/media/image.svg" Id="R671649aa1eff4af0" /><Relationship Type="http://schemas.openxmlformats.org/officeDocument/2006/relationships/image" Target="/ppt/media/image4.png" Id="R54c8f894e80a4e68" /><Relationship Type="http://schemas.openxmlformats.org/officeDocument/2006/relationships/notesSlide" Target="/ppt/notesSlides/notesSlide7.xml" Id="R7f0c6c1420a145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aeedab3542a48c3" /><Relationship Type="http://schemas.openxmlformats.org/officeDocument/2006/relationships/image" Target="/ppt/media/image2.png" Id="R3f8500b12b3841d9" /><Relationship Type="http://schemas.openxmlformats.org/officeDocument/2006/relationships/image" Target="/ppt/media/image.svg" Id="R98af2557cae9402e" /><Relationship Type="http://schemas.openxmlformats.org/officeDocument/2006/relationships/image" Target="/ppt/media/image5.png" Id="Rf04ee373cf8f4909" /><Relationship Type="http://schemas.openxmlformats.org/officeDocument/2006/relationships/notesSlide" Target="/ppt/notesSlides/notesSlide8.xml" Id="Raeca5b5cc9d241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498656a24064741" /><Relationship Type="http://schemas.openxmlformats.org/officeDocument/2006/relationships/image" Target="/ppt/media/image2.png" Id="Rfb34af523bc54156" /><Relationship Type="http://schemas.openxmlformats.org/officeDocument/2006/relationships/image" Target="/ppt/media/image.svg" Id="R0d4afed51dc047a5" /><Relationship Type="http://schemas.openxmlformats.org/officeDocument/2006/relationships/chart" Target="/ppt/slides/charts/chart1.xml" Id="Rc7fba198e04441de" /><Relationship Type="http://schemas.openxmlformats.org/officeDocument/2006/relationships/notesSlide" Target="/ppt/notesSlides/notesSlide9.xml" Id="R2e86347257be4f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a77a68f17374eef" /><Relationship Type="http://schemas.openxmlformats.org/officeDocument/2006/relationships/image" Target="/ppt/media/image2.png" Id="Redd58abe5a5c4b42" /><Relationship Type="http://schemas.openxmlformats.org/officeDocument/2006/relationships/image" Target="/ppt/media/image.svg" Id="R8a4924abbf7243e8" /><Relationship Type="http://schemas.openxmlformats.org/officeDocument/2006/relationships/chart" Target="/ppt/slides/charts/chart2.xml" Id="R46bcdfcced114ec7" /><Relationship Type="http://schemas.openxmlformats.org/officeDocument/2006/relationships/chart" Target="/ppt/slides/charts/chart3.xml" Id="Ra05eab76bfa14c1c" /><Relationship Type="http://schemas.openxmlformats.org/officeDocument/2006/relationships/notesSlide" Target="/ppt/notesSlides/notesSlide10.xml" Id="R3042491455de41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8037b0920bc4661" /><Relationship Type="http://schemas.openxmlformats.org/officeDocument/2006/relationships/image" Target="/ppt/media/image2.png" Id="R4ed1d66f7cd049a4" /><Relationship Type="http://schemas.openxmlformats.org/officeDocument/2006/relationships/image" Target="/ppt/media/image.svg" Id="Rf2658d900f824753" /><Relationship Type="http://schemas.openxmlformats.org/officeDocument/2006/relationships/image" Target="/ppt/media/image6.png" Id="R80be08fb670f4a31" /><Relationship Type="http://schemas.openxmlformats.org/officeDocument/2006/relationships/image" Target="/ppt/media/image7.png" Id="R1e9847a484324074" /><Relationship Type="http://schemas.openxmlformats.org/officeDocument/2006/relationships/notesSlide" Target="/ppt/notesSlides/notesSlide11.xml" Id="Ra037aa6f7462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ba281aea65034538" /><Relationship Type="http://schemas.openxmlformats.org/officeDocument/2006/relationships/image" Target="/ppt/media/image2.png" Id="Rffb0d460b4714ce0" /><Relationship Type="http://schemas.openxmlformats.org/officeDocument/2006/relationships/image" Target="/ppt/media/image.svg" Id="Ref60e9584d064a8d" /><Relationship Type="http://schemas.openxmlformats.org/officeDocument/2006/relationships/chart" Target="/ppt/slides/charts/chart4.xml" Id="Rdf86811f71de460a" /><Relationship Type="http://schemas.openxmlformats.org/officeDocument/2006/relationships/notesSlide" Target="/ppt/notesSlides/notesSlide12.xml" Id="R0615c2eb835f4d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6bf3cc171e14faf" /><Relationship Type="http://schemas.openxmlformats.org/officeDocument/2006/relationships/image" Target="/ppt/media/image2.png" Id="R99b8512d04634828" /><Relationship Type="http://schemas.openxmlformats.org/officeDocument/2006/relationships/image" Target="/ppt/media/image.svg" Id="Rcb51b78b85c6405b" /><Relationship Type="http://schemas.openxmlformats.org/officeDocument/2006/relationships/notesSlide" Target="/ppt/notesSlides/notesSlide13.xml" Id="Rcd141d31523d4c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98f40b89cc14c51" /><Relationship Type="http://schemas.openxmlformats.org/officeDocument/2006/relationships/image" Target="/ppt/media/image2.png" Id="R42603810cc4c4e98" /><Relationship Type="http://schemas.openxmlformats.org/officeDocument/2006/relationships/image" Target="/ppt/media/image.svg" Id="Rd9d58efa98af4c9b" /><Relationship Type="http://schemas.openxmlformats.org/officeDocument/2006/relationships/notesSlide" Target="/ppt/notesSlides/notesSlide14.xml" Id="R1bfd151c977745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b785f51aacf4dca" /><Relationship Type="http://schemas.openxmlformats.org/officeDocument/2006/relationships/image" Target="/ppt/media/image2.png" Id="R20e4ff7c63544758" /><Relationship Type="http://schemas.openxmlformats.org/officeDocument/2006/relationships/image" Target="/ppt/media/image.svg" Id="R7a12f314db514996" /><Relationship Type="http://schemas.openxmlformats.org/officeDocument/2006/relationships/notesSlide" Target="/ppt/notesSlides/notesSlide15.xml" Id="R39343c2fdded44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81e1273b5fb4fd2" /><Relationship Type="http://schemas.openxmlformats.org/officeDocument/2006/relationships/image" Target="/ppt/media/image2.png" Id="R864c4c90e4ea450f" /><Relationship Type="http://schemas.openxmlformats.org/officeDocument/2006/relationships/image" Target="/ppt/media/image.svg" Id="Re39ff26b336a4b0a" /><Relationship Type="http://schemas.openxmlformats.org/officeDocument/2006/relationships/notesSlide" Target="/ppt/notesSlides/notesSlide16.xml" Id="Rb9845a0b09f844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b3c7d16d5929429b" /><Relationship Type="http://schemas.openxmlformats.org/officeDocument/2006/relationships/image" Target="/ppt/media/image2.png" Id="R2b307e5adcdb4def" /><Relationship Type="http://schemas.openxmlformats.org/officeDocument/2006/relationships/image" Target="/ppt/media/image.svg" Id="R6b7ce47715c3494f" /><Relationship Type="http://schemas.openxmlformats.org/officeDocument/2006/relationships/notesSlide" Target="/ppt/notesSlides/notesSlide17.xml" Id="R143230356eeb42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058a5e5ac3e473d" /><Relationship Type="http://schemas.openxmlformats.org/officeDocument/2006/relationships/image" Target="/ppt/media/image2.png" Id="Rb456f09f42784cda" /><Relationship Type="http://schemas.openxmlformats.org/officeDocument/2006/relationships/image" Target="/ppt/media/image.svg" Id="R4be8b1982de64754" /><Relationship Type="http://schemas.openxmlformats.org/officeDocument/2006/relationships/notesSlide" Target="/ppt/notesSlides/notesSlide18.xml" Id="R17384cd991fd4e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17b319c792914899" /><Relationship Type="http://schemas.openxmlformats.org/officeDocument/2006/relationships/image" Target="/ppt/media/image2.png" Id="R0d44952563c34c52" /><Relationship Type="http://schemas.openxmlformats.org/officeDocument/2006/relationships/image" Target="/ppt/media/image.svg" Id="Rd9982c9c9af84fb6" /><Relationship Type="http://schemas.openxmlformats.org/officeDocument/2006/relationships/notesSlide" Target="/ppt/notesSlides/notesSlide19.xml" Id="Rfb13118b769a42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77be004e06174213" /><Relationship Type="http://schemas.openxmlformats.org/officeDocument/2006/relationships/image" Target="/ppt/media/image2.png" Id="R8a14c404fb404141" /><Relationship Type="http://schemas.openxmlformats.org/officeDocument/2006/relationships/image" Target="/ppt/media/image.svg" Id="R1604e777f36d4d50" /><Relationship Type="http://schemas.openxmlformats.org/officeDocument/2006/relationships/image" Target="/ppt/media/image8.png" Id="Rc7dab8bc6f644831" /><Relationship Type="http://schemas.openxmlformats.org/officeDocument/2006/relationships/image" Target="/ppt/media/image2.svg" Id="Ra5f6f9491901477b" /><Relationship Type="http://schemas.openxmlformats.org/officeDocument/2006/relationships/notesSlide" Target="/ppt/notesSlides/notesSlide20.xml" Id="Rb744b9b18e4248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3fdfa1b79f3547af" /><Relationship Type="http://schemas.openxmlformats.org/officeDocument/2006/relationships/image" Target="/ppt/media/image2.png" Id="Ra2d770b2da8e4bb5" /><Relationship Type="http://schemas.openxmlformats.org/officeDocument/2006/relationships/image" Target="/ppt/media/image.svg" Id="Rbef073825e2b4628" /><Relationship Type="http://schemas.openxmlformats.org/officeDocument/2006/relationships/image" Target="/ppt/media/image9.png" Id="R9cb31239d93846ab" /><Relationship Type="http://schemas.openxmlformats.org/officeDocument/2006/relationships/notesSlide" Target="/ppt/notesSlides/notesSlide21.xml" Id="R275303ddb9c445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6aa91de565a441c" /><Relationship Type="http://schemas.openxmlformats.org/officeDocument/2006/relationships/image" Target="/ppt/media/image2.png" Id="Rdbe562da1d1648f9" /><Relationship Type="http://schemas.openxmlformats.org/officeDocument/2006/relationships/image" Target="/ppt/media/image.svg" Id="R9dca41b7801f498d" /><Relationship Type="http://schemas.openxmlformats.org/officeDocument/2006/relationships/image" Target="/ppt/media/image10.png" Id="Reab4a24585c84b02" /><Relationship Type="http://schemas.openxmlformats.org/officeDocument/2006/relationships/image" Target="/ppt/media/image11.png" Id="Re9e7eecefd434e73" /><Relationship Type="http://schemas.openxmlformats.org/officeDocument/2006/relationships/notesSlide" Target="/ppt/notesSlides/notesSlide22.xml" Id="Rafcc400afd2f40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69e12643641842b5" /><Relationship Type="http://schemas.openxmlformats.org/officeDocument/2006/relationships/image" Target="/ppt/media/image2.png" Id="Rdf4366bbabc941a9" /><Relationship Type="http://schemas.openxmlformats.org/officeDocument/2006/relationships/image" Target="/ppt/media/image.svg" Id="Refff2c7b32234b97" /><Relationship Type="http://schemas.openxmlformats.org/officeDocument/2006/relationships/image" Target="/ppt/media/image12.png" Id="Rf50e1b0a1bba4e73" /><Relationship Type="http://schemas.openxmlformats.org/officeDocument/2006/relationships/notesSlide" Target="/ppt/notesSlides/notesSlide23.xml" Id="R84187fe3c3a04a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Images</c:v>
          </c:tx>
          <c:spPr>
            <a:solidFill xmlns:a="http://schemas.openxmlformats.org/drawingml/2006/main">
              <a:srgbClr val="212B21"/>
            </a:solidFill>
          </c:spPr>
          <c:cat>
            <c:strRef>
              <c:f>'Chart Data'!$A$2:$A$4</c:f>
              <c:strCache>
                <c:ptCount val="3"/>
                <c:pt idx="0">
                  <c:v>Training</c:v>
                </c:pt>
                <c:pt idx="1">
                  <c:v>Validation</c:v>
                </c:pt>
                <c:pt idx="2">
                  <c:v>Test</c:v>
                </c:pt>
              </c:strCache>
            </c:strRef>
          </c:cat>
          <c:val>
            <c:numRef>
              <c:f>'Chart Data'!$B$2:$B$4</c:f>
              <c:numCache>
                <c:formatCode>#,##0</c:formatCode>
                <c:ptCount val="3"/>
                <c:pt idx="0">
                  <c:v>6274</c:v>
                </c:pt>
                <c:pt idx="1">
                  <c:v>1619</c:v>
                </c:pt>
                <c:pt idx="2">
                  <c:v>838</c:v>
                </c:pt>
              </c:numCache>
            </c:numRef>
          </c:val>
        </c:ser>
        <c:dLbls>
          <c:txPr>
            <a:bodyPr xmlns:a="http://schemas.openxmlformats.org/drawingml/2006/main" anchorCtr="1"/>
            <a:lstStyle xmlns:a="http://schemas.openxmlformats.org/drawingml/2006/main"/>
            <a:p xmlns:a="http://schemas.openxmlformats.org/drawingml/2006/main">
              <a:pPr>
                <a:defRPr sz="2400" b="1">
                  <a:latin typeface="Open Sauce"/>
                  <a:ea typeface="Open Sauce"/>
                  <a:cs typeface="Open Sauc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212B21"/>
                </a:solidFill>
                <a:latin typeface="Open Sauce"/>
                <a:ea typeface="Open Sauce"/>
                <a:cs typeface="Open Sauce"/>
              </a:defRPr>
            </a:pPr>
          </a:p>
        </c:txPr>
        <c:crossAx val="48672768"/>
      </c:catAx>
      <c:valAx>
        <c:axId val="48672768"/>
        <c:scaling>
          <c:orientation val="minMax"/>
          <c:max val="7000"/>
          <c:min val="0"/>
        </c:scaling>
        <c:delete val="0"/>
        <c:axPos val="l"/>
        <c:majorGridlines>
          <c:spPr>
            <a:ln xmlns:a="http://schemas.openxmlformats.org/drawingml/2006/main" w="9525">
              <a:solidFill>
                <a:srgbClr val="D8DAD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666666"/>
                </a:solidFill>
                <a:latin typeface="Open Sauce"/>
                <a:ea typeface="Open Sauce"/>
                <a:cs typeface="Open Sauce"/>
              </a:defRPr>
            </a:pPr>
          </a:p>
        </c:txPr>
        <c:crossAx val="48650112"/>
        <c:crossBetween val="between"/>
        <c:majorUnit val="1000"/>
      </c:valAx>
      <c:spPr>
        <a:solidFill xmlns:a="http://schemas.openxmlformats.org/drawingml/2006/main">
          <a:srgbClr val="FFFDFA"/>
        </a:solidFill>
      </c:spPr>
    </c:plotArea>
    <c:plotVisOnly val="1"/>
  </c:chart>
  <c:spPr>
    <a:solidFill xmlns:a="http://schemas.openxmlformats.org/drawingml/2006/main">
      <a:srgbClr val="FFFDFA"/>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Training</c:v>
          </c:tx>
          <c:spPr>
            <a:ln xmlns:a="http://schemas.openxmlformats.org/drawingml/2006/main" w="28575">
              <a:solidFill>
                <a:srgbClr val="212B21"/>
              </a:solidFill>
            </a:ln>
          </c:spPr>
          <c:marker>
            <c:symbol val="none"/>
          </c:marker>
          <c:cat>
            <c:numRef>
              <c:f>'Chart Data'!$A$2:$A$151</c:f>
              <c:numCache>
                <c:formatCode>General</c:formatCode>
                <c:ptCount val="1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numCache>
            </c:numRef>
          </c:cat>
          <c:val>
            <c:numRef>
              <c:f>'Chart Data'!$B$2:$B$151</c:f>
              <c:numCache>
                <c:formatCode>0.0</c:formatCode>
                <c:ptCount val="150"/>
                <c:pt idx="0">
                  <c:v>1.05231</c:v>
                </c:pt>
                <c:pt idx="1">
                  <c:v>1.04152</c:v>
                </c:pt>
                <c:pt idx="2">
                  <c:v>1.13444</c:v>
                </c:pt>
                <c:pt idx="3">
                  <c:v>1.19617</c:v>
                </c:pt>
                <c:pt idx="4">
                  <c:v>1.15738</c:v>
                </c:pt>
                <c:pt idx="5">
                  <c:v>1.10486</c:v>
                </c:pt>
                <c:pt idx="6">
                  <c:v>1.0717</c:v>
                </c:pt>
                <c:pt idx="7">
                  <c:v>1.04302</c:v>
                </c:pt>
                <c:pt idx="8">
                  <c:v>1.00498</c:v>
                </c:pt>
                <c:pt idx="9">
                  <c:v>0.99297</c:v>
                </c:pt>
                <c:pt idx="10">
                  <c:v>0.97619</c:v>
                </c:pt>
                <c:pt idx="11">
                  <c:v>0.94516</c:v>
                </c:pt>
                <c:pt idx="12">
                  <c:v>0.94201</c:v>
                </c:pt>
                <c:pt idx="13">
                  <c:v>0.92747</c:v>
                </c:pt>
                <c:pt idx="14">
                  <c:v>0.91717</c:v>
                </c:pt>
                <c:pt idx="15">
                  <c:v>0.89489</c:v>
                </c:pt>
                <c:pt idx="16">
                  <c:v>0.89713</c:v>
                </c:pt>
                <c:pt idx="17">
                  <c:v>0.88119</c:v>
                </c:pt>
                <c:pt idx="18">
                  <c:v>0.87649</c:v>
                </c:pt>
                <c:pt idx="19">
                  <c:v>0.85955</c:v>
                </c:pt>
                <c:pt idx="20">
                  <c:v>0.85672</c:v>
                </c:pt>
                <c:pt idx="21">
                  <c:v>0.84891</c:v>
                </c:pt>
                <c:pt idx="22">
                  <c:v>0.8326</c:v>
                </c:pt>
                <c:pt idx="23">
                  <c:v>0.84354</c:v>
                </c:pt>
                <c:pt idx="24">
                  <c:v>0.8313</c:v>
                </c:pt>
                <c:pt idx="25">
                  <c:v>0.83299</c:v>
                </c:pt>
                <c:pt idx="26">
                  <c:v>0.80801</c:v>
                </c:pt>
                <c:pt idx="27">
                  <c:v>0.79939</c:v>
                </c:pt>
                <c:pt idx="28">
                  <c:v>0.81197</c:v>
                </c:pt>
                <c:pt idx="29">
                  <c:v>0.80718</c:v>
                </c:pt>
                <c:pt idx="30">
                  <c:v>0.80194</c:v>
                </c:pt>
                <c:pt idx="31">
                  <c:v>0.78721</c:v>
                </c:pt>
                <c:pt idx="32">
                  <c:v>0.79235</c:v>
                </c:pt>
                <c:pt idx="33">
                  <c:v>0.77718</c:v>
                </c:pt>
                <c:pt idx="34">
                  <c:v>0.77504</c:v>
                </c:pt>
                <c:pt idx="35">
                  <c:v>0.78307</c:v>
                </c:pt>
                <c:pt idx="36">
                  <c:v>0.77144</c:v>
                </c:pt>
                <c:pt idx="37">
                  <c:v>0.75644</c:v>
                </c:pt>
                <c:pt idx="38">
                  <c:v>0.74818</c:v>
                </c:pt>
                <c:pt idx="39">
                  <c:v>0.76463</c:v>
                </c:pt>
                <c:pt idx="40">
                  <c:v>0.75452</c:v>
                </c:pt>
                <c:pt idx="41">
                  <c:v>0.74509</c:v>
                </c:pt>
                <c:pt idx="42">
                  <c:v>0.75143</c:v>
                </c:pt>
                <c:pt idx="43">
                  <c:v>0.74817</c:v>
                </c:pt>
                <c:pt idx="44">
                  <c:v>0.75241</c:v>
                </c:pt>
                <c:pt idx="45">
                  <c:v>0.73676</c:v>
                </c:pt>
                <c:pt idx="46">
                  <c:v>0.73951</c:v>
                </c:pt>
                <c:pt idx="47">
                  <c:v>0.72886</c:v>
                </c:pt>
                <c:pt idx="48">
                  <c:v>0.72519</c:v>
                </c:pt>
                <c:pt idx="49">
                  <c:v>0.72027</c:v>
                </c:pt>
                <c:pt idx="50">
                  <c:v>0.72236</c:v>
                </c:pt>
                <c:pt idx="51">
                  <c:v>0.72291</c:v>
                </c:pt>
                <c:pt idx="52">
                  <c:v>0.71994</c:v>
                </c:pt>
                <c:pt idx="53">
                  <c:v>0.71428</c:v>
                </c:pt>
                <c:pt idx="54">
                  <c:v>0.70526</c:v>
                </c:pt>
                <c:pt idx="55">
                  <c:v>0.69689</c:v>
                </c:pt>
                <c:pt idx="56">
                  <c:v>0.69792</c:v>
                </c:pt>
                <c:pt idx="57">
                  <c:v>0.70027</c:v>
                </c:pt>
                <c:pt idx="58">
                  <c:v>0.69482</c:v>
                </c:pt>
                <c:pt idx="59">
                  <c:v>0.67824</c:v>
                </c:pt>
                <c:pt idx="60">
                  <c:v>0.68074</c:v>
                </c:pt>
                <c:pt idx="61">
                  <c:v>0.68361</c:v>
                </c:pt>
                <c:pt idx="62">
                  <c:v>0.67469</c:v>
                </c:pt>
                <c:pt idx="63">
                  <c:v>0.6773</c:v>
                </c:pt>
                <c:pt idx="64">
                  <c:v>0.67107</c:v>
                </c:pt>
                <c:pt idx="65">
                  <c:v>0.66514</c:v>
                </c:pt>
                <c:pt idx="66">
                  <c:v>0.67307</c:v>
                </c:pt>
                <c:pt idx="67">
                  <c:v>0.66828</c:v>
                </c:pt>
                <c:pt idx="68">
                  <c:v>0.66759</c:v>
                </c:pt>
                <c:pt idx="69">
                  <c:v>0.66615</c:v>
                </c:pt>
                <c:pt idx="70">
                  <c:v>0.66433</c:v>
                </c:pt>
                <c:pt idx="71">
                  <c:v>0.6442</c:v>
                </c:pt>
                <c:pt idx="72">
                  <c:v>0.63945</c:v>
                </c:pt>
                <c:pt idx="73">
                  <c:v>0.64401</c:v>
                </c:pt>
                <c:pt idx="74">
                  <c:v>0.64794</c:v>
                </c:pt>
                <c:pt idx="75">
                  <c:v>0.64248</c:v>
                </c:pt>
                <c:pt idx="76">
                  <c:v>0.64415</c:v>
                </c:pt>
                <c:pt idx="77">
                  <c:v>0.64222</c:v>
                </c:pt>
                <c:pt idx="78">
                  <c:v>0.6357</c:v>
                </c:pt>
                <c:pt idx="79">
                  <c:v>0.63387</c:v>
                </c:pt>
                <c:pt idx="80">
                  <c:v>0.62411</c:v>
                </c:pt>
                <c:pt idx="81">
                  <c:v>0.62127</c:v>
                </c:pt>
                <c:pt idx="82">
                  <c:v>0.61494</c:v>
                </c:pt>
                <c:pt idx="83">
                  <c:v>0.61597</c:v>
                </c:pt>
                <c:pt idx="84">
                  <c:v>0.60907</c:v>
                </c:pt>
                <c:pt idx="85">
                  <c:v>0.60795</c:v>
                </c:pt>
                <c:pt idx="86">
                  <c:v>0.60114</c:v>
                </c:pt>
                <c:pt idx="87">
                  <c:v>0.59665</c:v>
                </c:pt>
                <c:pt idx="88">
                  <c:v>0.58927</c:v>
                </c:pt>
                <c:pt idx="89">
                  <c:v>0.59608</c:v>
                </c:pt>
                <c:pt idx="90">
                  <c:v>0.59492</c:v>
                </c:pt>
                <c:pt idx="91">
                  <c:v>0.57681</c:v>
                </c:pt>
                <c:pt idx="92">
                  <c:v>0.58996</c:v>
                </c:pt>
                <c:pt idx="93">
                  <c:v>0.58542</c:v>
                </c:pt>
                <c:pt idx="94">
                  <c:v>0.5847</c:v>
                </c:pt>
                <c:pt idx="95">
                  <c:v>0.58626</c:v>
                </c:pt>
                <c:pt idx="96">
                  <c:v>0.57983</c:v>
                </c:pt>
                <c:pt idx="97">
                  <c:v>0.57218</c:v>
                </c:pt>
                <c:pt idx="98">
                  <c:v>0.57674</c:v>
                </c:pt>
                <c:pt idx="99">
                  <c:v>0.56422</c:v>
                </c:pt>
                <c:pt idx="100">
                  <c:v>0.56723</c:v>
                </c:pt>
                <c:pt idx="101">
                  <c:v>0.55835</c:v>
                </c:pt>
                <c:pt idx="102">
                  <c:v>0.56235</c:v>
                </c:pt>
                <c:pt idx="103">
                  <c:v>0.56182</c:v>
                </c:pt>
                <c:pt idx="104">
                  <c:v>0.53541</c:v>
                </c:pt>
                <c:pt idx="105">
                  <c:v>0.53908</c:v>
                </c:pt>
                <c:pt idx="106">
                  <c:v>0.53745</c:v>
                </c:pt>
                <c:pt idx="107">
                  <c:v>0.54113</c:v>
                </c:pt>
                <c:pt idx="108">
                  <c:v>0.54691</c:v>
                </c:pt>
                <c:pt idx="109">
                  <c:v>0.53159</c:v>
                </c:pt>
                <c:pt idx="110">
                  <c:v>0.53616</c:v>
                </c:pt>
                <c:pt idx="111">
                  <c:v>0.52891</c:v>
                </c:pt>
                <c:pt idx="112">
                  <c:v>0.52064</c:v>
                </c:pt>
                <c:pt idx="113">
                  <c:v>0.51781</c:v>
                </c:pt>
                <c:pt idx="114">
                  <c:v>0.51663</c:v>
                </c:pt>
                <c:pt idx="115">
                  <c:v>0.50789</c:v>
                </c:pt>
                <c:pt idx="116">
                  <c:v>0.50899</c:v>
                </c:pt>
                <c:pt idx="117">
                  <c:v>0.5138</c:v>
                </c:pt>
                <c:pt idx="118">
                  <c:v>0.49881</c:v>
                </c:pt>
                <c:pt idx="119">
                  <c:v>0.49478</c:v>
                </c:pt>
                <c:pt idx="120">
                  <c:v>0.49124</c:v>
                </c:pt>
                <c:pt idx="121">
                  <c:v>0.49307</c:v>
                </c:pt>
                <c:pt idx="122">
                  <c:v>0.49606</c:v>
                </c:pt>
                <c:pt idx="123">
                  <c:v>0.4855</c:v>
                </c:pt>
                <c:pt idx="124">
                  <c:v>0.47597</c:v>
                </c:pt>
                <c:pt idx="125">
                  <c:v>0.48049</c:v>
                </c:pt>
                <c:pt idx="126">
                  <c:v>0.47175</c:v>
                </c:pt>
                <c:pt idx="127">
                  <c:v>0.47783</c:v>
                </c:pt>
                <c:pt idx="128">
                  <c:v>0.47237</c:v>
                </c:pt>
                <c:pt idx="129">
                  <c:v>0.4791</c:v>
                </c:pt>
                <c:pt idx="130">
                  <c:v>0.47226</c:v>
                </c:pt>
                <c:pt idx="131">
                  <c:v>0.46121</c:v>
                </c:pt>
                <c:pt idx="132">
                  <c:v>0.45745</c:v>
                </c:pt>
                <c:pt idx="133">
                  <c:v>0.45681</c:v>
                </c:pt>
                <c:pt idx="134">
                  <c:v>0.45546</c:v>
                </c:pt>
                <c:pt idx="135">
                  <c:v>0.44243</c:v>
                </c:pt>
                <c:pt idx="136">
                  <c:v>0.4474</c:v>
                </c:pt>
                <c:pt idx="137">
                  <c:v>0.4489</c:v>
                </c:pt>
                <c:pt idx="138">
                  <c:v>0.44508</c:v>
                </c:pt>
                <c:pt idx="139">
                  <c:v>0.43937</c:v>
                </c:pt>
                <c:pt idx="140">
                  <c:v>0.3411</c:v>
                </c:pt>
                <c:pt idx="141">
                  <c:v>0.33784</c:v>
                </c:pt>
                <c:pt idx="142">
                  <c:v>0.32939</c:v>
                </c:pt>
                <c:pt idx="143">
                  <c:v>0.32978</c:v>
                </c:pt>
                <c:pt idx="144">
                  <c:v>0.32823</c:v>
                </c:pt>
                <c:pt idx="145">
                  <c:v>0.32536</c:v>
                </c:pt>
                <c:pt idx="146">
                  <c:v>0.32239</c:v>
                </c:pt>
                <c:pt idx="147">
                  <c:v>0.31962</c:v>
                </c:pt>
                <c:pt idx="148">
                  <c:v>0.31892</c:v>
                </c:pt>
                <c:pt idx="149">
                  <c:v>0.31145</c:v>
                </c:pt>
              </c:numCache>
            </c:numRef>
          </c:val>
        </c:ser>
        <c:ser>
          <c:idx val="1"/>
          <c:order val="1"/>
          <c:tx>
            <c:v>Validation</c:v>
          </c:tx>
          <c:spPr>
            <a:ln xmlns:a="http://schemas.openxmlformats.org/drawingml/2006/main" w="28575">
              <a:solidFill>
                <a:srgbClr val="F5A000"/>
              </a:solidFill>
            </a:ln>
          </c:spPr>
          <c:marker>
            <c:symbol val="none"/>
          </c:marker>
          <c:cat>
            <c:numRef>
              <c:f>'Chart Data'!$C$2:$C$151</c:f>
              <c:numCache>
                <c:formatCode>General</c:formatCode>
                <c:ptCount val="1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numCache>
            </c:numRef>
          </c:cat>
          <c:val>
            <c:numRef>
              <c:f>'Chart Data'!$D$2:$D$151</c:f>
              <c:numCache>
                <c:formatCode>0.0</c:formatCode>
                <c:ptCount val="150"/>
                <c:pt idx="0">
                  <c:v>1.00912</c:v>
                </c:pt>
                <c:pt idx="1">
                  <c:v>1.30203</c:v>
                </c:pt>
                <c:pt idx="2">
                  <c:v>1.29486</c:v>
                </c:pt>
                <c:pt idx="3">
                  <c:v>1.20914</c:v>
                </c:pt>
                <c:pt idx="4">
                  <c:v>1.13106</c:v>
                </c:pt>
                <c:pt idx="5">
                  <c:v>1.17588</c:v>
                </c:pt>
                <c:pt idx="6">
                  <c:v>1.05602</c:v>
                </c:pt>
                <c:pt idx="7">
                  <c:v>1.07117</c:v>
                </c:pt>
                <c:pt idx="8">
                  <c:v>1.01579</c:v>
                </c:pt>
                <c:pt idx="9">
                  <c:v>0.88877</c:v>
                </c:pt>
                <c:pt idx="10">
                  <c:v>0.86759</c:v>
                </c:pt>
                <c:pt idx="11">
                  <c:v>0.88061</c:v>
                </c:pt>
                <c:pt idx="12">
                  <c:v>0.85012</c:v>
                </c:pt>
                <c:pt idx="13">
                  <c:v>0.92497</c:v>
                </c:pt>
                <c:pt idx="14">
                  <c:v>0.89325</c:v>
                </c:pt>
                <c:pt idx="15">
                  <c:v>0.88054</c:v>
                </c:pt>
                <c:pt idx="16">
                  <c:v>0.82388</c:v>
                </c:pt>
                <c:pt idx="17">
                  <c:v>0.79473</c:v>
                </c:pt>
                <c:pt idx="18">
                  <c:v>0.79808</c:v>
                </c:pt>
                <c:pt idx="19">
                  <c:v>0.80829</c:v>
                </c:pt>
                <c:pt idx="20">
                  <c:v>0.80818</c:v>
                </c:pt>
                <c:pt idx="21">
                  <c:v>0.78548</c:v>
                </c:pt>
                <c:pt idx="22">
                  <c:v>0.7688</c:v>
                </c:pt>
                <c:pt idx="23">
                  <c:v>0.78827</c:v>
                </c:pt>
                <c:pt idx="24">
                  <c:v>0.77996</c:v>
                </c:pt>
                <c:pt idx="25">
                  <c:v>0.74931</c:v>
                </c:pt>
                <c:pt idx="26">
                  <c:v>0.77615</c:v>
                </c:pt>
                <c:pt idx="27">
                  <c:v>0.72876</c:v>
                </c:pt>
                <c:pt idx="28">
                  <c:v>0.75496</c:v>
                </c:pt>
                <c:pt idx="29">
                  <c:v>0.74284</c:v>
                </c:pt>
                <c:pt idx="30">
                  <c:v>0.76763</c:v>
                </c:pt>
                <c:pt idx="31">
                  <c:v>0.73867</c:v>
                </c:pt>
                <c:pt idx="32">
                  <c:v>0.73659</c:v>
                </c:pt>
                <c:pt idx="33">
                  <c:v>0.73562</c:v>
                </c:pt>
                <c:pt idx="34">
                  <c:v>0.75512</c:v>
                </c:pt>
                <c:pt idx="35">
                  <c:v>0.7271</c:v>
                </c:pt>
                <c:pt idx="36">
                  <c:v>0.70689</c:v>
                </c:pt>
                <c:pt idx="37">
                  <c:v>0.73923</c:v>
                </c:pt>
                <c:pt idx="38">
                  <c:v>0.73273</c:v>
                </c:pt>
                <c:pt idx="39">
                  <c:v>0.69486</c:v>
                </c:pt>
                <c:pt idx="40">
                  <c:v>0.74181</c:v>
                </c:pt>
                <c:pt idx="41">
                  <c:v>0.72109</c:v>
                </c:pt>
                <c:pt idx="42">
                  <c:v>0.74243</c:v>
                </c:pt>
                <c:pt idx="43">
                  <c:v>0.72067</c:v>
                </c:pt>
                <c:pt idx="44">
                  <c:v>0.71623</c:v>
                </c:pt>
                <c:pt idx="45">
                  <c:v>0.72386</c:v>
                </c:pt>
                <c:pt idx="46">
                  <c:v>0.69925</c:v>
                </c:pt>
                <c:pt idx="47">
                  <c:v>0.69922</c:v>
                </c:pt>
                <c:pt idx="48">
                  <c:v>0.7041</c:v>
                </c:pt>
                <c:pt idx="49">
                  <c:v>0.68889</c:v>
                </c:pt>
                <c:pt idx="50">
                  <c:v>0.70483</c:v>
                </c:pt>
                <c:pt idx="51">
                  <c:v>0.69274</c:v>
                </c:pt>
                <c:pt idx="52">
                  <c:v>0.69843</c:v>
                </c:pt>
                <c:pt idx="53">
                  <c:v>0.68881</c:v>
                </c:pt>
                <c:pt idx="54">
                  <c:v>0.70428</c:v>
                </c:pt>
                <c:pt idx="55">
                  <c:v>0.6906</c:v>
                </c:pt>
                <c:pt idx="56">
                  <c:v>0.69084</c:v>
                </c:pt>
                <c:pt idx="57">
                  <c:v>0.68119</c:v>
                </c:pt>
                <c:pt idx="58">
                  <c:v>0.6699</c:v>
                </c:pt>
                <c:pt idx="59">
                  <c:v>0.69008</c:v>
                </c:pt>
                <c:pt idx="60">
                  <c:v>0.67195</c:v>
                </c:pt>
                <c:pt idx="61">
                  <c:v>0.67094</c:v>
                </c:pt>
                <c:pt idx="62">
                  <c:v>0.6764</c:v>
                </c:pt>
                <c:pt idx="63">
                  <c:v>0.67025</c:v>
                </c:pt>
                <c:pt idx="64">
                  <c:v>0.68193</c:v>
                </c:pt>
                <c:pt idx="65">
                  <c:v>0.66941</c:v>
                </c:pt>
                <c:pt idx="66">
                  <c:v>0.65889</c:v>
                </c:pt>
                <c:pt idx="67">
                  <c:v>0.6802</c:v>
                </c:pt>
                <c:pt idx="68">
                  <c:v>0.68138</c:v>
                </c:pt>
                <c:pt idx="69">
                  <c:v>0.67321</c:v>
                </c:pt>
                <c:pt idx="70">
                  <c:v>0.68343</c:v>
                </c:pt>
                <c:pt idx="71">
                  <c:v>0.66473</c:v>
                </c:pt>
                <c:pt idx="72">
                  <c:v>0.65928</c:v>
                </c:pt>
                <c:pt idx="73">
                  <c:v>0.64343</c:v>
                </c:pt>
                <c:pt idx="74">
                  <c:v>0.65729</c:v>
                </c:pt>
                <c:pt idx="75">
                  <c:v>0.66245</c:v>
                </c:pt>
                <c:pt idx="76">
                  <c:v>0.65872</c:v>
                </c:pt>
                <c:pt idx="77">
                  <c:v>0.65319</c:v>
                </c:pt>
                <c:pt idx="78">
                  <c:v>0.65854</c:v>
                </c:pt>
                <c:pt idx="79">
                  <c:v>0.67144</c:v>
                </c:pt>
                <c:pt idx="80">
                  <c:v>0.65706</c:v>
                </c:pt>
                <c:pt idx="81">
                  <c:v>0.65292</c:v>
                </c:pt>
                <c:pt idx="82">
                  <c:v>0.66518</c:v>
                </c:pt>
                <c:pt idx="83">
                  <c:v>0.65936</c:v>
                </c:pt>
                <c:pt idx="84">
                  <c:v>0.66878</c:v>
                </c:pt>
                <c:pt idx="85">
                  <c:v>0.66714</c:v>
                </c:pt>
                <c:pt idx="86">
                  <c:v>0.67067</c:v>
                </c:pt>
                <c:pt idx="87">
                  <c:v>0.65714</c:v>
                </c:pt>
                <c:pt idx="88">
                  <c:v>0.65197</c:v>
                </c:pt>
                <c:pt idx="89">
                  <c:v>0.64847</c:v>
                </c:pt>
                <c:pt idx="90">
                  <c:v>0.65016</c:v>
                </c:pt>
                <c:pt idx="91">
                  <c:v>0.65413</c:v>
                </c:pt>
                <c:pt idx="92">
                  <c:v>0.66085</c:v>
                </c:pt>
                <c:pt idx="93">
                  <c:v>0.65223</c:v>
                </c:pt>
                <c:pt idx="94">
                  <c:v>0.65268</c:v>
                </c:pt>
                <c:pt idx="95">
                  <c:v>0.65681</c:v>
                </c:pt>
                <c:pt idx="96">
                  <c:v>0.6523</c:v>
                </c:pt>
                <c:pt idx="97">
                  <c:v>0.65856</c:v>
                </c:pt>
                <c:pt idx="98">
                  <c:v>0.64899</c:v>
                </c:pt>
                <c:pt idx="99">
                  <c:v>0.64774</c:v>
                </c:pt>
                <c:pt idx="100">
                  <c:v>0.64058</c:v>
                </c:pt>
                <c:pt idx="101">
                  <c:v>0.63612</c:v>
                </c:pt>
                <c:pt idx="102">
                  <c:v>0.63233</c:v>
                </c:pt>
                <c:pt idx="103">
                  <c:v>0.63384</c:v>
                </c:pt>
                <c:pt idx="104">
                  <c:v>0.63219</c:v>
                </c:pt>
                <c:pt idx="105">
                  <c:v>0.63416</c:v>
                </c:pt>
                <c:pt idx="106">
                  <c:v>0.64006</c:v>
                </c:pt>
                <c:pt idx="107">
                  <c:v>0.64094</c:v>
                </c:pt>
                <c:pt idx="108">
                  <c:v>0.63745</c:v>
                </c:pt>
                <c:pt idx="109">
                  <c:v>0.63351</c:v>
                </c:pt>
                <c:pt idx="110">
                  <c:v>0.62784</c:v>
                </c:pt>
                <c:pt idx="111">
                  <c:v>0.62941</c:v>
                </c:pt>
                <c:pt idx="112">
                  <c:v>0.63328</c:v>
                </c:pt>
                <c:pt idx="113">
                  <c:v>0.63323</c:v>
                </c:pt>
                <c:pt idx="114">
                  <c:v>0.63024</c:v>
                </c:pt>
                <c:pt idx="115">
                  <c:v>0.63001</c:v>
                </c:pt>
                <c:pt idx="116">
                  <c:v>0.62758</c:v>
                </c:pt>
                <c:pt idx="117">
                  <c:v>0.62651</c:v>
                </c:pt>
                <c:pt idx="118">
                  <c:v>0.62594</c:v>
                </c:pt>
                <c:pt idx="119">
                  <c:v>0.62179</c:v>
                </c:pt>
                <c:pt idx="120">
                  <c:v>0.61912</c:v>
                </c:pt>
                <c:pt idx="121">
                  <c:v>0.61954</c:v>
                </c:pt>
                <c:pt idx="122">
                  <c:v>0.61741</c:v>
                </c:pt>
                <c:pt idx="123">
                  <c:v>0.61749</c:v>
                </c:pt>
                <c:pt idx="124">
                  <c:v>0.62036</c:v>
                </c:pt>
                <c:pt idx="125">
                  <c:v>0.62243</c:v>
                </c:pt>
                <c:pt idx="126">
                  <c:v>0.62299</c:v>
                </c:pt>
                <c:pt idx="127">
                  <c:v>0.62076</c:v>
                </c:pt>
                <c:pt idx="128">
                  <c:v>0.62215</c:v>
                </c:pt>
                <c:pt idx="129">
                  <c:v>0.62161</c:v>
                </c:pt>
                <c:pt idx="130">
                  <c:v>0.62232</c:v>
                </c:pt>
                <c:pt idx="131">
                  <c:v>0.62205</c:v>
                </c:pt>
                <c:pt idx="132">
                  <c:v>0.62164</c:v>
                </c:pt>
                <c:pt idx="133">
                  <c:v>0.62109</c:v>
                </c:pt>
                <c:pt idx="134">
                  <c:v>0.6199</c:v>
                </c:pt>
                <c:pt idx="135">
                  <c:v>0.61846</c:v>
                </c:pt>
                <c:pt idx="136">
                  <c:v>0.61859</c:v>
                </c:pt>
                <c:pt idx="137">
                  <c:v>0.61947</c:v>
                </c:pt>
                <c:pt idx="138">
                  <c:v>0.61908</c:v>
                </c:pt>
                <c:pt idx="139">
                  <c:v>0.62063</c:v>
                </c:pt>
                <c:pt idx="140">
                  <c:v>0.62035</c:v>
                </c:pt>
                <c:pt idx="141">
                  <c:v>0.62041</c:v>
                </c:pt>
                <c:pt idx="142">
                  <c:v>0.62125</c:v>
                </c:pt>
                <c:pt idx="143">
                  <c:v>0.62078</c:v>
                </c:pt>
                <c:pt idx="144">
                  <c:v>0.61933</c:v>
                </c:pt>
                <c:pt idx="145">
                  <c:v>0.62</c:v>
                </c:pt>
                <c:pt idx="146">
                  <c:v>0.61948</c:v>
                </c:pt>
                <c:pt idx="147">
                  <c:v>0.61962</c:v>
                </c:pt>
                <c:pt idx="148">
                  <c:v>0.61921</c:v>
                </c:pt>
                <c:pt idx="149">
                  <c:v>0.61889</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212B21"/>
                    </a:solidFill>
                    <a:latin typeface="Open Sauce"/>
                    <a:ea typeface="Open Sauce"/>
                    <a:cs typeface="Open Sauce"/>
                  </a:rPr>
                  <a:t>Epoch</a:t>
                </a:r>
              </a:p>
            </c:rich>
          </c:tx>
          <c:overlay val="0"/>
          <c:txPr>
            <a:bodyPr xmlns:a="http://schemas.openxmlformats.org/drawingml/2006/main" anchorCtr="1"/>
            <a:lstStyle xmlns:a="http://schemas.openxmlformats.org/drawingml/2006/main"/>
            <a:p xmlns:a="http://schemas.openxmlformats.org/drawingml/2006/main">
              <a:pPr>
                <a:defRPr sz="1650">
                  <a:solidFill>
                    <a:srgbClr val="212B21"/>
                  </a:solidFill>
                  <a:latin typeface="Open Sauce"/>
                  <a:ea typeface="Open Sauce"/>
                  <a:cs typeface="Open Sauc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Open Sauce"/>
                <a:ea typeface="Open Sauce"/>
                <a:cs typeface="Open Sauce"/>
              </a:defRPr>
            </a:pPr>
          </a:p>
        </c:txPr>
        <c:crossAx val="48672768"/>
      </c:catAx>
      <c:valAx>
        <c:axId val="48672768"/>
        <c:scaling>
          <c:orientation val="minMax"/>
        </c:scaling>
        <c:delete val="0"/>
        <c:axPos val="l"/>
        <c:majorGridlines>
          <c:spPr>
            <a:ln xmlns:a="http://schemas.openxmlformats.org/drawingml/2006/main" w="9525">
              <a:solidFill>
                <a:srgbClr val="D8DAD2"/>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Open Sauce"/>
                <a:ea typeface="Open Sauce"/>
                <a:cs typeface="Open Sauce"/>
              </a:defRPr>
            </a:pPr>
          </a:p>
        </c:txPr>
        <c:crossAx val="48650112"/>
        <c:crossBetween val="between"/>
      </c:valAx>
      <c:spPr>
        <a:solidFill xmlns:a="http://schemas.openxmlformats.org/drawingml/2006/main">
          <a:srgbClr val="FFFDFA"/>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12B21"/>
              </a:solidFill>
              <a:latin typeface="Open Sauce"/>
              <a:ea typeface="Open Sauce"/>
              <a:cs typeface="Open Sauce"/>
            </a:defRPr>
          </a:pPr>
        </a:p>
      </c:txPr>
    </c:legend>
    <c:plotVisOnly val="1"/>
  </c:chart>
  <c:spPr>
    <a:solidFill xmlns:a="http://schemas.openxmlformats.org/drawingml/2006/main">
      <a:srgbClr val="FFFDFA"/>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mAP@0.5</c:v>
          </c:tx>
          <c:spPr>
            <a:ln xmlns:a="http://schemas.openxmlformats.org/drawingml/2006/main" w="28575">
              <a:solidFill>
                <a:srgbClr val="212B21"/>
              </a:solidFill>
            </a:ln>
          </c:spPr>
          <c:marker>
            <c:symbol val="none"/>
          </c:marker>
          <c:cat>
            <c:numRef>
              <c:f>'Chart Data'!$A$2:$A$151</c:f>
              <c:numCache>
                <c:formatCode>General</c:formatCode>
                <c:ptCount val="1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numCache>
            </c:numRef>
          </c:cat>
          <c:val>
            <c:numRef>
              <c:f>'Chart Data'!$B$2:$B$151</c:f>
              <c:numCache>
                <c:formatCode>0%</c:formatCode>
                <c:ptCount val="150"/>
                <c:pt idx="0">
                  <c:v>0.22995</c:v>
                </c:pt>
                <c:pt idx="1">
                  <c:v>0.37529</c:v>
                </c:pt>
                <c:pt idx="2">
                  <c:v>0.36136</c:v>
                </c:pt>
                <c:pt idx="3">
                  <c:v>0.46156</c:v>
                </c:pt>
                <c:pt idx="4">
                  <c:v>0.54027</c:v>
                </c:pt>
                <c:pt idx="5">
                  <c:v>0.58116</c:v>
                </c:pt>
                <c:pt idx="6">
                  <c:v>0.59347</c:v>
                </c:pt>
                <c:pt idx="7">
                  <c:v>0.65296</c:v>
                </c:pt>
                <c:pt idx="8">
                  <c:v>0.65789</c:v>
                </c:pt>
                <c:pt idx="9">
                  <c:v>0.68731</c:v>
                </c:pt>
                <c:pt idx="10">
                  <c:v>0.71006</c:v>
                </c:pt>
                <c:pt idx="11">
                  <c:v>0.7277</c:v>
                </c:pt>
                <c:pt idx="12">
                  <c:v>0.75058</c:v>
                </c:pt>
                <c:pt idx="13">
                  <c:v>0.74189</c:v>
                </c:pt>
                <c:pt idx="14">
                  <c:v>0.75775</c:v>
                </c:pt>
                <c:pt idx="15">
                  <c:v>0.78574</c:v>
                </c:pt>
                <c:pt idx="16">
                  <c:v>0.75918</c:v>
                </c:pt>
                <c:pt idx="17">
                  <c:v>0.79701</c:v>
                </c:pt>
                <c:pt idx="18">
                  <c:v>0.8014</c:v>
                </c:pt>
                <c:pt idx="19">
                  <c:v>0.80277</c:v>
                </c:pt>
                <c:pt idx="20">
                  <c:v>0.8122</c:v>
                </c:pt>
                <c:pt idx="21">
                  <c:v>0.82028</c:v>
                </c:pt>
                <c:pt idx="22">
                  <c:v>0.84705</c:v>
                </c:pt>
                <c:pt idx="23">
                  <c:v>0.83808</c:v>
                </c:pt>
                <c:pt idx="24">
                  <c:v>0.83518</c:v>
                </c:pt>
                <c:pt idx="25">
                  <c:v>0.83508</c:v>
                </c:pt>
                <c:pt idx="26">
                  <c:v>0.80778</c:v>
                </c:pt>
                <c:pt idx="27">
                  <c:v>0.85261</c:v>
                </c:pt>
                <c:pt idx="28">
                  <c:v>0.84115</c:v>
                </c:pt>
                <c:pt idx="29">
                  <c:v>0.83938</c:v>
                </c:pt>
                <c:pt idx="30">
                  <c:v>0.84301</c:v>
                </c:pt>
                <c:pt idx="31">
                  <c:v>0.83711</c:v>
                </c:pt>
                <c:pt idx="32">
                  <c:v>0.8464</c:v>
                </c:pt>
                <c:pt idx="33">
                  <c:v>0.85275</c:v>
                </c:pt>
                <c:pt idx="34">
                  <c:v>0.87519</c:v>
                </c:pt>
                <c:pt idx="35">
                  <c:v>0.87001</c:v>
                </c:pt>
                <c:pt idx="36">
                  <c:v>0.85834</c:v>
                </c:pt>
                <c:pt idx="37">
                  <c:v>0.87365</c:v>
                </c:pt>
                <c:pt idx="38">
                  <c:v>0.87482</c:v>
                </c:pt>
                <c:pt idx="39">
                  <c:v>0.88113</c:v>
                </c:pt>
                <c:pt idx="40">
                  <c:v>0.86554</c:v>
                </c:pt>
                <c:pt idx="41">
                  <c:v>0.88807</c:v>
                </c:pt>
                <c:pt idx="42">
                  <c:v>0.88194</c:v>
                </c:pt>
                <c:pt idx="43">
                  <c:v>0.87342</c:v>
                </c:pt>
                <c:pt idx="44">
                  <c:v>0.8909</c:v>
                </c:pt>
                <c:pt idx="45">
                  <c:v>0.8916</c:v>
                </c:pt>
                <c:pt idx="46">
                  <c:v>0.89245</c:v>
                </c:pt>
                <c:pt idx="47">
                  <c:v>0.90977</c:v>
                </c:pt>
                <c:pt idx="48">
                  <c:v>0.89168</c:v>
                </c:pt>
                <c:pt idx="49">
                  <c:v>0.90645</c:v>
                </c:pt>
                <c:pt idx="50">
                  <c:v>0.9081</c:v>
                </c:pt>
                <c:pt idx="51">
                  <c:v>0.90066</c:v>
                </c:pt>
                <c:pt idx="52">
                  <c:v>0.9131</c:v>
                </c:pt>
                <c:pt idx="53">
                  <c:v>0.90757</c:v>
                </c:pt>
                <c:pt idx="54">
                  <c:v>0.9069</c:v>
                </c:pt>
                <c:pt idx="55">
                  <c:v>0.90707</c:v>
                </c:pt>
                <c:pt idx="56">
                  <c:v>0.9083</c:v>
                </c:pt>
                <c:pt idx="57">
                  <c:v>0.90794</c:v>
                </c:pt>
                <c:pt idx="58">
                  <c:v>0.91953</c:v>
                </c:pt>
                <c:pt idx="59">
                  <c:v>0.92374</c:v>
                </c:pt>
                <c:pt idx="60">
                  <c:v>0.9273</c:v>
                </c:pt>
                <c:pt idx="61">
                  <c:v>0.92127</c:v>
                </c:pt>
                <c:pt idx="62">
                  <c:v>0.92096</c:v>
                </c:pt>
                <c:pt idx="63">
                  <c:v>0.9286</c:v>
                </c:pt>
                <c:pt idx="64">
                  <c:v>0.93262</c:v>
                </c:pt>
                <c:pt idx="65">
                  <c:v>0.94314</c:v>
                </c:pt>
                <c:pt idx="66">
                  <c:v>0.92668</c:v>
                </c:pt>
                <c:pt idx="67">
                  <c:v>0.93346</c:v>
                </c:pt>
                <c:pt idx="68">
                  <c:v>0.94286</c:v>
                </c:pt>
                <c:pt idx="69">
                  <c:v>0.94102</c:v>
                </c:pt>
                <c:pt idx="70">
                  <c:v>0.92648</c:v>
                </c:pt>
                <c:pt idx="71">
                  <c:v>0.92783</c:v>
                </c:pt>
                <c:pt idx="72">
                  <c:v>0.9157</c:v>
                </c:pt>
                <c:pt idx="73">
                  <c:v>0.94675</c:v>
                </c:pt>
                <c:pt idx="74">
                  <c:v>0.94523</c:v>
                </c:pt>
                <c:pt idx="75">
                  <c:v>0.9446</c:v>
                </c:pt>
                <c:pt idx="76">
                  <c:v>0.94417</c:v>
                </c:pt>
                <c:pt idx="77">
                  <c:v>0.94145</c:v>
                </c:pt>
                <c:pt idx="78">
                  <c:v>0.94524</c:v>
                </c:pt>
                <c:pt idx="79">
                  <c:v>0.93984</c:v>
                </c:pt>
                <c:pt idx="80">
                  <c:v>0.94105</c:v>
                </c:pt>
                <c:pt idx="81">
                  <c:v>0.93617</c:v>
                </c:pt>
                <c:pt idx="82">
                  <c:v>0.94426</c:v>
                </c:pt>
                <c:pt idx="83">
                  <c:v>0.94569</c:v>
                </c:pt>
                <c:pt idx="84">
                  <c:v>0.94901</c:v>
                </c:pt>
                <c:pt idx="85">
                  <c:v>0.94676</c:v>
                </c:pt>
                <c:pt idx="86">
                  <c:v>0.94729</c:v>
                </c:pt>
                <c:pt idx="87">
                  <c:v>0.94697</c:v>
                </c:pt>
                <c:pt idx="88">
                  <c:v>0.94377</c:v>
                </c:pt>
                <c:pt idx="89">
                  <c:v>0.94854</c:v>
                </c:pt>
                <c:pt idx="90">
                  <c:v>0.94373</c:v>
                </c:pt>
                <c:pt idx="91">
                  <c:v>0.94439</c:v>
                </c:pt>
                <c:pt idx="92">
                  <c:v>0.9529</c:v>
                </c:pt>
                <c:pt idx="93">
                  <c:v>0.95295</c:v>
                </c:pt>
                <c:pt idx="94">
                  <c:v>0.95212</c:v>
                </c:pt>
                <c:pt idx="95">
                  <c:v>0.94959</c:v>
                </c:pt>
                <c:pt idx="96">
                  <c:v>0.9475</c:v>
                </c:pt>
                <c:pt idx="97">
                  <c:v>0.94796</c:v>
                </c:pt>
                <c:pt idx="98">
                  <c:v>0.94925</c:v>
                </c:pt>
                <c:pt idx="99">
                  <c:v>0.9487</c:v>
                </c:pt>
                <c:pt idx="100">
                  <c:v>0.94239</c:v>
                </c:pt>
                <c:pt idx="101">
                  <c:v>0.94544</c:v>
                </c:pt>
                <c:pt idx="102">
                  <c:v>0.94776</c:v>
                </c:pt>
                <c:pt idx="103">
                  <c:v>0.94758</c:v>
                </c:pt>
                <c:pt idx="104">
                  <c:v>0.9471</c:v>
                </c:pt>
                <c:pt idx="105">
                  <c:v>0.94686</c:v>
                </c:pt>
                <c:pt idx="106">
                  <c:v>0.94517</c:v>
                </c:pt>
                <c:pt idx="107">
                  <c:v>0.94612</c:v>
                </c:pt>
                <c:pt idx="108">
                  <c:v>0.95009</c:v>
                </c:pt>
                <c:pt idx="109">
                  <c:v>0.94981</c:v>
                </c:pt>
                <c:pt idx="110">
                  <c:v>0.95148</c:v>
                </c:pt>
                <c:pt idx="111">
                  <c:v>0.95085</c:v>
                </c:pt>
                <c:pt idx="112">
                  <c:v>0.95046</c:v>
                </c:pt>
                <c:pt idx="113">
                  <c:v>0.9507</c:v>
                </c:pt>
                <c:pt idx="114">
                  <c:v>0.95251</c:v>
                </c:pt>
                <c:pt idx="115">
                  <c:v>0.95121</c:v>
                </c:pt>
                <c:pt idx="116">
                  <c:v>0.95188</c:v>
                </c:pt>
                <c:pt idx="117">
                  <c:v>0.95221</c:v>
                </c:pt>
                <c:pt idx="118">
                  <c:v>0.95122</c:v>
                </c:pt>
                <c:pt idx="119">
                  <c:v>0.95118</c:v>
                </c:pt>
                <c:pt idx="120">
                  <c:v>0.95103</c:v>
                </c:pt>
                <c:pt idx="121">
                  <c:v>0.95092</c:v>
                </c:pt>
                <c:pt idx="122">
                  <c:v>0.95016</c:v>
                </c:pt>
                <c:pt idx="123">
                  <c:v>0.94901</c:v>
                </c:pt>
                <c:pt idx="124">
                  <c:v>0.94969</c:v>
                </c:pt>
                <c:pt idx="125">
                  <c:v>0.95032</c:v>
                </c:pt>
                <c:pt idx="126">
                  <c:v>0.95215</c:v>
                </c:pt>
                <c:pt idx="127">
                  <c:v>0.95208</c:v>
                </c:pt>
                <c:pt idx="128">
                  <c:v>0.9516</c:v>
                </c:pt>
                <c:pt idx="129">
                  <c:v>0.95217</c:v>
                </c:pt>
                <c:pt idx="130">
                  <c:v>0.95106</c:v>
                </c:pt>
                <c:pt idx="131">
                  <c:v>0.9502</c:v>
                </c:pt>
                <c:pt idx="132">
                  <c:v>0.95085</c:v>
                </c:pt>
                <c:pt idx="133">
                  <c:v>0.94743</c:v>
                </c:pt>
                <c:pt idx="134">
                  <c:v>0.94837</c:v>
                </c:pt>
                <c:pt idx="135">
                  <c:v>0.94749</c:v>
                </c:pt>
                <c:pt idx="136">
                  <c:v>0.94791</c:v>
                </c:pt>
                <c:pt idx="137">
                  <c:v>0.95056</c:v>
                </c:pt>
                <c:pt idx="138">
                  <c:v>0.95068</c:v>
                </c:pt>
                <c:pt idx="139">
                  <c:v>0.95048</c:v>
                </c:pt>
                <c:pt idx="140">
                  <c:v>0.95012</c:v>
                </c:pt>
                <c:pt idx="141">
                  <c:v>0.95</c:v>
                </c:pt>
                <c:pt idx="142">
                  <c:v>0.94753</c:v>
                </c:pt>
                <c:pt idx="143">
                  <c:v>0.95024</c:v>
                </c:pt>
                <c:pt idx="144">
                  <c:v>0.94993</c:v>
                </c:pt>
                <c:pt idx="145">
                  <c:v>0.94968</c:v>
                </c:pt>
                <c:pt idx="146">
                  <c:v>0.95005</c:v>
                </c:pt>
                <c:pt idx="147">
                  <c:v>0.94962</c:v>
                </c:pt>
                <c:pt idx="148">
                  <c:v>0.94961</c:v>
                </c:pt>
                <c:pt idx="149">
                  <c:v>0.94973</c:v>
                </c:pt>
              </c:numCache>
            </c:numRef>
          </c:val>
        </c:ser>
        <c:ser>
          <c:idx val="1"/>
          <c:order val="1"/>
          <c:tx>
            <c:v>mAP@0.5:0.95</c:v>
          </c:tx>
          <c:spPr>
            <a:ln xmlns:a="http://schemas.openxmlformats.org/drawingml/2006/main" w="28575">
              <a:solidFill>
                <a:srgbClr val="F5A000"/>
              </a:solidFill>
            </a:ln>
          </c:spPr>
          <c:marker>
            <c:symbol val="none"/>
          </c:marker>
          <c:cat>
            <c:numRef>
              <c:f>'Chart Data'!$C$2:$C$151</c:f>
              <c:numCache>
                <c:formatCode>General</c:formatCode>
                <c:ptCount val="1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numCache>
            </c:numRef>
          </c:cat>
          <c:val>
            <c:numRef>
              <c:f>'Chart Data'!$D$2:$D$151</c:f>
              <c:numCache>
                <c:formatCode>0%</c:formatCode>
                <c:ptCount val="150"/>
                <c:pt idx="0">
                  <c:v>0.16602</c:v>
                </c:pt>
                <c:pt idx="1">
                  <c:v>0.23355</c:v>
                </c:pt>
                <c:pt idx="2">
                  <c:v>0.23056</c:v>
                </c:pt>
                <c:pt idx="3">
                  <c:v>0.3114</c:v>
                </c:pt>
                <c:pt idx="4">
                  <c:v>0.37102</c:v>
                </c:pt>
                <c:pt idx="5">
                  <c:v>0.41167</c:v>
                </c:pt>
                <c:pt idx="6">
                  <c:v>0.42284</c:v>
                </c:pt>
                <c:pt idx="7">
                  <c:v>0.46365</c:v>
                </c:pt>
                <c:pt idx="8">
                  <c:v>0.47432</c:v>
                </c:pt>
                <c:pt idx="9">
                  <c:v>0.52159</c:v>
                </c:pt>
                <c:pt idx="10">
                  <c:v>0.54647</c:v>
                </c:pt>
                <c:pt idx="11">
                  <c:v>0.54163</c:v>
                </c:pt>
                <c:pt idx="12">
                  <c:v>0.58219</c:v>
                </c:pt>
                <c:pt idx="13">
                  <c:v>0.52887</c:v>
                </c:pt>
                <c:pt idx="14">
                  <c:v>0.5773</c:v>
                </c:pt>
                <c:pt idx="15">
                  <c:v>0.59914</c:v>
                </c:pt>
                <c:pt idx="16">
                  <c:v>0.59015</c:v>
                </c:pt>
                <c:pt idx="17">
                  <c:v>0.62406</c:v>
                </c:pt>
                <c:pt idx="18">
                  <c:v>0.61618</c:v>
                </c:pt>
                <c:pt idx="19">
                  <c:v>0.62408</c:v>
                </c:pt>
                <c:pt idx="20">
                  <c:v>0.62942</c:v>
                </c:pt>
                <c:pt idx="21">
                  <c:v>0.64254</c:v>
                </c:pt>
                <c:pt idx="22">
                  <c:v>0.68346</c:v>
                </c:pt>
                <c:pt idx="23">
                  <c:v>0.65654</c:v>
                </c:pt>
                <c:pt idx="24">
                  <c:v>0.64993</c:v>
                </c:pt>
                <c:pt idx="25">
                  <c:v>0.65505</c:v>
                </c:pt>
                <c:pt idx="26">
                  <c:v>0.63249</c:v>
                </c:pt>
                <c:pt idx="27">
                  <c:v>0.69282</c:v>
                </c:pt>
                <c:pt idx="28">
                  <c:v>0.67265</c:v>
                </c:pt>
                <c:pt idx="29">
                  <c:v>0.66961</c:v>
                </c:pt>
                <c:pt idx="30">
                  <c:v>0.65718</c:v>
                </c:pt>
                <c:pt idx="31">
                  <c:v>0.66225</c:v>
                </c:pt>
                <c:pt idx="32">
                  <c:v>0.67807</c:v>
                </c:pt>
                <c:pt idx="33">
                  <c:v>0.66699</c:v>
                </c:pt>
                <c:pt idx="34">
                  <c:v>0.69666</c:v>
                </c:pt>
                <c:pt idx="35">
                  <c:v>0.69692</c:v>
                </c:pt>
                <c:pt idx="36">
                  <c:v>0.68853</c:v>
                </c:pt>
                <c:pt idx="37">
                  <c:v>0.69388</c:v>
                </c:pt>
                <c:pt idx="38">
                  <c:v>0.67616</c:v>
                </c:pt>
                <c:pt idx="39">
                  <c:v>0.70815</c:v>
                </c:pt>
                <c:pt idx="40">
                  <c:v>0.67897</c:v>
                </c:pt>
                <c:pt idx="41">
                  <c:v>0.70318</c:v>
                </c:pt>
                <c:pt idx="42">
                  <c:v>0.6962</c:v>
                </c:pt>
                <c:pt idx="43">
                  <c:v>0.68492</c:v>
                </c:pt>
                <c:pt idx="44">
                  <c:v>0.69758</c:v>
                </c:pt>
                <c:pt idx="45">
                  <c:v>0.69174</c:v>
                </c:pt>
                <c:pt idx="46">
                  <c:v>0.70347</c:v>
                </c:pt>
                <c:pt idx="47">
                  <c:v>0.73701</c:v>
                </c:pt>
                <c:pt idx="48">
                  <c:v>0.7086</c:v>
                </c:pt>
                <c:pt idx="49">
                  <c:v>0.72398</c:v>
                </c:pt>
                <c:pt idx="50">
                  <c:v>0.72144</c:v>
                </c:pt>
                <c:pt idx="51">
                  <c:v>0.712</c:v>
                </c:pt>
                <c:pt idx="52">
                  <c:v>0.72846</c:v>
                </c:pt>
                <c:pt idx="53">
                  <c:v>0.73704</c:v>
                </c:pt>
                <c:pt idx="54">
                  <c:v>0.71982</c:v>
                </c:pt>
                <c:pt idx="55">
                  <c:v>0.72806</c:v>
                </c:pt>
                <c:pt idx="56">
                  <c:v>0.73088</c:v>
                </c:pt>
                <c:pt idx="57">
                  <c:v>0.71773</c:v>
                </c:pt>
                <c:pt idx="58">
                  <c:v>0.74013</c:v>
                </c:pt>
                <c:pt idx="59">
                  <c:v>0.7141</c:v>
                </c:pt>
                <c:pt idx="60">
                  <c:v>0.73325</c:v>
                </c:pt>
                <c:pt idx="61">
                  <c:v>0.74624</c:v>
                </c:pt>
                <c:pt idx="62">
                  <c:v>0.72955</c:v>
                </c:pt>
                <c:pt idx="63">
                  <c:v>0.75004</c:v>
                </c:pt>
                <c:pt idx="64">
                  <c:v>0.74242</c:v>
                </c:pt>
                <c:pt idx="65">
                  <c:v>0.75813</c:v>
                </c:pt>
                <c:pt idx="66">
                  <c:v>0.7485</c:v>
                </c:pt>
                <c:pt idx="67">
                  <c:v>0.7393</c:v>
                </c:pt>
                <c:pt idx="68">
                  <c:v>0.7439</c:v>
                </c:pt>
                <c:pt idx="69">
                  <c:v>0.74803</c:v>
                </c:pt>
                <c:pt idx="70">
                  <c:v>0.75047</c:v>
                </c:pt>
                <c:pt idx="71">
                  <c:v>0.75317</c:v>
                </c:pt>
                <c:pt idx="72">
                  <c:v>0.74784</c:v>
                </c:pt>
                <c:pt idx="73">
                  <c:v>0.76114</c:v>
                </c:pt>
                <c:pt idx="74">
                  <c:v>0.75394</c:v>
                </c:pt>
                <c:pt idx="75">
                  <c:v>0.75704</c:v>
                </c:pt>
                <c:pt idx="76">
                  <c:v>0.75571</c:v>
                </c:pt>
                <c:pt idx="77">
                  <c:v>0.76822</c:v>
                </c:pt>
                <c:pt idx="78">
                  <c:v>0.75524</c:v>
                </c:pt>
                <c:pt idx="79">
                  <c:v>0.75508</c:v>
                </c:pt>
                <c:pt idx="80">
                  <c:v>0.76304</c:v>
                </c:pt>
                <c:pt idx="81">
                  <c:v>0.75375</c:v>
                </c:pt>
                <c:pt idx="82">
                  <c:v>0.763</c:v>
                </c:pt>
                <c:pt idx="83">
                  <c:v>0.76466</c:v>
                </c:pt>
                <c:pt idx="84">
                  <c:v>0.75764</c:v>
                </c:pt>
                <c:pt idx="85">
                  <c:v>0.76308</c:v>
                </c:pt>
                <c:pt idx="86">
                  <c:v>0.75485</c:v>
                </c:pt>
                <c:pt idx="87">
                  <c:v>0.75849</c:v>
                </c:pt>
                <c:pt idx="88">
                  <c:v>0.75959</c:v>
                </c:pt>
                <c:pt idx="89">
                  <c:v>0.76607</c:v>
                </c:pt>
                <c:pt idx="90">
                  <c:v>0.76462</c:v>
                </c:pt>
                <c:pt idx="91">
                  <c:v>0.75881</c:v>
                </c:pt>
                <c:pt idx="92">
                  <c:v>0.76814</c:v>
                </c:pt>
                <c:pt idx="93">
                  <c:v>0.76424</c:v>
                </c:pt>
                <c:pt idx="94">
                  <c:v>0.7626</c:v>
                </c:pt>
                <c:pt idx="95">
                  <c:v>0.75537</c:v>
                </c:pt>
                <c:pt idx="96">
                  <c:v>0.76476</c:v>
                </c:pt>
                <c:pt idx="97">
                  <c:v>0.75595</c:v>
                </c:pt>
                <c:pt idx="98">
                  <c:v>0.76131</c:v>
                </c:pt>
                <c:pt idx="99">
                  <c:v>0.75982</c:v>
                </c:pt>
                <c:pt idx="100">
                  <c:v>0.76403</c:v>
                </c:pt>
                <c:pt idx="101">
                  <c:v>0.77659</c:v>
                </c:pt>
                <c:pt idx="102">
                  <c:v>0.77566</c:v>
                </c:pt>
                <c:pt idx="103">
                  <c:v>0.77267</c:v>
                </c:pt>
                <c:pt idx="104">
                  <c:v>0.77833</c:v>
                </c:pt>
                <c:pt idx="105">
                  <c:v>0.78012</c:v>
                </c:pt>
                <c:pt idx="106">
                  <c:v>0.77846</c:v>
                </c:pt>
                <c:pt idx="107">
                  <c:v>0.77808</c:v>
                </c:pt>
                <c:pt idx="108">
                  <c:v>0.77941</c:v>
                </c:pt>
                <c:pt idx="109">
                  <c:v>0.78582</c:v>
                </c:pt>
                <c:pt idx="110">
                  <c:v>0.78838</c:v>
                </c:pt>
                <c:pt idx="111">
                  <c:v>0.79098</c:v>
                </c:pt>
                <c:pt idx="112">
                  <c:v>0.78888</c:v>
                </c:pt>
                <c:pt idx="113">
                  <c:v>0.79021</c:v>
                </c:pt>
                <c:pt idx="114">
                  <c:v>0.78845</c:v>
                </c:pt>
                <c:pt idx="115">
                  <c:v>0.78653</c:v>
                </c:pt>
                <c:pt idx="116">
                  <c:v>0.78982</c:v>
                </c:pt>
                <c:pt idx="117">
                  <c:v>0.7901</c:v>
                </c:pt>
                <c:pt idx="118">
                  <c:v>0.79306</c:v>
                </c:pt>
                <c:pt idx="119">
                  <c:v>0.79258</c:v>
                </c:pt>
                <c:pt idx="120">
                  <c:v>0.79332</c:v>
                </c:pt>
                <c:pt idx="121">
                  <c:v>0.79839</c:v>
                </c:pt>
                <c:pt idx="122">
                  <c:v>0.79774</c:v>
                </c:pt>
                <c:pt idx="123">
                  <c:v>0.79607</c:v>
                </c:pt>
                <c:pt idx="124">
                  <c:v>0.79572</c:v>
                </c:pt>
                <c:pt idx="125">
                  <c:v>0.79558</c:v>
                </c:pt>
                <c:pt idx="126">
                  <c:v>0.79719</c:v>
                </c:pt>
                <c:pt idx="127">
                  <c:v>0.79726</c:v>
                </c:pt>
                <c:pt idx="128">
                  <c:v>0.79732</c:v>
                </c:pt>
                <c:pt idx="129">
                  <c:v>0.798</c:v>
                </c:pt>
                <c:pt idx="130">
                  <c:v>0.79797</c:v>
                </c:pt>
                <c:pt idx="131">
                  <c:v>0.79874</c:v>
                </c:pt>
                <c:pt idx="132">
                  <c:v>0.79938</c:v>
                </c:pt>
                <c:pt idx="133">
                  <c:v>0.79989</c:v>
                </c:pt>
                <c:pt idx="134">
                  <c:v>0.79861</c:v>
                </c:pt>
                <c:pt idx="135">
                  <c:v>0.7999</c:v>
                </c:pt>
                <c:pt idx="136">
                  <c:v>0.7991</c:v>
                </c:pt>
                <c:pt idx="137">
                  <c:v>0.803</c:v>
                </c:pt>
                <c:pt idx="138">
                  <c:v>0.80392</c:v>
                </c:pt>
                <c:pt idx="139">
                  <c:v>0.80242</c:v>
                </c:pt>
                <c:pt idx="140">
                  <c:v>0.80093</c:v>
                </c:pt>
                <c:pt idx="141">
                  <c:v>0.80138</c:v>
                </c:pt>
                <c:pt idx="142">
                  <c:v>0.79949</c:v>
                </c:pt>
                <c:pt idx="143">
                  <c:v>0.80205</c:v>
                </c:pt>
                <c:pt idx="144">
                  <c:v>0.80135</c:v>
                </c:pt>
                <c:pt idx="145">
                  <c:v>0.80082</c:v>
                </c:pt>
                <c:pt idx="146">
                  <c:v>0.79975</c:v>
                </c:pt>
                <c:pt idx="147">
                  <c:v>0.79985</c:v>
                </c:pt>
                <c:pt idx="148">
                  <c:v>0.80019</c:v>
                </c:pt>
                <c:pt idx="149">
                  <c:v>0.80057</c:v>
                </c:pt>
              </c:numCache>
            </c:numRef>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212B21"/>
                    </a:solidFill>
                    <a:latin typeface="Open Sauce"/>
                    <a:ea typeface="Open Sauce"/>
                    <a:cs typeface="Open Sauce"/>
                  </a:rPr>
                  <a:t>Epoch</a:t>
                </a:r>
              </a:p>
            </c:rich>
          </c:tx>
          <c:overlay val="0"/>
          <c:txPr>
            <a:bodyPr xmlns:a="http://schemas.openxmlformats.org/drawingml/2006/main" anchorCtr="1"/>
            <a:lstStyle xmlns:a="http://schemas.openxmlformats.org/drawingml/2006/main"/>
            <a:p xmlns:a="http://schemas.openxmlformats.org/drawingml/2006/main">
              <a:pPr>
                <a:defRPr sz="1650">
                  <a:solidFill>
                    <a:srgbClr val="212B21"/>
                  </a:solidFill>
                  <a:latin typeface="Open Sauce"/>
                  <a:ea typeface="Open Sauce"/>
                  <a:cs typeface="Open Sauc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Open Sauce"/>
                <a:ea typeface="Open Sauce"/>
                <a:cs typeface="Open Sauce"/>
              </a:defRPr>
            </a:pPr>
          </a:p>
        </c:txPr>
        <c:crossAx val="48672768"/>
      </c:catAx>
      <c:valAx>
        <c:axId val="48672768"/>
        <c:scaling>
          <c:orientation val="minMax"/>
          <c:max val="1"/>
          <c:min val="0"/>
        </c:scaling>
        <c:delete val="0"/>
        <c:axPos val="l"/>
        <c:majorGridlines>
          <c:spPr>
            <a:ln xmlns:a="http://schemas.openxmlformats.org/drawingml/2006/main" w="9525">
              <a:solidFill>
                <a:srgbClr val="D8DAD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Open Sauce"/>
                <a:ea typeface="Open Sauce"/>
                <a:cs typeface="Open Sauce"/>
              </a:defRPr>
            </a:pPr>
          </a:p>
        </c:txPr>
        <c:crossAx val="48650112"/>
        <c:crossBetween val="between"/>
      </c:valAx>
      <c:spPr>
        <a:solidFill xmlns:a="http://schemas.openxmlformats.org/drawingml/2006/main">
          <a:srgbClr val="FFFDFA"/>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12B21"/>
              </a:solidFill>
              <a:latin typeface="Open Sauce"/>
              <a:ea typeface="Open Sauce"/>
              <a:cs typeface="Open Sauce"/>
            </a:defRPr>
          </a:pPr>
        </a:p>
      </c:txPr>
    </c:legend>
    <c:plotVisOnly val="1"/>
  </c:chart>
  <c:spPr>
    <a:solidFill xmlns:a="http://schemas.openxmlformats.org/drawingml/2006/main">
      <a:srgbClr val="FFFDFA"/>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Version 3 test</c:v>
          </c:tx>
          <c:spPr>
            <a:solidFill xmlns:a="http://schemas.openxmlformats.org/drawingml/2006/main">
              <a:srgbClr val="212B21"/>
            </a:solidFill>
          </c:spPr>
          <c:cat>
            <c:strRef>
              <c:f>'Chart Data'!$A$2:$A$6</c:f>
              <c:strCache>
                <c:ptCount val="5"/>
                <c:pt idx="0">
                  <c:v>Precision</c:v>
                </c:pt>
                <c:pt idx="1">
                  <c:v>Recall</c:v>
                </c:pt>
                <c:pt idx="2">
                  <c:v>F1</c:v>
                </c:pt>
                <c:pt idx="3">
                  <c:v>mAP@0.5</c:v>
                </c:pt>
                <c:pt idx="4">
                  <c:v>mAP@0.5:0.95</c:v>
                </c:pt>
              </c:strCache>
            </c:strRef>
          </c:cat>
          <c:val>
            <c:numRef>
              <c:f>'Chart Data'!$B$2:$B$6</c:f>
              <c:numCache>
                <c:formatCode>0.00%</c:formatCode>
                <c:ptCount val="5"/>
                <c:pt idx="0">
                  <c:v>0.930449</c:v>
                </c:pt>
                <c:pt idx="1">
                  <c:v>0.866991</c:v>
                </c:pt>
                <c:pt idx="2">
                  <c:v>0.8976</c:v>
                </c:pt>
                <c:pt idx="3">
                  <c:v>0.938563</c:v>
                </c:pt>
                <c:pt idx="4">
                  <c:v>0.776968</c:v>
                </c:pt>
              </c:numCache>
            </c:numRef>
          </c:val>
        </c:ser>
        <c:dLbls>
          <c:txPr>
            <a:bodyPr xmlns:a="http://schemas.openxmlformats.org/drawingml/2006/main" anchorCtr="1"/>
            <a:lstStyle xmlns:a="http://schemas.openxmlformats.org/drawingml/2006/main"/>
            <a:p xmlns:a="http://schemas.openxmlformats.org/drawingml/2006/main">
              <a:pPr>
                <a:defRPr sz="2250" b="1">
                  <a:latin typeface="Open Sauce"/>
                  <a:ea typeface="Open Sauce"/>
                  <a:cs typeface="Open Sauc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Open Sauce"/>
                <a:ea typeface="Open Sauce"/>
                <a:cs typeface="Open Sauce"/>
              </a:defRPr>
            </a:pPr>
          </a:p>
        </c:txPr>
        <c:crossAx val="48672768"/>
      </c:catAx>
      <c:valAx>
        <c:axId val="48672768"/>
        <c:scaling>
          <c:orientation val="minMax"/>
          <c:max val="1"/>
          <c:min val="0"/>
        </c:scaling>
        <c:delete val="0"/>
        <c:axPos val="l"/>
        <c:majorGridlines>
          <c:spPr>
            <a:ln xmlns:a="http://schemas.openxmlformats.org/drawingml/2006/main" w="9525">
              <a:solidFill>
                <a:srgbClr val="D8DAD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Open Sauce"/>
                <a:ea typeface="Open Sauce"/>
                <a:cs typeface="Open Sauce"/>
              </a:defRPr>
            </a:pPr>
          </a:p>
        </c:txPr>
        <c:crossAx val="48650112"/>
        <c:crossBetween val="between"/>
      </c:valAx>
      <c:spPr>
        <a:solidFill xmlns:a="http://schemas.openxmlformats.org/drawingml/2006/main">
          <a:srgbClr val="FFFDFA"/>
        </a:solidFill>
      </c:spPr>
    </c:plotArea>
    <c:plotVisOnly val="1"/>
  </c:chart>
  <c:spPr>
    <a:solidFill xmlns:a="http://schemas.openxmlformats.org/drawingml/2006/main">
      <a:srgbClr val="FFFD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12B21"/>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67B1A03-4F74-4691-8A1A-822678E73144}"/>
              </a:ext>
            </a:extLst>
          </p:cNvPr>
          <p:cNvSpPr>
            <a:spLocks xmlns:a="http://schemas.openxmlformats.org/drawingml/2006/main" noGrp="1"/>
          </p:cNvSpPr>
          <p:nvPr/>
        </p:nvSpPr>
        <p:spPr>
          <a:xfrm xmlns:a="http://schemas.openxmlformats.org/drawingml/2006/main" rot="0" flipH="0" flipV="0">
            <a:off x="1013621" y="971762"/>
            <a:ext cx="399154" cy="394664"/>
          </a:xfrm>
          <a:custGeom xmlns:a="http://schemas.openxmlformats.org/drawingml/2006/main">
            <a:rect l="l" t="t" r="r" b="b"/>
            <a:pathLst>
              <a:path w="399154" h="394664">
                <a:moveTo>
                  <a:pt x="0" y="0"/>
                </a:moveTo>
                <a:lnTo>
                  <a:pt x="399154" y="0"/>
                </a:lnTo>
                <a:lnTo>
                  <a:pt x="399154" y="394664"/>
                </a:lnTo>
                <a:lnTo>
                  <a:pt x="0" y="394664"/>
                </a:lnTo>
                <a:lnTo>
                  <a:pt x="0" y="0"/>
                </a:lnTo>
                <a:close/>
              </a:path>
            </a:pathLst>
          </a:custGeom>
          <a:blipFill xmlns:a="http://schemas.openxmlformats.org/drawingml/2006/main">
            <a:blip xmlns:r="http://schemas.openxmlformats.org/officeDocument/2006/relationships" r:embed="R62a02e94f4cf400f"/>
            <a:stretch>
              <a:fillRect l="0" t="0" r="0" b="0"/>
            </a:stretch>
          </a:blipFill>
        </p:spPr>
      </p:sp>
      <p:sp>
        <p:nvSpPr>
          <p:cNvPr id="3" name="AutoShape 3">
            <a:extLst xmlns:a="http://schemas.openxmlformats.org/drawingml/2006/main">
              <a:ext uri="{FF2B5EF4-FFF2-40B4-BE49-F238E27FC236}">
                <a16:creationId xmlns:a16="http://schemas.microsoft.com/office/drawing/2014/main" id="{6E7C3B3E-EAB6-4D23-96EE-B464332A59DC}"/>
              </a:ext>
            </a:extLst>
          </p:cNvPr>
          <p:cNvSpPr>
            <a:spLocks xmlns:a="http://schemas.openxmlformats.org/drawingml/2006/main" noGrp="1"/>
          </p:cNvSpPr>
          <p:nvPr/>
        </p:nvSpPr>
        <p:spPr>
          <a:xfrm xmlns:a="http://schemas.openxmlformats.org/drawingml/2006/main">
            <a:off x="3957680" y="1191823"/>
            <a:ext cx="3872038"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4" name="TextBox 4">
            <a:extLst xmlns:a="http://schemas.openxmlformats.org/drawingml/2006/main">
              <a:ext uri="{FF2B5EF4-FFF2-40B4-BE49-F238E27FC236}">
                <a16:creationId xmlns:a16="http://schemas.microsoft.com/office/drawing/2014/main" id="{3C786BA7-8A5D-4E56-AE45-F0CCF697B6D2}"/>
              </a:ext>
            </a:extLst>
          </p:cNvPr>
          <p:cNvSpPr>
            <a:spLocks xmlns:a="http://schemas.openxmlformats.org/drawingml/2006/main" noGrp="1"/>
          </p:cNvSpPr>
          <p:nvPr/>
        </p:nvSpPr>
        <p:spPr>
          <a:xfrm xmlns:a="http://schemas.openxmlformats.org/drawingml/2006/main" rot="0">
            <a:off x="1028700" y="4191000"/>
            <a:ext cx="15240000" cy="904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3450" b="0">
                <a:solidFill>
                  <a:srgbClr val="F5A000"/>
                </a:solidFill>
                <a:latin typeface="Open Sauce"/>
                <a:ea typeface="Open Sauce"/>
                <a:cs typeface="Open Sauce"/>
              </a:rPr>
              <a:t>Traffic-sign information through vision and speech</a:t>
            </a:r>
          </a:p>
        </p:txBody>
      </p:sp>
      <p:sp>
        <p:nvSpPr>
          <p:cNvPr id="5" name="TextBox 5">
            <a:extLst xmlns:a="http://schemas.openxmlformats.org/drawingml/2006/main">
              <a:ext uri="{FF2B5EF4-FFF2-40B4-BE49-F238E27FC236}">
                <a16:creationId xmlns:a16="http://schemas.microsoft.com/office/drawing/2014/main" id="{10BC01EA-228E-4B50-B87B-A140CCE1CB4F}"/>
              </a:ext>
            </a:extLst>
          </p:cNvPr>
          <p:cNvSpPr>
            <a:spLocks xmlns:a="http://schemas.openxmlformats.org/drawingml/2006/main" noGrp="1"/>
          </p:cNvSpPr>
          <p:nvPr/>
        </p:nvSpPr>
        <p:spPr>
          <a:xfrm xmlns:a="http://schemas.openxmlformats.org/drawingml/2006/main" rot="0">
            <a:off x="8877300" y="1047750"/>
            <a:ext cx="6572250"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FFFFFF"/>
                </a:solidFill>
                <a:latin typeface="Open Sauce"/>
                <a:ea typeface="Open Sauce"/>
                <a:cs typeface="Open Sauce"/>
              </a:rPr>
              <a:t>Group 4 / Team 4</a:t>
            </a:r>
          </a:p>
        </p:txBody>
      </p:sp>
      <p:sp>
        <p:nvSpPr>
          <p:cNvPr id="6" name="TextBox 6">
            <a:extLst xmlns:a="http://schemas.openxmlformats.org/drawingml/2006/main">
              <a:ext uri="{FF2B5EF4-FFF2-40B4-BE49-F238E27FC236}">
                <a16:creationId xmlns:a16="http://schemas.microsoft.com/office/drawing/2014/main" id="{90E448BB-D5AC-49E4-AA70-75DCF5973322}"/>
              </a:ext>
            </a:extLst>
          </p:cNvPr>
          <p:cNvSpPr>
            <a:spLocks xmlns:a="http://schemas.openxmlformats.org/drawingml/2006/main" noGrp="1"/>
          </p:cNvSpPr>
          <p:nvPr/>
        </p:nvSpPr>
        <p:spPr>
          <a:xfrm xmlns:a="http://schemas.openxmlformats.org/drawingml/2006/main" rot="0">
            <a:off x="1028700" y="2381250"/>
            <a:ext cx="15906750" cy="1428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8250" b="1">
                <a:solidFill>
                  <a:srgbClr val="FFFFFF"/>
                </a:solidFill>
                <a:latin typeface="Open Sauce Medium"/>
                <a:ea typeface="Open Sauce Medium"/>
                <a:cs typeface="Open Sauce Medium"/>
              </a:rPr>
              <a:t>MYSignVoice</a:t>
            </a:r>
          </a:p>
        </p:txBody>
      </p:sp>
      <p:sp>
        <p:nvSpPr>
          <p:cNvPr id="7" name="s1-text-5">
            <a:extLst xmlns:a="http://schemas.openxmlformats.org/drawingml/2006/main">
              <a:ext uri="{FF2B5EF4-FFF2-40B4-BE49-F238E27FC236}">
                <a16:creationId xmlns:a16="http://schemas.microsoft.com/office/drawing/2014/main" id="{E9261FB7-A743-4408-BD9A-396E0913DE8D}"/>
              </a:ext>
            </a:extLst>
          </p:cNvPr>
          <p:cNvSpPr>
            <a:spLocks xmlns:a="http://schemas.openxmlformats.org/drawingml/2006/main" noGrp="1"/>
          </p:cNvSpPr>
          <p:nvPr/>
        </p:nvSpPr>
        <p:spPr>
          <a:xfrm xmlns:a="http://schemas.openxmlformats.org/drawingml/2006/main">
            <a:off x="1028700" y="5572125"/>
            <a:ext cx="1447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FFFFFF"/>
                </a:solidFill>
                <a:latin typeface="Open Sauce"/>
                <a:ea typeface="Open Sauce"/>
                <a:cs typeface="Open Sauce"/>
              </a:defRPr>
            </a:pPr>
            <a:r>
              <a:rPr sz="3150" b="0">
                <a:solidFill>
                  <a:srgbClr val="FFFFFF"/>
                </a:solidFill>
                <a:latin typeface="Open Sauce"/>
                <a:ea typeface="Open Sauce"/>
                <a:cs typeface="Open Sauce"/>
              </a:rPr>
              <a:t>Visual accessibility support</a:t>
            </a:r>
          </a:p>
          <a:p xmlns:a="http://schemas.openxmlformats.org/drawingml/2006/main">
            <a:pPr>
              <a:defRPr sz="3150" b="0">
                <a:solidFill>
                  <a:srgbClr val="FFFFFF"/>
                </a:solidFill>
                <a:latin typeface="Open Sauce"/>
                <a:ea typeface="Open Sauce"/>
                <a:cs typeface="Open Sauce"/>
              </a:defRPr>
            </a:pPr>
            <a:r>
              <a:rPr sz="3150" b="0">
                <a:solidFill>
                  <a:srgbClr val="FFFFFF"/>
                </a:solidFill>
                <a:latin typeface="Open Sauce"/>
                <a:ea typeface="Open Sauce"/>
                <a:cs typeface="Open Sauce"/>
              </a:rPr>
              <a:t>with driver awareness as a secondary use</a:t>
            </a:r>
          </a:p>
        </p:txBody>
      </p:sp>
      <p:sp>
        <p:nvSpPr>
          <p:cNvPr id="8" name="s1-text-6">
            <a:extLst xmlns:a="http://schemas.openxmlformats.org/drawingml/2006/main">
              <a:ext uri="{FF2B5EF4-FFF2-40B4-BE49-F238E27FC236}">
                <a16:creationId xmlns:a16="http://schemas.microsoft.com/office/drawing/2014/main" id="{B6E10884-5A07-47E5-AEF0-34D8AEFFF7D0}"/>
              </a:ext>
            </a:extLst>
          </p:cNvPr>
          <p:cNvSpPr>
            <a:spLocks xmlns:a="http://schemas.openxmlformats.org/drawingml/2006/main" noGrp="1"/>
          </p:cNvSpPr>
          <p:nvPr/>
        </p:nvSpPr>
        <p:spPr>
          <a:xfrm xmlns:a="http://schemas.openxmlformats.org/drawingml/2006/main">
            <a:off x="1028700" y="8477250"/>
            <a:ext cx="1628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FFFFF"/>
                </a:solidFill>
                <a:latin typeface="Open Sauce"/>
                <a:ea typeface="Open Sauce"/>
                <a:cs typeface="Open Sauce"/>
              </a:defRPr>
            </a:pPr>
            <a:r>
              <a:rPr sz="2175" b="0">
                <a:solidFill>
                  <a:srgbClr val="FFFFFF"/>
                </a:solidFill>
                <a:latin typeface="Open Sauce"/>
                <a:ea typeface="Open Sauce"/>
                <a:cs typeface="Open Sauce"/>
              </a:rPr>
              <a:t>Aedan Loh   /   Crystalina Dibble   /   Tan Hui Min   /   Kendrew Lim Yan Zhe</a:t>
            </a:r>
          </a:p>
        </p:txBody>
      </p:sp>
    </p:spTree>
    <p:extLst>
      <p:ext uri="{BB962C8B-B14F-4D97-AF65-F5344CB8AC3E}">
        <p14:creationId xmlns:p14="http://schemas.microsoft.com/office/powerpoint/2010/main" val="533690314"/>
      </p:ext>
    </p:extLst>
  </p:cSld>
</p:sld>
</file>

<file path=ppt/slides/slide2.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ab9998ba93964ae4">
              <a:extLst>
                <a:ext uri="{96DAC541-7B7A-43D3-8B79-37D633B846F1}">
                  <asvg:svgBlip xmlns:asvg="http://schemas.microsoft.com/office/drawing/2016/SVG/main" r:embed="Rb56c0522ebe14868"/>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1.1 PURPOSE AND TARGET USERS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Aedan Loh</a:t>
            </a:r>
          </a:p>
        </p:txBody>
      </p:sp>
      <p:sp>
        <p:nvSpPr>
          <p:cNvPr id="7" name="s2-text-4">
            <a:extLst xmlns:a="http://schemas.openxmlformats.org/drawingml/2006/main">
              <a:ext uri="{FF2B5EF4-FFF2-40B4-BE49-F238E27FC236}">
                <a16:creationId xmlns:a16="http://schemas.microsoft.com/office/drawing/2014/main" id="{707B7F20-432A-4591-89B7-CE7579D5FAA7}"/>
              </a:ext>
            </a:extLst>
          </p:cNvPr>
          <p:cNvSpPr>
            <a:spLocks xmlns:a="http://schemas.openxmlformats.org/drawingml/2006/main" noGrp="1"/>
          </p:cNvSpPr>
          <p:nvPr/>
        </p:nvSpPr>
        <p:spPr>
          <a:xfrm xmlns:a="http://schemas.openxmlformats.org/drawingml/2006/main">
            <a:off x="1028700" y="27813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Primary design goal</a:t>
            </a:r>
          </a:p>
        </p:txBody>
      </p:sp>
      <p:sp>
        <p:nvSpPr>
          <p:cNvPr id="8" name="s2-text-5">
            <a:extLst xmlns:a="http://schemas.openxmlformats.org/drawingml/2006/main">
              <a:ext uri="{FF2B5EF4-FFF2-40B4-BE49-F238E27FC236}">
                <a16:creationId xmlns:a16="http://schemas.microsoft.com/office/drawing/2014/main" id="{19C033C3-B9C6-46AB-868E-99CA0021120F}"/>
              </a:ext>
            </a:extLst>
          </p:cNvPr>
          <p:cNvSpPr>
            <a:spLocks xmlns:a="http://schemas.openxmlformats.org/drawingml/2006/main" noGrp="1"/>
          </p:cNvSpPr>
          <p:nvPr/>
        </p:nvSpPr>
        <p:spPr>
          <a:xfrm xmlns:a="http://schemas.openxmlformats.org/drawingml/2006/main">
            <a:off x="1028700" y="346710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Make traffic-sign labels and meanings available through speech for users who find visual sign information difficult to read.</a:t>
            </a:r>
          </a:p>
        </p:txBody>
      </p:sp>
      <p:sp>
        <p:nvSpPr>
          <p:cNvPr id="9" name="s2-text-6">
            <a:extLst xmlns:a="http://schemas.openxmlformats.org/drawingml/2006/main">
              <a:ext uri="{FF2B5EF4-FFF2-40B4-BE49-F238E27FC236}">
                <a16:creationId xmlns:a16="http://schemas.microsoft.com/office/drawing/2014/main" id="{0936A40D-AE28-4F28-9A44-870A6FEB4FB4}"/>
              </a:ext>
            </a:extLst>
          </p:cNvPr>
          <p:cNvSpPr>
            <a:spLocks xmlns:a="http://schemas.openxmlformats.org/drawingml/2006/main" noGrp="1"/>
          </p:cNvSpPr>
          <p:nvPr/>
        </p:nvSpPr>
        <p:spPr>
          <a:xfrm xmlns:a="http://schemas.openxmlformats.org/drawingml/2006/main">
            <a:off x="1028700" y="5381625"/>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Secondary use</a:t>
            </a:r>
          </a:p>
        </p:txBody>
      </p:sp>
      <p:sp>
        <p:nvSpPr>
          <p:cNvPr id="10" name="s2-text-7">
            <a:extLst xmlns:a="http://schemas.openxmlformats.org/drawingml/2006/main">
              <a:ext uri="{FF2B5EF4-FFF2-40B4-BE49-F238E27FC236}">
                <a16:creationId xmlns:a16="http://schemas.microsoft.com/office/drawing/2014/main" id="{1E0E6033-7617-4854-BD77-2625A2B84B58}"/>
              </a:ext>
            </a:extLst>
          </p:cNvPr>
          <p:cNvSpPr>
            <a:spLocks xmlns:a="http://schemas.openxmlformats.org/drawingml/2006/main" noGrp="1"/>
          </p:cNvSpPr>
          <p:nvPr/>
        </p:nvSpPr>
        <p:spPr>
          <a:xfrm xmlns:a="http://schemas.openxmlformats.org/drawingml/2006/main">
            <a:off x="1028700" y="606742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Support driver sign awareness and road-sign learning in demonstrations and supervised use.</a:t>
            </a:r>
          </a:p>
        </p:txBody>
      </p:sp>
      <p:sp>
        <p:nvSpPr>
          <p:cNvPr id="11" name="s2-text-8">
            <a:extLst xmlns:a="http://schemas.openxmlformats.org/drawingml/2006/main">
              <a:ext uri="{FF2B5EF4-FFF2-40B4-BE49-F238E27FC236}">
                <a16:creationId xmlns:a16="http://schemas.microsoft.com/office/drawing/2014/main" id="{470CED52-834D-4DCE-919D-FB6AA89DF03B}"/>
              </a:ext>
            </a:extLst>
          </p:cNvPr>
          <p:cNvSpPr>
            <a:spLocks xmlns:a="http://schemas.openxmlformats.org/drawingml/2006/main" noGrp="1"/>
          </p:cNvSpPr>
          <p:nvPr/>
        </p:nvSpPr>
        <p:spPr>
          <a:xfrm xmlns:a="http://schemas.openxmlformats.org/drawingml/2006/main">
            <a:off x="11811000" y="287655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F5A000"/>
                </a:solidFill>
                <a:latin typeface="Open Sauce Medium"/>
                <a:ea typeface="Open Sauce Medium"/>
                <a:cs typeface="Open Sauce Medium"/>
              </a:defRPr>
            </a:pPr>
            <a:r>
              <a:rPr sz="3000" b="1">
                <a:solidFill>
                  <a:srgbClr val="F5A000"/>
                </a:solidFill>
                <a:latin typeface="Open Sauce Medium"/>
                <a:ea typeface="Open Sauce Medium"/>
                <a:cs typeface="Open Sauce Medium"/>
              </a:rPr>
              <a:t>Current boundary</a:t>
            </a:r>
          </a:p>
        </p:txBody>
      </p:sp>
      <p:sp>
        <p:nvSpPr>
          <p:cNvPr id="12" name="s2-text-9">
            <a:extLst xmlns:a="http://schemas.openxmlformats.org/drawingml/2006/main">
              <a:ext uri="{FF2B5EF4-FFF2-40B4-BE49-F238E27FC236}">
                <a16:creationId xmlns:a16="http://schemas.microsoft.com/office/drawing/2014/main" id="{928C72A7-D12D-4007-B226-AC9798F6F0E3}"/>
              </a:ext>
            </a:extLst>
          </p:cNvPr>
          <p:cNvSpPr>
            <a:spLocks xmlns:a="http://schemas.openxmlformats.org/drawingml/2006/main" noGrp="1"/>
          </p:cNvSpPr>
          <p:nvPr/>
        </p:nvSpPr>
        <p:spPr>
          <a:xfrm xmlns:a="http://schemas.openxmlformats.org/drawingml/2006/main">
            <a:off x="11811000" y="3667125"/>
            <a:ext cx="5334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The prototype identifies signs.</a:t>
            </a:r>
          </a:p>
          <a:p xmlns:a="http://schemas.openxmlformats.org/drawingml/2006/main">
            <a:r>
              <a:t/>
            </a:r>
          </a:p>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It does not locate safe crossings, detect approaching vehicles or guide an independent journey.</a:t>
            </a:r>
          </a:p>
        </p:txBody>
      </p:sp>
      <p:sp>
        <p:nvSpPr>
          <p:cNvPr id="13" name="s2-text-10">
            <a:extLst xmlns:a="http://schemas.openxmlformats.org/drawingml/2006/main">
              <a:ext uri="{FF2B5EF4-FFF2-40B4-BE49-F238E27FC236}">
                <a16:creationId xmlns:a16="http://schemas.microsoft.com/office/drawing/2014/main" id="{E058F33D-8B41-422E-8BA2-84ACFCBEC183}"/>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Accessibility is the intended use. Effectiveness with target users still requires evaluation.</a:t>
            </a:r>
          </a:p>
        </p:txBody>
      </p:sp>
      <p:sp>
        <p:nvSpPr>
          <p:cNvPr id="14" name="s2-text-11">
            <a:extLst xmlns:a="http://schemas.openxmlformats.org/drawingml/2006/main">
              <a:ext uri="{FF2B5EF4-FFF2-40B4-BE49-F238E27FC236}">
                <a16:creationId xmlns:a16="http://schemas.microsoft.com/office/drawing/2014/main" id="{EEE8F006-F3CA-4204-9A42-F69FFB4DCDEC}"/>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02</a:t>
            </a:r>
          </a:p>
        </p:txBody>
      </p:sp>
    </p:spTree>
    <p:extLst>
      <p:ext uri="{BB962C8B-B14F-4D97-AF65-F5344CB8AC3E}">
        <p14:creationId xmlns:p14="http://schemas.microsoft.com/office/powerpoint/2010/main" val="595862113"/>
      </p:ext>
    </p:extLst>
  </p:cSld>
</p:sld>
</file>

<file path=ppt/slides/slide3.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b767e59f7e544c09">
              <a:extLst>
                <a:ext uri="{96DAC541-7B7A-43D3-8B79-37D633B846F1}">
                  <asvg:svgBlip xmlns:asvg="http://schemas.microsoft.com/office/drawing/2016/SVG/main" r:embed="R9ee14dfc77c64c18"/>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1.2 OUR CONTRIBUTION</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Aedan Loh</a:t>
            </a:r>
          </a:p>
        </p:txBody>
      </p:sp>
      <p:sp>
        <p:nvSpPr>
          <p:cNvPr id="7" name="s3-text-4">
            <a:extLst xmlns:a="http://schemas.openxmlformats.org/drawingml/2006/main">
              <a:ext uri="{FF2B5EF4-FFF2-40B4-BE49-F238E27FC236}">
                <a16:creationId xmlns:a16="http://schemas.microsoft.com/office/drawing/2014/main" id="{FA6FF37D-CA3E-4571-A742-8273514C40CF}"/>
              </a:ext>
            </a:extLst>
          </p:cNvPr>
          <p:cNvSpPr>
            <a:spLocks xmlns:a="http://schemas.openxmlformats.org/drawingml/2006/main" noGrp="1"/>
          </p:cNvSpPr>
          <p:nvPr/>
        </p:nvSpPr>
        <p:spPr>
          <a:xfrm xmlns:a="http://schemas.openxmlformats.org/drawingml/2006/main">
            <a:off x="1028700" y="276225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Sign labels and meanings</a:t>
            </a:r>
          </a:p>
        </p:txBody>
      </p:sp>
      <p:sp>
        <p:nvSpPr>
          <p:cNvPr id="8" name="s3-text-5">
            <a:extLst xmlns:a="http://schemas.openxmlformats.org/drawingml/2006/main">
              <a:ext uri="{FF2B5EF4-FFF2-40B4-BE49-F238E27FC236}">
                <a16:creationId xmlns:a16="http://schemas.microsoft.com/office/drawing/2014/main" id="{10EFA3B4-057A-4B66-A762-E0B056CC6B15}"/>
              </a:ext>
            </a:extLst>
          </p:cNvPr>
          <p:cNvSpPr>
            <a:spLocks xmlns:a="http://schemas.openxmlformats.org/drawingml/2006/main" noGrp="1"/>
          </p:cNvSpPr>
          <p:nvPr/>
        </p:nvSpPr>
        <p:spPr>
          <a:xfrm xmlns:a="http://schemas.openxmlformats.org/drawingml/2006/main">
            <a:off x="1028700" y="344805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63 Malaysian sign classes, with a plain-language meaning and an action message.</a:t>
            </a:r>
          </a:p>
        </p:txBody>
      </p:sp>
      <p:sp>
        <p:nvSpPr>
          <p:cNvPr id="9" name="s3-text-6">
            <a:extLst xmlns:a="http://schemas.openxmlformats.org/drawingml/2006/main">
              <a:ext uri="{FF2B5EF4-FFF2-40B4-BE49-F238E27FC236}">
                <a16:creationId xmlns:a16="http://schemas.microsoft.com/office/drawing/2014/main" id="{BA65398A-349C-488D-B614-4DEC4600DFD6}"/>
              </a:ext>
            </a:extLst>
          </p:cNvPr>
          <p:cNvSpPr>
            <a:spLocks xmlns:a="http://schemas.openxmlformats.org/drawingml/2006/main" noGrp="1"/>
          </p:cNvSpPr>
          <p:nvPr/>
        </p:nvSpPr>
        <p:spPr>
          <a:xfrm xmlns:a="http://schemas.openxmlformats.org/drawingml/2006/main">
            <a:off x="9715500" y="276225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Speech for multiple signs</a:t>
            </a:r>
          </a:p>
        </p:txBody>
      </p:sp>
      <p:sp>
        <p:nvSpPr>
          <p:cNvPr id="10" name="s3-text-7">
            <a:extLst xmlns:a="http://schemas.openxmlformats.org/drawingml/2006/main">
              <a:ext uri="{FF2B5EF4-FFF2-40B4-BE49-F238E27FC236}">
                <a16:creationId xmlns:a16="http://schemas.microsoft.com/office/drawing/2014/main" id="{D9185AD4-3FCD-47F5-8E85-28E3B031C2CA}"/>
              </a:ext>
            </a:extLst>
          </p:cNvPr>
          <p:cNvSpPr>
            <a:spLocks xmlns:a="http://schemas.openxmlformats.org/drawingml/2006/main" noGrp="1"/>
          </p:cNvSpPr>
          <p:nvPr/>
        </p:nvSpPr>
        <p:spPr>
          <a:xfrm xmlns:a="http://schemas.openxmlformats.org/drawingml/2006/main">
            <a:off x="9715500" y="344805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The camera announces newly confirmed classes. Uploaded images have a replay button.</a:t>
            </a:r>
          </a:p>
        </p:txBody>
      </p:sp>
      <p:sp>
        <p:nvSpPr>
          <p:cNvPr id="11" name="s3-text-8">
            <a:extLst xmlns:a="http://schemas.openxmlformats.org/drawingml/2006/main">
              <a:ext uri="{FF2B5EF4-FFF2-40B4-BE49-F238E27FC236}">
                <a16:creationId xmlns:a16="http://schemas.microsoft.com/office/drawing/2014/main" id="{C26ADB0A-E402-4308-AFE0-FA0757C22D38}"/>
              </a:ext>
            </a:extLst>
          </p:cNvPr>
          <p:cNvSpPr>
            <a:spLocks xmlns:a="http://schemas.openxmlformats.org/drawingml/2006/main" noGrp="1"/>
          </p:cNvSpPr>
          <p:nvPr/>
        </p:nvSpPr>
        <p:spPr>
          <a:xfrm xmlns:a="http://schemas.openxmlformats.org/drawingml/2006/main">
            <a:off x="1028700" y="5762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Confirmation before speech</a:t>
            </a:r>
          </a:p>
        </p:txBody>
      </p:sp>
      <p:sp>
        <p:nvSpPr>
          <p:cNvPr id="12" name="s3-text-9">
            <a:extLst xmlns:a="http://schemas.openxmlformats.org/drawingml/2006/main">
              <a:ext uri="{FF2B5EF4-FFF2-40B4-BE49-F238E27FC236}">
                <a16:creationId xmlns:a16="http://schemas.microsoft.com/office/drawing/2014/main" id="{9057A16B-8AC8-4084-AB1D-985720E2664A}"/>
              </a:ext>
            </a:extLst>
          </p:cNvPr>
          <p:cNvSpPr>
            <a:spLocks xmlns:a="http://schemas.openxmlformats.org/drawingml/2006/main" noGrp="1"/>
          </p:cNvSpPr>
          <p:nvPr/>
        </p:nvSpPr>
        <p:spPr>
          <a:xfrm xmlns:a="http://schemas.openxmlformats.org/drawingml/2006/main">
            <a:off x="1028700" y="6448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Spatial matching, repeated observations and a cooldown reduce unstable or repeated speech.</a:t>
            </a:r>
          </a:p>
        </p:txBody>
      </p:sp>
      <p:sp>
        <p:nvSpPr>
          <p:cNvPr id="13" name="s3-text-10">
            <a:extLst xmlns:a="http://schemas.openxmlformats.org/drawingml/2006/main">
              <a:ext uri="{FF2B5EF4-FFF2-40B4-BE49-F238E27FC236}">
                <a16:creationId xmlns:a16="http://schemas.microsoft.com/office/drawing/2014/main" id="{38419EFE-FC06-42A4-A32E-EF51C3836550}"/>
              </a:ext>
            </a:extLst>
          </p:cNvPr>
          <p:cNvSpPr>
            <a:spLocks xmlns:a="http://schemas.openxmlformats.org/drawingml/2006/main" noGrp="1"/>
          </p:cNvSpPr>
          <p:nvPr/>
        </p:nvSpPr>
        <p:spPr>
          <a:xfrm xmlns:a="http://schemas.openxmlformats.org/drawingml/2006/main">
            <a:off x="9715500" y="5762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Numeric cross-check</a:t>
            </a:r>
          </a:p>
        </p:txBody>
      </p:sp>
      <p:sp>
        <p:nvSpPr>
          <p:cNvPr id="14" name="s3-text-11">
            <a:extLst xmlns:a="http://schemas.openxmlformats.org/drawingml/2006/main">
              <a:ext uri="{FF2B5EF4-FFF2-40B4-BE49-F238E27FC236}">
                <a16:creationId xmlns:a16="http://schemas.microsoft.com/office/drawing/2014/main" id="{125B631A-90F1-4497-BDEE-2D0DA0D6D26B}"/>
              </a:ext>
            </a:extLst>
          </p:cNvPr>
          <p:cNvSpPr>
            <a:spLocks xmlns:a="http://schemas.openxmlformats.org/drawingml/2006/main" noGrp="1"/>
          </p:cNvSpPr>
          <p:nvPr/>
        </p:nvSpPr>
        <p:spPr>
          <a:xfrm xmlns:a="http://schemas.openxmlformats.org/drawingml/2006/main">
            <a:off x="9715500" y="6448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OCR checks speed-limit digits while YOLO remains the fallback when OCR is uncertain.</a:t>
            </a:r>
          </a:p>
        </p:txBody>
      </p:sp>
      <p:sp>
        <p:nvSpPr>
          <p:cNvPr id="15" name="s3-text-12">
            <a:extLst xmlns:a="http://schemas.openxmlformats.org/drawingml/2006/main">
              <a:ext uri="{FF2B5EF4-FFF2-40B4-BE49-F238E27FC236}">
                <a16:creationId xmlns:a16="http://schemas.microsoft.com/office/drawing/2014/main" id="{E92992DE-093A-47D2-BD66-C6EC55D10FD7}"/>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Contribution: integration and interaction design using existing detection and OCR methods.</a:t>
            </a:r>
          </a:p>
        </p:txBody>
      </p:sp>
      <p:sp>
        <p:nvSpPr>
          <p:cNvPr id="16" name="s3-text-13">
            <a:extLst xmlns:a="http://schemas.openxmlformats.org/drawingml/2006/main">
              <a:ext uri="{FF2B5EF4-FFF2-40B4-BE49-F238E27FC236}">
                <a16:creationId xmlns:a16="http://schemas.microsoft.com/office/drawing/2014/main" id="{1268227B-4462-401E-93C5-49B2296EA5FE}"/>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03</a:t>
            </a:r>
          </a:p>
        </p:txBody>
      </p:sp>
    </p:spTree>
    <p:extLst>
      <p:ext uri="{BB962C8B-B14F-4D97-AF65-F5344CB8AC3E}">
        <p14:creationId xmlns:p14="http://schemas.microsoft.com/office/powerpoint/2010/main" val="368635219"/>
      </p:ext>
    </p:extLst>
  </p:cSld>
</p:sld>
</file>

<file path=ppt/slides/slide4.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c8f1a204b4544b43">
              <a:extLst>
                <a:ext uri="{96DAC541-7B7A-43D3-8B79-37D633B846F1}">
                  <asvg:svgBlip xmlns:asvg="http://schemas.microsoft.com/office/drawing/2016/SVG/main" r:embed="R89b262dc797341c0"/>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3.1 FRONTEND AND USER EXPERIENCE</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Tan Hui Min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c264c73e160454c"/>
          <a:stretch xmlns:a="http://schemas.openxmlformats.org/drawingml/2006/main"/>
        </p:blipFill>
        <p:spPr>
          <a:xfrm xmlns:a="http://schemas.openxmlformats.org/drawingml/2006/main">
            <a:off x="3227746" y="2428875"/>
            <a:ext cx="6784258" cy="6572250"/>
          </a:xfrm>
          <a:prstGeom xmlns:a="http://schemas.openxmlformats.org/drawingml/2006/main" prst="rect">
            <a:avLst/>
          </a:prstGeom>
        </p:spPr>
      </p:pic>
      <p:sp>
        <p:nvSpPr>
          <p:cNvPr id="8" name="s4-text-4">
            <a:extLst xmlns:a="http://schemas.openxmlformats.org/drawingml/2006/main">
              <a:ext uri="{FF2B5EF4-FFF2-40B4-BE49-F238E27FC236}">
                <a16:creationId xmlns:a16="http://schemas.microsoft.com/office/drawing/2014/main" id="{FF9732EB-AE27-4B69-A9D7-9E851D985973}"/>
              </a:ext>
            </a:extLst>
          </p:cNvPr>
          <p:cNvSpPr>
            <a:spLocks xmlns:a="http://schemas.openxmlformats.org/drawingml/2006/main" noGrp="1"/>
          </p:cNvSpPr>
          <p:nvPr/>
        </p:nvSpPr>
        <p:spPr>
          <a:xfrm xmlns:a="http://schemas.openxmlformats.org/drawingml/2006/main">
            <a:off x="12763500" y="27146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F5A000"/>
                </a:solidFill>
                <a:latin typeface="Open Sauce Medium"/>
                <a:ea typeface="Open Sauce Medium"/>
                <a:cs typeface="Open Sauce Medium"/>
              </a:defRPr>
            </a:pPr>
            <a:r>
              <a:rPr sz="2775" b="1">
                <a:solidFill>
                  <a:srgbClr val="F5A000"/>
                </a:solidFill>
                <a:latin typeface="Open Sauce Medium"/>
                <a:ea typeface="Open Sauce Medium"/>
                <a:cs typeface="Open Sauce Medium"/>
              </a:rPr>
              <a:t>Visual and audio output</a:t>
            </a:r>
          </a:p>
        </p:txBody>
      </p:sp>
      <p:sp>
        <p:nvSpPr>
          <p:cNvPr id="9" name="s4-text-5">
            <a:extLst xmlns:a="http://schemas.openxmlformats.org/drawingml/2006/main">
              <a:ext uri="{FF2B5EF4-FFF2-40B4-BE49-F238E27FC236}">
                <a16:creationId xmlns:a16="http://schemas.microsoft.com/office/drawing/2014/main" id="{DC8F2A32-965A-4F88-A680-302B56C99D20}"/>
              </a:ext>
            </a:extLst>
          </p:cNvPr>
          <p:cNvSpPr>
            <a:spLocks xmlns:a="http://schemas.openxmlformats.org/drawingml/2006/main" noGrp="1"/>
          </p:cNvSpPr>
          <p:nvPr/>
        </p:nvSpPr>
        <p:spPr>
          <a:xfrm xmlns:a="http://schemas.openxmlformats.org/drawingml/2006/main">
            <a:off x="12763500" y="3619500"/>
            <a:ext cx="4476750" cy="523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212B21"/>
                </a:solidFill>
                <a:latin typeface="Open Sauce"/>
                <a:ea typeface="Open Sauce"/>
                <a:cs typeface="Open Sauce"/>
              </a:defRPr>
            </a:pPr>
            <a:r>
              <a:rPr sz="2550" b="0">
                <a:solidFill>
                  <a:srgbClr val="212B21"/>
                </a:solidFill>
                <a:latin typeface="Open Sauce"/>
                <a:ea typeface="Open Sauce"/>
                <a:cs typeface="Open Sauce"/>
              </a:rPr>
              <a:t>Image upload or live camera</a:t>
            </a:r>
          </a:p>
          <a:p xmlns:a="http://schemas.openxmlformats.org/drawingml/2006/main">
            <a:r>
              <a:t/>
            </a:r>
          </a:p>
          <a:p xmlns:a="http://schemas.openxmlformats.org/drawingml/2006/main">
            <a:pPr>
              <a:defRPr sz="2550" b="0">
                <a:solidFill>
                  <a:srgbClr val="212B21"/>
                </a:solidFill>
                <a:latin typeface="Open Sauce"/>
                <a:ea typeface="Open Sauce"/>
                <a:cs typeface="Open Sauce"/>
              </a:defRPr>
            </a:pPr>
            <a:r>
              <a:rPr sz="2550" b="0">
                <a:solidFill>
                  <a:srgbClr val="212B21"/>
                </a:solidFill>
                <a:latin typeface="Open Sauce"/>
                <a:ea typeface="Open Sauce"/>
                <a:cs typeface="Open Sauce"/>
              </a:rPr>
              <a:t>Sign label, confidence and box</a:t>
            </a:r>
          </a:p>
          <a:p xmlns:a="http://schemas.openxmlformats.org/drawingml/2006/main">
            <a:r>
              <a:t/>
            </a:r>
          </a:p>
          <a:p xmlns:a="http://schemas.openxmlformats.org/drawingml/2006/main">
            <a:pPr>
              <a:defRPr sz="2550" b="0">
                <a:solidFill>
                  <a:srgbClr val="212B21"/>
                </a:solidFill>
                <a:latin typeface="Open Sauce"/>
                <a:ea typeface="Open Sauce"/>
                <a:cs typeface="Open Sauce"/>
              </a:defRPr>
            </a:pPr>
            <a:r>
              <a:rPr sz="2550" b="0">
                <a:solidFill>
                  <a:srgbClr val="212B21"/>
                </a:solidFill>
                <a:latin typeface="Open Sauce"/>
                <a:ea typeface="Open Sauce"/>
                <a:cs typeface="Open Sauce"/>
              </a:rPr>
              <a:t>Meaning and guidance</a:t>
            </a:r>
          </a:p>
          <a:p xmlns:a="http://schemas.openxmlformats.org/drawingml/2006/main">
            <a:r>
              <a:t/>
            </a:r>
          </a:p>
          <a:p xmlns:a="http://schemas.openxmlformats.org/drawingml/2006/main">
            <a:pPr>
              <a:defRPr sz="2550" b="0">
                <a:solidFill>
                  <a:srgbClr val="212B21"/>
                </a:solidFill>
                <a:latin typeface="Open Sauce"/>
                <a:ea typeface="Open Sauce"/>
                <a:cs typeface="Open Sauce"/>
              </a:defRPr>
            </a:pPr>
            <a:r>
              <a:rPr sz="2550" b="0">
                <a:solidFill>
                  <a:srgbClr val="212B21"/>
                </a:solidFill>
                <a:latin typeface="Open Sauce"/>
                <a:ea typeface="Open Sauce"/>
                <a:cs typeface="Open Sauce"/>
              </a:rPr>
              <a:t>Speech replay for uploads</a:t>
            </a:r>
          </a:p>
          <a:p xmlns:a="http://schemas.openxmlformats.org/drawingml/2006/main">
            <a:r>
              <a:t/>
            </a:r>
          </a:p>
          <a:p xmlns:a="http://schemas.openxmlformats.org/drawingml/2006/main">
            <a:pPr>
              <a:defRPr sz="2550" b="0">
                <a:solidFill>
                  <a:srgbClr val="212B21"/>
                </a:solidFill>
                <a:latin typeface="Open Sauce"/>
                <a:ea typeface="Open Sauce"/>
                <a:cs typeface="Open Sauce"/>
              </a:defRPr>
            </a:pPr>
            <a:r>
              <a:rPr sz="2550" b="0">
                <a:solidFill>
                  <a:srgbClr val="212B21"/>
                </a:solidFill>
                <a:latin typeface="Open Sauce"/>
                <a:ea typeface="Open Sauce"/>
                <a:cs typeface="Open Sauce"/>
              </a:rPr>
              <a:t>History with processing time</a:t>
            </a:r>
          </a:p>
        </p:txBody>
      </p:sp>
      <p:sp>
        <p:nvSpPr>
          <p:cNvPr id="10" name="s4-text-6">
            <a:extLst xmlns:a="http://schemas.openxmlformats.org/drawingml/2006/main">
              <a:ext uri="{FF2B5EF4-FFF2-40B4-BE49-F238E27FC236}">
                <a16:creationId xmlns:a16="http://schemas.microsoft.com/office/drawing/2014/main" id="{B595F06F-6509-4091-9A8E-1C225BD92EB7}"/>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Actual application capture. Voice output complements the visual result.</a:t>
            </a:r>
          </a:p>
        </p:txBody>
      </p:sp>
      <p:sp>
        <p:nvSpPr>
          <p:cNvPr id="11" name="s4-text-7">
            <a:extLst xmlns:a="http://schemas.openxmlformats.org/drawingml/2006/main">
              <a:ext uri="{FF2B5EF4-FFF2-40B4-BE49-F238E27FC236}">
                <a16:creationId xmlns:a16="http://schemas.microsoft.com/office/drawing/2014/main" id="{F38AA397-FD82-4E2E-B80C-CDF462CC00ED}"/>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04</a:t>
            </a:r>
          </a:p>
        </p:txBody>
      </p:sp>
    </p:spTree>
    <p:extLst>
      <p:ext uri="{BB962C8B-B14F-4D97-AF65-F5344CB8AC3E}">
        <p14:creationId xmlns:p14="http://schemas.microsoft.com/office/powerpoint/2010/main" val="1097180653"/>
      </p:ext>
    </p:extLst>
  </p:cSld>
</p:sld>
</file>

<file path=ppt/slides/slide5.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a870b24dd6d84db5">
              <a:extLst>
                <a:ext uri="{96DAC541-7B7A-43D3-8B79-37D633B846F1}">
                  <asvg:svgBlip xmlns:asvg="http://schemas.microsoft.com/office/drawing/2016/SVG/main" r:embed="Rf33b10ca3c0e4404"/>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3.2 BACKEND DESIGN</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Tan Hui Min</a:t>
            </a:r>
          </a:p>
        </p:txBody>
      </p:sp>
      <p:graphicFrame>
        <p:nvGraphicFramePr>
          <p:cNvPr id="16" name=""/>
          <p:cNvGraphicFramePr/>
          <p:nvPr/>
        </p:nvGraphicFramePr>
        <p:xfrm>
          <a:off xmlns:a="http://schemas.openxmlformats.org/drawingml/2006/main" x="1028700" y="2714625"/>
          <a:ext xmlns:a="http://schemas.openxmlformats.org/drawingml/2006/main" cx="10953750" cy="5667375"/>
        </p:xfrm>
        <a:graphic xmlns:a="http://schemas.openxmlformats.org/drawingml/2006/main">
          <a:graphicData uri="http://schemas.openxmlformats.org/drawingml/2006/table">
            <a:tbl>
              <a:tblPr/>
              <a:tblGrid>
                <a:gridCol w="2571750"/>
                <a:gridCol w="8382000"/>
              </a:tblGrid>
              <a:tr h="944563">
                <a:tc>
                  <a:txBody>
                    <a:bodyPr/>
                    <a:lstStyle/>
                    <a:p>
                      <a:r>
                        <a:rPr sz="2400" b="1">
                          <a:solidFill>
                            <a:srgbClr val="FFFFFF"/>
                          </a:solidFill>
                          <a:latin typeface="Open Sauce"/>
                          <a:ea typeface="Open Sauce"/>
                          <a:cs typeface="Open Sauce"/>
                        </a:rPr>
                        <a:t>Stage</a:t>
                      </a:r>
                    </a:p>
                  </a:txBody>
                  <a:tcPr marL="91440" marR="91440" marT="45720" marB="45720">
                    <a:solidFill>
                      <a:srgbClr val="212B21"/>
                    </a:solidFill>
                  </a:tcPr>
                </a:tc>
                <a:tc>
                  <a:txBody>
                    <a:bodyPr/>
                    <a:lstStyle/>
                    <a:p>
                      <a:r>
                        <a:rPr sz="2400" b="1">
                          <a:solidFill>
                            <a:srgbClr val="FFFFFF"/>
                          </a:solidFill>
                          <a:latin typeface="Open Sauce"/>
                          <a:ea typeface="Open Sauce"/>
                          <a:cs typeface="Open Sauce"/>
                        </a:rPr>
                        <a:t>Backend responsibility</a:t>
                      </a:r>
                    </a:p>
                  </a:txBody>
                  <a:tcPr marL="91440" marR="91440" marT="45720" marB="45720">
                    <a:solidFill>
                      <a:srgbClr val="212B21"/>
                    </a:solidFill>
                  </a:tcPr>
                </a:tc>
              </a:tr>
              <a:tr h="944563">
                <a:tc>
                  <a:txBody>
                    <a:bodyPr/>
                    <a:lstStyle/>
                    <a:p>
                      <a:r>
                        <a:rPr sz="2400" b="0">
                          <a:solidFill>
                            <a:srgbClr val="212B21"/>
                          </a:solidFill>
                          <a:latin typeface="Open Sauce"/>
                          <a:ea typeface="Open Sauce"/>
                          <a:cs typeface="Open Sauce"/>
                        </a:rPr>
                        <a:t>Receive</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Accept an image and confidence threshold</a:t>
                      </a:r>
                    </a:p>
                  </a:txBody>
                  <a:tcPr marL="91440" marR="91440" marT="45720" marB="45720">
                    <a:solidFill>
                      <a:srgbClr val="F1F0E7"/>
                    </a:solidFill>
                  </a:tcPr>
                </a:tc>
              </a:tr>
              <a:tr h="944563">
                <a:tc>
                  <a:txBody>
                    <a:bodyPr/>
                    <a:lstStyle/>
                    <a:p>
                      <a:r>
                        <a:rPr sz="2400" b="0">
                          <a:solidFill>
                            <a:srgbClr val="212B21"/>
                          </a:solidFill>
                          <a:latin typeface="Open Sauce"/>
                          <a:ea typeface="Open Sauce"/>
                          <a:cs typeface="Open Sauce"/>
                        </a:rPr>
                        <a:t>Validate</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Check file type, content and 12 MB limit</a:t>
                      </a:r>
                    </a:p>
                  </a:txBody>
                  <a:tcPr marL="91440" marR="91440" marT="45720" marB="45720">
                    <a:solidFill>
                      <a:srgbClr val="FFFDFA"/>
                    </a:solidFill>
                  </a:tcPr>
                </a:tc>
              </a:tr>
              <a:tr h="944563">
                <a:tc>
                  <a:txBody>
                    <a:bodyPr/>
                    <a:lstStyle/>
                    <a:p>
                      <a:r>
                        <a:rPr sz="2400" b="0">
                          <a:solidFill>
                            <a:srgbClr val="212B21"/>
                          </a:solidFill>
                          <a:latin typeface="Open Sauce"/>
                          <a:ea typeface="Open Sauce"/>
                          <a:cs typeface="Open Sauce"/>
                        </a:rPr>
                        <a:t>Infer</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Run the loaded YOLO26s OpenVINO model</a:t>
                      </a:r>
                    </a:p>
                  </a:txBody>
                  <a:tcPr marL="91440" marR="91440" marT="45720" marB="45720">
                    <a:solidFill>
                      <a:srgbClr val="F1F0E7"/>
                    </a:solidFill>
                  </a:tcPr>
                </a:tc>
              </a:tr>
              <a:tr h="944563">
                <a:tc>
                  <a:txBody>
                    <a:bodyPr/>
                    <a:lstStyle/>
                    <a:p>
                      <a:r>
                        <a:rPr sz="2400" b="0">
                          <a:solidFill>
                            <a:srgbClr val="212B21"/>
                          </a:solidFill>
                          <a:latin typeface="Open Sauce"/>
                          <a:ea typeface="Open Sauce"/>
                          <a:cs typeface="Open Sauce"/>
                        </a:rPr>
                        <a:t>Check digits</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Apply OCR only to speed-limit detections</a:t>
                      </a:r>
                    </a:p>
                  </a:txBody>
                  <a:tcPr marL="91440" marR="91440" marT="45720" marB="45720">
                    <a:solidFill>
                      <a:srgbClr val="FFFDFA"/>
                    </a:solidFill>
                  </a:tcPr>
                </a:tc>
              </a:tr>
              <a:tr h="944563">
                <a:tc>
                  <a:txBody>
                    <a:bodyPr/>
                    <a:lstStyle/>
                    <a:p>
                      <a:r>
                        <a:rPr sz="2400" b="0">
                          <a:solidFill>
                            <a:srgbClr val="212B21"/>
                          </a:solidFill>
                          <a:latin typeface="Open Sauce"/>
                          <a:ea typeface="Open Sauce"/>
                          <a:cs typeface="Open Sauce"/>
                        </a:rPr>
                        <a:t>Respond</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Return class, confidence, box and processing time</a:t>
                      </a:r>
                    </a:p>
                  </a:txBody>
                  <a:tcPr marL="91440" marR="91440" marT="45720" marB="45720">
                    <a:solidFill>
                      <a:srgbClr val="F1F0E7"/>
                    </a:solidFill>
                  </a:tcPr>
                </a:tc>
              </a:tr>
            </a:tbl>
          </a:graphicData>
        </a:graphic>
      </p:graphicFrame>
      <p:sp>
        <p:nvSpPr>
          <p:cNvPr id="8" name="s5-text-4">
            <a:extLst xmlns:a="http://schemas.openxmlformats.org/drawingml/2006/main">
              <a:ext uri="{FF2B5EF4-FFF2-40B4-BE49-F238E27FC236}">
                <a16:creationId xmlns:a16="http://schemas.microsoft.com/office/drawing/2014/main" id="{BFA21A6D-E883-4340-B1A8-1E0AEC3E2BD6}"/>
              </a:ext>
            </a:extLst>
          </p:cNvPr>
          <p:cNvSpPr>
            <a:spLocks xmlns:a="http://schemas.openxmlformats.org/drawingml/2006/main" noGrp="1"/>
          </p:cNvSpPr>
          <p:nvPr/>
        </p:nvSpPr>
        <p:spPr>
          <a:xfrm xmlns:a="http://schemas.openxmlformats.org/drawingml/2006/main">
            <a:off x="12668250" y="28575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FastAPI service</a:t>
            </a:r>
          </a:p>
        </p:txBody>
      </p:sp>
      <p:sp>
        <p:nvSpPr>
          <p:cNvPr id="9" name="s5-text-5">
            <a:extLst xmlns:a="http://schemas.openxmlformats.org/drawingml/2006/main">
              <a:ext uri="{FF2B5EF4-FFF2-40B4-BE49-F238E27FC236}">
                <a16:creationId xmlns:a16="http://schemas.microsoft.com/office/drawing/2014/main" id="{FF3E7572-629D-457B-B572-06AC1E68D791}"/>
              </a:ext>
            </a:extLst>
          </p:cNvPr>
          <p:cNvSpPr>
            <a:spLocks xmlns:a="http://schemas.openxmlformats.org/drawingml/2006/main" noGrp="1"/>
          </p:cNvSpPr>
          <p:nvPr/>
        </p:nvSpPr>
        <p:spPr>
          <a:xfrm xmlns:a="http://schemas.openxmlformats.org/drawingml/2006/main">
            <a:off x="12668250" y="3810000"/>
            <a:ext cx="44767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Model loads once at startup.</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A lock serializes detector calls.</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Normal frames are decoded in memory.</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The browser receives structured JSON.</a:t>
            </a:r>
          </a:p>
        </p:txBody>
      </p:sp>
      <p:sp>
        <p:nvSpPr>
          <p:cNvPr id="10" name="s5-text-6">
            <a:extLst xmlns:a="http://schemas.openxmlformats.org/drawingml/2006/main">
              <a:ext uri="{FF2B5EF4-FFF2-40B4-BE49-F238E27FC236}">
                <a16:creationId xmlns:a16="http://schemas.microsoft.com/office/drawing/2014/main" id="{2D981B58-BBEF-4929-9E7A-27B10C5F7E53}"/>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The laptop runs inference. The phone supplies images and presents the response.</a:t>
            </a:r>
          </a:p>
        </p:txBody>
      </p:sp>
      <p:sp>
        <p:nvSpPr>
          <p:cNvPr id="11" name="s5-text-7">
            <a:extLst xmlns:a="http://schemas.openxmlformats.org/drawingml/2006/main">
              <a:ext uri="{FF2B5EF4-FFF2-40B4-BE49-F238E27FC236}">
                <a16:creationId xmlns:a16="http://schemas.microsoft.com/office/drawing/2014/main" id="{2E43DA91-483A-46B2-8D68-9A500EE2B43B}"/>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05</a:t>
            </a:r>
          </a:p>
        </p:txBody>
      </p:sp>
    </p:spTree>
    <p:extLst>
      <p:ext uri="{BB962C8B-B14F-4D97-AF65-F5344CB8AC3E}">
        <p14:creationId xmlns:p14="http://schemas.microsoft.com/office/powerpoint/2010/main" val="360053123"/>
      </p:ext>
    </p:extLst>
  </p:cSld>
</p:sld>
</file>

<file path=ppt/slides/slide6.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c535bc56641e48e8">
              <a:extLst>
                <a:ext uri="{96DAC541-7B7A-43D3-8B79-37D633B846F1}">
                  <asvg:svgBlip xmlns:asvg="http://schemas.microsoft.com/office/drawing/2016/SVG/main" r:embed="Ra0882ec8f3b34e34"/>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3.3 CAMERA CONFIRMATION AND SPEECH</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Tan Hui Min</a:t>
            </a:r>
          </a:p>
        </p:txBody>
      </p:sp>
      <p:sp>
        <p:nvSpPr>
          <p:cNvPr id="7" name="s6-text-4">
            <a:extLst xmlns:a="http://schemas.openxmlformats.org/drawingml/2006/main">
              <a:ext uri="{FF2B5EF4-FFF2-40B4-BE49-F238E27FC236}">
                <a16:creationId xmlns:a16="http://schemas.microsoft.com/office/drawing/2014/main" id="{00ED09B7-6C2C-488B-BF77-51FF07664C92}"/>
              </a:ext>
            </a:extLst>
          </p:cNvPr>
          <p:cNvSpPr>
            <a:spLocks xmlns:a="http://schemas.openxmlformats.org/drawingml/2006/main" noGrp="1"/>
          </p:cNvSpPr>
          <p:nvPr/>
        </p:nvSpPr>
        <p:spPr>
          <a:xfrm xmlns:a="http://schemas.openxmlformats.org/drawingml/2006/main">
            <a:off x="1028700" y="2667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1. Capture the next frame</a:t>
            </a:r>
          </a:p>
        </p:txBody>
      </p:sp>
      <p:sp>
        <p:nvSpPr>
          <p:cNvPr id="8" name="s6-text-5">
            <a:extLst xmlns:a="http://schemas.openxmlformats.org/drawingml/2006/main">
              <a:ext uri="{FF2B5EF4-FFF2-40B4-BE49-F238E27FC236}">
                <a16:creationId xmlns:a16="http://schemas.microsoft.com/office/drawing/2014/main" id="{144E7C83-3F30-48CC-85E0-BD9259B5B53F}"/>
              </a:ext>
            </a:extLst>
          </p:cNvPr>
          <p:cNvSpPr>
            <a:spLocks xmlns:a="http://schemas.openxmlformats.org/drawingml/2006/main" noGrp="1"/>
          </p:cNvSpPr>
          <p:nvPr/>
        </p:nvSpPr>
        <p:spPr>
          <a:xfrm xmlns:a="http://schemas.openxmlformats.org/drawingml/2006/main">
            <a:off x="1028700" y="3352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Camera requests do not overlap. The browser waits for a response before sending another frame.</a:t>
            </a:r>
          </a:p>
        </p:txBody>
      </p:sp>
      <p:sp>
        <p:nvSpPr>
          <p:cNvPr id="9" name="s6-text-6">
            <a:extLst xmlns:a="http://schemas.openxmlformats.org/drawingml/2006/main">
              <a:ext uri="{FF2B5EF4-FFF2-40B4-BE49-F238E27FC236}">
                <a16:creationId xmlns:a16="http://schemas.microsoft.com/office/drawing/2014/main" id="{ADEBBC46-D88C-469D-98B0-1341A9830BAC}"/>
              </a:ext>
            </a:extLst>
          </p:cNvPr>
          <p:cNvSpPr>
            <a:spLocks xmlns:a="http://schemas.openxmlformats.org/drawingml/2006/main" noGrp="1"/>
          </p:cNvSpPr>
          <p:nvPr/>
        </p:nvSpPr>
        <p:spPr>
          <a:xfrm xmlns:a="http://schemas.openxmlformats.org/drawingml/2006/main">
            <a:off x="9715500" y="2667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2. Match the sign over time</a:t>
            </a:r>
          </a:p>
        </p:txBody>
      </p:sp>
      <p:sp>
        <p:nvSpPr>
          <p:cNvPr id="10" name="s6-text-7">
            <a:extLst xmlns:a="http://schemas.openxmlformats.org/drawingml/2006/main">
              <a:ext uri="{FF2B5EF4-FFF2-40B4-BE49-F238E27FC236}">
                <a16:creationId xmlns:a16="http://schemas.microsoft.com/office/drawing/2014/main" id="{8F539349-A7F2-4D4D-BC8C-F9540C42998B}"/>
              </a:ext>
            </a:extLst>
          </p:cNvPr>
          <p:cNvSpPr>
            <a:spLocks xmlns:a="http://schemas.openxmlformats.org/drawingml/2006/main" noGrp="1"/>
          </p:cNvSpPr>
          <p:nvPr/>
        </p:nvSpPr>
        <p:spPr>
          <a:xfrm xmlns:a="http://schemas.openxmlformats.org/drawingml/2006/main">
            <a:off x="9715500" y="3352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A strong detection needs 2 matches. Other accepted signs need 3 matching detections.</a:t>
            </a:r>
          </a:p>
        </p:txBody>
      </p:sp>
      <p:sp>
        <p:nvSpPr>
          <p:cNvPr id="11" name="s6-text-8">
            <a:extLst xmlns:a="http://schemas.openxmlformats.org/drawingml/2006/main">
              <a:ext uri="{FF2B5EF4-FFF2-40B4-BE49-F238E27FC236}">
                <a16:creationId xmlns:a16="http://schemas.microsoft.com/office/drawing/2014/main" id="{75E77CC3-6D53-4451-B5B4-6205F04311B5}"/>
              </a:ext>
            </a:extLst>
          </p:cNvPr>
          <p:cNvSpPr>
            <a:spLocks xmlns:a="http://schemas.openxmlformats.org/drawingml/2006/main" noGrp="1"/>
          </p:cNvSpPr>
          <p:nvPr/>
        </p:nvSpPr>
        <p:spPr>
          <a:xfrm xmlns:a="http://schemas.openxmlformats.org/drawingml/2006/main">
            <a:off x="1028700" y="566737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3. Confirm and announce</a:t>
            </a:r>
          </a:p>
        </p:txBody>
      </p:sp>
      <p:sp>
        <p:nvSpPr>
          <p:cNvPr id="12" name="s6-text-9">
            <a:extLst xmlns:a="http://schemas.openxmlformats.org/drawingml/2006/main">
              <a:ext uri="{FF2B5EF4-FFF2-40B4-BE49-F238E27FC236}">
                <a16:creationId xmlns:a16="http://schemas.microsoft.com/office/drawing/2014/main" id="{F39A34A4-C19C-446D-BB5D-DC51A7955524}"/>
              </a:ext>
            </a:extLst>
          </p:cNvPr>
          <p:cNvSpPr>
            <a:spLocks xmlns:a="http://schemas.openxmlformats.org/drawingml/2006/main" noGrp="1"/>
          </p:cNvSpPr>
          <p:nvPr/>
        </p:nvSpPr>
        <p:spPr>
          <a:xfrm xmlns:a="http://schemas.openxmlformats.org/drawingml/2006/main">
            <a:off x="1028700" y="635317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Newly confirmed sign classes enter one speech message, including multiple classes in the frame.</a:t>
            </a:r>
          </a:p>
        </p:txBody>
      </p:sp>
      <p:sp>
        <p:nvSpPr>
          <p:cNvPr id="13" name="s6-text-10">
            <a:extLst xmlns:a="http://schemas.openxmlformats.org/drawingml/2006/main">
              <a:ext uri="{FF2B5EF4-FFF2-40B4-BE49-F238E27FC236}">
                <a16:creationId xmlns:a16="http://schemas.microsoft.com/office/drawing/2014/main" id="{4D85BAD8-CABC-4397-87E1-08CB4A546004}"/>
              </a:ext>
            </a:extLst>
          </p:cNvPr>
          <p:cNvSpPr>
            <a:spLocks xmlns:a="http://schemas.openxmlformats.org/drawingml/2006/main" noGrp="1"/>
          </p:cNvSpPr>
          <p:nvPr/>
        </p:nvSpPr>
        <p:spPr>
          <a:xfrm xmlns:a="http://schemas.openxmlformats.org/drawingml/2006/main">
            <a:off x="9715500" y="566737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4. Control repetition</a:t>
            </a:r>
          </a:p>
        </p:txBody>
      </p:sp>
      <p:sp>
        <p:nvSpPr>
          <p:cNvPr id="14" name="s6-text-11">
            <a:extLst xmlns:a="http://schemas.openxmlformats.org/drawingml/2006/main">
              <a:ext uri="{FF2B5EF4-FFF2-40B4-BE49-F238E27FC236}">
                <a16:creationId xmlns:a16="http://schemas.microsoft.com/office/drawing/2014/main" id="{E18E179E-8EA8-4844-B577-7E22F42231A9}"/>
              </a:ext>
            </a:extLst>
          </p:cNvPr>
          <p:cNvSpPr>
            <a:spLocks xmlns:a="http://schemas.openxmlformats.org/drawingml/2006/main" noGrp="1"/>
          </p:cNvSpPr>
          <p:nvPr/>
        </p:nvSpPr>
        <p:spPr>
          <a:xfrm xmlns:a="http://schemas.openxmlformats.org/drawingml/2006/main">
            <a:off x="9715500" y="635317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A 5-second class cooldown limits repeat announcements. Upload speech starts when the user taps replay.</a:t>
            </a:r>
          </a:p>
        </p:txBody>
      </p:sp>
      <p:sp>
        <p:nvSpPr>
          <p:cNvPr id="15" name="s6-text-12">
            <a:extLst xmlns:a="http://schemas.openxmlformats.org/drawingml/2006/main">
              <a:ext uri="{FF2B5EF4-FFF2-40B4-BE49-F238E27FC236}">
                <a16:creationId xmlns:a16="http://schemas.microsoft.com/office/drawing/2014/main" id="{1F9F81C6-A212-43FA-88FE-671A8B8AB54A}"/>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These rules filter unstable messages; they do not guarantee that a class is correct.</a:t>
            </a:r>
          </a:p>
        </p:txBody>
      </p:sp>
      <p:sp>
        <p:nvSpPr>
          <p:cNvPr id="16" name="s6-text-13">
            <a:extLst xmlns:a="http://schemas.openxmlformats.org/drawingml/2006/main">
              <a:ext uri="{FF2B5EF4-FFF2-40B4-BE49-F238E27FC236}">
                <a16:creationId xmlns:a16="http://schemas.microsoft.com/office/drawing/2014/main" id="{EC8583ED-C634-46A2-9A31-16E2BF2244FC}"/>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06</a:t>
            </a:r>
          </a:p>
        </p:txBody>
      </p:sp>
    </p:spTree>
    <p:extLst>
      <p:ext uri="{BB962C8B-B14F-4D97-AF65-F5344CB8AC3E}">
        <p14:creationId xmlns:p14="http://schemas.microsoft.com/office/powerpoint/2010/main" val="789486581"/>
      </p:ext>
    </p:extLst>
  </p:cSld>
</p:sld>
</file>

<file path=ppt/slides/slide7.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7ee62e4ee66b4c91">
              <a:extLst>
                <a:ext uri="{96DAC541-7B7A-43D3-8B79-37D633B846F1}">
                  <asvg:svgBlip xmlns:asvg="http://schemas.microsoft.com/office/drawing/2016/SVG/main" r:embed="R671649aa1eff4af0"/>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3.4 SYSTEM ARCHITECTURE</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c8f894e80a4e68"/>
          <a:stretch xmlns:a="http://schemas.openxmlformats.org/drawingml/2006/main"/>
        </p:blipFill>
        <p:spPr>
          <a:xfrm xmlns:a="http://schemas.openxmlformats.org/drawingml/2006/main">
            <a:off x="1809750" y="2381250"/>
            <a:ext cx="10287000" cy="6858000"/>
          </a:xfrm>
          <a:prstGeom xmlns:a="http://schemas.openxmlformats.org/drawingml/2006/main" prst="rect">
            <a:avLst/>
          </a:prstGeom>
        </p:spPr>
      </p:pic>
      <p:sp>
        <p:nvSpPr>
          <p:cNvPr id="8" name="s7-text-4">
            <a:extLst xmlns:a="http://schemas.openxmlformats.org/drawingml/2006/main">
              <a:ext uri="{FF2B5EF4-FFF2-40B4-BE49-F238E27FC236}">
                <a16:creationId xmlns:a16="http://schemas.microsoft.com/office/drawing/2014/main" id="{2FC0EE9D-5803-4645-810C-A69DC77DD359}"/>
              </a:ext>
            </a:extLst>
          </p:cNvPr>
          <p:cNvSpPr>
            <a:spLocks xmlns:a="http://schemas.openxmlformats.org/drawingml/2006/main" noGrp="1"/>
          </p:cNvSpPr>
          <p:nvPr/>
        </p:nvSpPr>
        <p:spPr>
          <a:xfrm xmlns:a="http://schemas.openxmlformats.org/drawingml/2006/main">
            <a:off x="13525500" y="285750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F5A000"/>
                </a:solidFill>
                <a:latin typeface="Open Sauce Medium"/>
                <a:ea typeface="Open Sauce Medium"/>
                <a:cs typeface="Open Sauce Medium"/>
              </a:defRPr>
            </a:pPr>
            <a:r>
              <a:rPr sz="2925" b="1">
                <a:solidFill>
                  <a:srgbClr val="F5A000"/>
                </a:solidFill>
                <a:latin typeface="Open Sauce Medium"/>
                <a:ea typeface="Open Sauce Medium"/>
                <a:cs typeface="Open Sauce Medium"/>
              </a:rPr>
              <a:t>Deployment used for the demo</a:t>
            </a:r>
          </a:p>
        </p:txBody>
      </p:sp>
      <p:sp>
        <p:nvSpPr>
          <p:cNvPr id="9" name="s7-text-5">
            <a:extLst xmlns:a="http://schemas.openxmlformats.org/drawingml/2006/main">
              <a:ext uri="{FF2B5EF4-FFF2-40B4-BE49-F238E27FC236}">
                <a16:creationId xmlns:a16="http://schemas.microsoft.com/office/drawing/2014/main" id="{73282796-F32E-4354-BB79-08ED1F3F584B}"/>
              </a:ext>
            </a:extLst>
          </p:cNvPr>
          <p:cNvSpPr>
            <a:spLocks xmlns:a="http://schemas.openxmlformats.org/drawingml/2006/main" noGrp="1"/>
          </p:cNvSpPr>
          <p:nvPr/>
        </p:nvSpPr>
        <p:spPr>
          <a:xfrm xmlns:a="http://schemas.openxmlformats.org/drawingml/2006/main">
            <a:off x="13525500" y="4191000"/>
            <a:ext cx="371475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Phone browser</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HTTPS tunnel</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Laptop server</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YOLO26s + OCR</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Results back to browser</a:t>
            </a:r>
          </a:p>
        </p:txBody>
      </p:sp>
      <p:sp>
        <p:nvSpPr>
          <p:cNvPr id="10" name="s7-text-6">
            <a:extLst xmlns:a="http://schemas.openxmlformats.org/drawingml/2006/main">
              <a:ext uri="{FF2B5EF4-FFF2-40B4-BE49-F238E27FC236}">
                <a16:creationId xmlns:a16="http://schemas.microsoft.com/office/drawing/2014/main" id="{16373F92-B004-4F8A-923A-BD88C143BA10}"/>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OCR is optional per detection. The laptop and tunnel must remain running.</a:t>
            </a:r>
          </a:p>
        </p:txBody>
      </p:sp>
      <p:sp>
        <p:nvSpPr>
          <p:cNvPr id="11" name="s7-text-7">
            <a:extLst xmlns:a="http://schemas.openxmlformats.org/drawingml/2006/main">
              <a:ext uri="{FF2B5EF4-FFF2-40B4-BE49-F238E27FC236}">
                <a16:creationId xmlns:a16="http://schemas.microsoft.com/office/drawing/2014/main" id="{50F9E005-4FE1-45B0-A767-7F2F110C3BA9}"/>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07</a:t>
            </a:r>
          </a:p>
        </p:txBody>
      </p:sp>
    </p:spTree>
    <p:extLst>
      <p:ext uri="{BB962C8B-B14F-4D97-AF65-F5344CB8AC3E}">
        <p14:creationId xmlns:p14="http://schemas.microsoft.com/office/powerpoint/2010/main" val="765979183"/>
      </p:ext>
    </p:extLst>
  </p:cSld>
</p:sld>
</file>

<file path=ppt/slides/slide8.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3f8500b12b3841d9">
              <a:extLst>
                <a:ext uri="{96DAC541-7B7A-43D3-8B79-37D633B846F1}">
                  <asvg:svgBlip xmlns:asvg="http://schemas.microsoft.com/office/drawing/2016/SVG/main" r:embed="R98af2557cae9402e"/>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3.5 DEEP LEARNING WORKFLOW</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04ee373cf8f4909"/>
          <a:stretch xmlns:a="http://schemas.openxmlformats.org/drawingml/2006/main"/>
        </p:blipFill>
        <p:spPr>
          <a:xfrm xmlns:a="http://schemas.openxmlformats.org/drawingml/2006/main">
            <a:off x="1762125" y="2476500"/>
            <a:ext cx="10287000" cy="6858000"/>
          </a:xfrm>
          <a:prstGeom xmlns:a="http://schemas.openxmlformats.org/drawingml/2006/main" prst="rect">
            <a:avLst/>
          </a:prstGeom>
        </p:spPr>
      </p:pic>
      <p:sp>
        <p:nvSpPr>
          <p:cNvPr id="8" name="s8-text-4">
            <a:extLst xmlns:a="http://schemas.openxmlformats.org/drawingml/2006/main">
              <a:ext uri="{FF2B5EF4-FFF2-40B4-BE49-F238E27FC236}">
                <a16:creationId xmlns:a16="http://schemas.microsoft.com/office/drawing/2014/main" id="{1FE3EB88-2776-41A0-BA41-7675D0DCF0BC}"/>
              </a:ext>
            </a:extLst>
          </p:cNvPr>
          <p:cNvSpPr>
            <a:spLocks xmlns:a="http://schemas.openxmlformats.org/drawingml/2006/main" noGrp="1"/>
          </p:cNvSpPr>
          <p:nvPr/>
        </p:nvSpPr>
        <p:spPr>
          <a:xfrm xmlns:a="http://schemas.openxmlformats.org/drawingml/2006/main">
            <a:off x="13239750" y="285750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F5A000"/>
                </a:solidFill>
                <a:latin typeface="Open Sauce Medium"/>
                <a:ea typeface="Open Sauce Medium"/>
                <a:cs typeface="Open Sauce Medium"/>
              </a:defRPr>
            </a:pPr>
            <a:r>
              <a:rPr sz="3000" b="1">
                <a:solidFill>
                  <a:srgbClr val="F5A000"/>
                </a:solidFill>
                <a:latin typeface="Open Sauce Medium"/>
                <a:ea typeface="Open Sauce Medium"/>
                <a:cs typeface="Open Sauce Medium"/>
              </a:rPr>
              <a:t>What the model learns</a:t>
            </a:r>
          </a:p>
        </p:txBody>
      </p:sp>
      <p:sp>
        <p:nvSpPr>
          <p:cNvPr id="9" name="s8-text-5">
            <a:extLst xmlns:a="http://schemas.openxmlformats.org/drawingml/2006/main">
              <a:ext uri="{FF2B5EF4-FFF2-40B4-BE49-F238E27FC236}">
                <a16:creationId xmlns:a16="http://schemas.microsoft.com/office/drawing/2014/main" id="{EDAD9BE2-4C03-4A98-96E4-8FA640810A2D}"/>
              </a:ext>
            </a:extLst>
          </p:cNvPr>
          <p:cNvSpPr>
            <a:spLocks xmlns:a="http://schemas.openxmlformats.org/drawingml/2006/main" noGrp="1"/>
          </p:cNvSpPr>
          <p:nvPr/>
        </p:nvSpPr>
        <p:spPr>
          <a:xfrm xmlns:a="http://schemas.openxmlformats.org/drawingml/2006/main">
            <a:off x="13239750" y="4143375"/>
            <a:ext cx="4000500" cy="476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Image features</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Sign location</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Sign class</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Training updates weights. Validation selects a checkpoint. The test set measures the selected model.</a:t>
            </a:r>
          </a:p>
        </p:txBody>
      </p:sp>
      <p:sp>
        <p:nvSpPr>
          <p:cNvPr id="10" name="s8-text-6">
            <a:extLst xmlns:a="http://schemas.openxmlformats.org/drawingml/2006/main">
              <a:ext uri="{FF2B5EF4-FFF2-40B4-BE49-F238E27FC236}">
                <a16:creationId xmlns:a16="http://schemas.microsoft.com/office/drawing/2014/main" id="{EF2EE7B4-1D6A-4BC5-AC3C-BE5C89C3707A}"/>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YOLO26s is the detector. OpenVINO is the exported runtime used on the CPU.</a:t>
            </a:r>
          </a:p>
        </p:txBody>
      </p:sp>
      <p:sp>
        <p:nvSpPr>
          <p:cNvPr id="11" name="s8-text-7">
            <a:extLst xmlns:a="http://schemas.openxmlformats.org/drawingml/2006/main">
              <a:ext uri="{FF2B5EF4-FFF2-40B4-BE49-F238E27FC236}">
                <a16:creationId xmlns:a16="http://schemas.microsoft.com/office/drawing/2014/main" id="{89A0B5A2-1D5B-4710-8EE9-124F5828344A}"/>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08</a:t>
            </a:r>
          </a:p>
        </p:txBody>
      </p:sp>
    </p:spTree>
    <p:extLst>
      <p:ext uri="{BB962C8B-B14F-4D97-AF65-F5344CB8AC3E}">
        <p14:creationId xmlns:p14="http://schemas.microsoft.com/office/powerpoint/2010/main" val="1419351211"/>
      </p:ext>
    </p:extLst>
  </p:cSld>
</p:sld>
</file>

<file path=ppt/slides/slide9.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fb34af523bc54156">
              <a:extLst>
                <a:ext uri="{96DAC541-7B7A-43D3-8B79-37D633B846F1}">
                  <asvg:svgBlip xmlns:asvg="http://schemas.microsoft.com/office/drawing/2016/SVG/main" r:embed="R0d4afed51dc047a5"/>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3.6 DATASET AND EVALUATION DESIGN</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graphicFrame>
        <p:nvGraphicFramePr>
          <p:cNvPr id="17" name="Chart"/>
          <p:cNvGraphicFramePr/>
          <p:nvPr/>
        </p:nvGraphicFramePr>
        <p:xfrm>
          <a:off xmlns:a="http://schemas.openxmlformats.org/drawingml/2006/main" x="952500" y="3048000"/>
          <a:ext xmlns:a="http://schemas.openxmlformats.org/drawingml/2006/main" cx="9810750" cy="5429250"/>
        </p:xfrm>
        <a:graphic xmlns:a="http://schemas.openxmlformats.org/drawingml/2006/main">
          <a:graphicData uri="http://schemas.openxmlformats.org/drawingml/2006/chart">
            <c:chart xmlns:r="http://schemas.openxmlformats.org/officeDocument/2006/relationships" xmlns:c="http://schemas.openxmlformats.org/drawingml/2006/chart" r:id="Rc7fba198e04441de"/>
          </a:graphicData>
        </a:graphic>
      </p:graphicFrame>
      <p:sp>
        <p:nvSpPr>
          <p:cNvPr id="8" name="s9-text-4">
            <a:extLst xmlns:a="http://schemas.openxmlformats.org/drawingml/2006/main">
              <a:ext uri="{FF2B5EF4-FFF2-40B4-BE49-F238E27FC236}">
                <a16:creationId xmlns:a16="http://schemas.microsoft.com/office/drawing/2014/main" id="{EFAB53AA-3DDF-4983-8567-76FF1172EA86}"/>
              </a:ext>
            </a:extLst>
          </p:cNvPr>
          <p:cNvSpPr>
            <a:spLocks xmlns:a="http://schemas.openxmlformats.org/drawingml/2006/main" noGrp="1"/>
          </p:cNvSpPr>
          <p:nvPr/>
        </p:nvSpPr>
        <p:spPr>
          <a:xfrm xmlns:a="http://schemas.openxmlformats.org/drawingml/2006/main">
            <a:off x="11620500" y="2857500"/>
            <a:ext cx="5429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212B21"/>
                </a:solidFill>
                <a:latin typeface="Open Sauce Medium"/>
                <a:ea typeface="Open Sauce Medium"/>
                <a:cs typeface="Open Sauce Medium"/>
              </a:defRPr>
            </a:pPr>
            <a:r>
              <a:rPr sz="4950" b="1">
                <a:solidFill>
                  <a:srgbClr val="212B21"/>
                </a:solidFill>
                <a:latin typeface="Open Sauce Medium"/>
                <a:ea typeface="Open Sauce Medium"/>
                <a:cs typeface="Open Sauce Medium"/>
              </a:rPr>
              <a:t>8,731 images</a:t>
            </a:r>
          </a:p>
        </p:txBody>
      </p:sp>
      <p:sp>
        <p:nvSpPr>
          <p:cNvPr id="9" name="s9-text-5">
            <a:extLst xmlns:a="http://schemas.openxmlformats.org/drawingml/2006/main">
              <a:ext uri="{FF2B5EF4-FFF2-40B4-BE49-F238E27FC236}">
                <a16:creationId xmlns:a16="http://schemas.microsoft.com/office/drawing/2014/main" id="{7032D04B-5CBE-4387-A439-4EA96E3A2A70}"/>
              </a:ext>
            </a:extLst>
          </p:cNvPr>
          <p:cNvSpPr>
            <a:spLocks xmlns:a="http://schemas.openxmlformats.org/drawingml/2006/main" noGrp="1"/>
          </p:cNvSpPr>
          <p:nvPr/>
        </p:nvSpPr>
        <p:spPr>
          <a:xfrm xmlns:a="http://schemas.openxmlformats.org/drawingml/2006/main">
            <a:off x="11620500" y="3905250"/>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F5A000"/>
                </a:solidFill>
                <a:latin typeface="Open Sauce Medium"/>
                <a:ea typeface="Open Sauce Medium"/>
                <a:cs typeface="Open Sauce Medium"/>
              </a:defRPr>
            </a:pPr>
            <a:r>
              <a:rPr sz="3375" b="1">
                <a:solidFill>
                  <a:srgbClr val="F5A000"/>
                </a:solidFill>
                <a:latin typeface="Open Sauce Medium"/>
                <a:ea typeface="Open Sauce Medium"/>
                <a:cs typeface="Open Sauce Medium"/>
              </a:rPr>
              <a:t>63 classes</a:t>
            </a:r>
          </a:p>
        </p:txBody>
      </p:sp>
      <p:sp>
        <p:nvSpPr>
          <p:cNvPr id="10" name="s9-text-6">
            <a:extLst xmlns:a="http://schemas.openxmlformats.org/drawingml/2006/main">
              <a:ext uri="{FF2B5EF4-FFF2-40B4-BE49-F238E27FC236}">
                <a16:creationId xmlns:a16="http://schemas.microsoft.com/office/drawing/2014/main" id="{5D9909BA-7DA1-45B6-8B99-E946C717B9ED}"/>
              </a:ext>
            </a:extLst>
          </p:cNvPr>
          <p:cNvSpPr>
            <a:spLocks xmlns:a="http://schemas.openxmlformats.org/drawingml/2006/main" noGrp="1"/>
          </p:cNvSpPr>
          <p:nvPr/>
        </p:nvSpPr>
        <p:spPr>
          <a:xfrm xmlns:a="http://schemas.openxmlformats.org/drawingml/2006/main">
            <a:off x="11620500" y="5048250"/>
            <a:ext cx="5429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Related camera images stay in the same split.</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Augmentation applies to training.</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The final test has 838 images and 867 labelled signs.</a:t>
            </a:r>
          </a:p>
        </p:txBody>
      </p:sp>
      <p:sp>
        <p:nvSpPr>
          <p:cNvPr id="11" name="s9-text-7">
            <a:extLst xmlns:a="http://schemas.openxmlformats.org/drawingml/2006/main">
              <a:ext uri="{FF2B5EF4-FFF2-40B4-BE49-F238E27FC236}">
                <a16:creationId xmlns:a16="http://schemas.microsoft.com/office/drawing/2014/main" id="{ADE40CB0-2F32-40BE-AF01-A3C8F22F7F8C}"/>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3 dataset. Class support is uneven, so aggregate scores do not describe every class.</a:t>
            </a:r>
          </a:p>
        </p:txBody>
      </p:sp>
      <p:sp>
        <p:nvSpPr>
          <p:cNvPr id="12" name="s9-text-8">
            <a:extLst xmlns:a="http://schemas.openxmlformats.org/drawingml/2006/main">
              <a:ext uri="{FF2B5EF4-FFF2-40B4-BE49-F238E27FC236}">
                <a16:creationId xmlns:a16="http://schemas.microsoft.com/office/drawing/2014/main" id="{105F46BB-F3AA-4CA9-B2E1-B04A20E57EA1}"/>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09</a:t>
            </a:r>
          </a:p>
        </p:txBody>
      </p:sp>
    </p:spTree>
    <p:extLst>
      <p:ext uri="{BB962C8B-B14F-4D97-AF65-F5344CB8AC3E}">
        <p14:creationId xmlns:p14="http://schemas.microsoft.com/office/powerpoint/2010/main" val="803816365"/>
      </p:ext>
    </p:extLst>
  </p:cSld>
</p:sld>
</file>

<file path=ppt/slides/slide10.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edd58abe5a5c4b42">
              <a:extLst>
                <a:ext uri="{96DAC541-7B7A-43D3-8B79-37D633B846F1}">
                  <asvg:svgBlip xmlns:asvg="http://schemas.microsoft.com/office/drawing/2016/SVG/main" r:embed="R8a4924abbf7243e8"/>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4.1 TRAINING AND VALIDATION CURVES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sp>
        <p:nvSpPr>
          <p:cNvPr id="7" name="s10-text-4">
            <a:extLst xmlns:a="http://schemas.openxmlformats.org/drawingml/2006/main">
              <a:ext uri="{FF2B5EF4-FFF2-40B4-BE49-F238E27FC236}">
                <a16:creationId xmlns:a16="http://schemas.microsoft.com/office/drawing/2014/main" id="{4C0D53C0-D1B8-45D0-82A7-0EA104C6E9F0}"/>
              </a:ext>
            </a:extLst>
          </p:cNvPr>
          <p:cNvSpPr>
            <a:spLocks xmlns:a="http://schemas.openxmlformats.org/drawingml/2006/main" noGrp="1"/>
          </p:cNvSpPr>
          <p:nvPr/>
        </p:nvSpPr>
        <p:spPr>
          <a:xfrm xmlns:a="http://schemas.openxmlformats.org/drawingml/2006/main">
            <a:off x="1028700" y="2524125"/>
            <a:ext cx="1600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5A000"/>
                </a:solidFill>
                <a:latin typeface="Open Sauce Medium"/>
                <a:ea typeface="Open Sauce Medium"/>
                <a:cs typeface="Open Sauce Medium"/>
              </a:defRPr>
            </a:pPr>
            <a:r>
              <a:rPr sz="2550" b="1">
                <a:solidFill>
                  <a:srgbClr val="F5A000"/>
                </a:solidFill>
                <a:latin typeface="Open Sauce Medium"/>
                <a:ea typeface="Open Sauce Medium"/>
                <a:cs typeface="Open Sauce Medium"/>
              </a:rPr>
              <a:t>VERSION 1 TRAINING RECORD</a:t>
            </a:r>
          </a:p>
        </p:txBody>
      </p:sp>
      <p:sp>
        <p:nvSpPr>
          <p:cNvPr id="8" name="s10-text-5">
            <a:extLst xmlns:a="http://schemas.openxmlformats.org/drawingml/2006/main">
              <a:ext uri="{FF2B5EF4-FFF2-40B4-BE49-F238E27FC236}">
                <a16:creationId xmlns:a16="http://schemas.microsoft.com/office/drawing/2014/main" id="{2DC634F6-F242-449B-8425-B2538AD1FA79}"/>
              </a:ext>
            </a:extLst>
          </p:cNvPr>
          <p:cNvSpPr>
            <a:spLocks xmlns:a="http://schemas.openxmlformats.org/drawingml/2006/main" noGrp="1"/>
          </p:cNvSpPr>
          <p:nvPr/>
        </p:nvSpPr>
        <p:spPr>
          <a:xfrm xmlns:a="http://schemas.openxmlformats.org/drawingml/2006/main">
            <a:off x="1028700" y="333375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212B21"/>
                </a:solidFill>
                <a:latin typeface="Open Sauce Medium"/>
                <a:ea typeface="Open Sauce Medium"/>
                <a:cs typeface="Open Sauce Medium"/>
              </a:defRPr>
            </a:pPr>
            <a:r>
              <a:rPr sz="2850" b="1">
                <a:solidFill>
                  <a:srgbClr val="212B21"/>
                </a:solidFill>
                <a:latin typeface="Open Sauce Medium"/>
                <a:ea typeface="Open Sauce Medium"/>
                <a:cs typeface="Open Sauce Medium"/>
              </a:rPr>
              <a:t>Box loss</a:t>
            </a:r>
          </a:p>
        </p:txBody>
      </p:sp>
      <p:graphicFrame>
        <p:nvGraphicFramePr>
          <p:cNvPr id="20" name="Chart"/>
          <p:cNvGraphicFramePr/>
          <p:nvPr/>
        </p:nvGraphicFramePr>
        <p:xfrm>
          <a:off xmlns:a="http://schemas.openxmlformats.org/drawingml/2006/main" x="857250" y="4048125"/>
          <a:ext xmlns:a="http://schemas.openxmlformats.org/drawingml/2006/main" cx="7620000" cy="4476750"/>
        </p:xfrm>
        <a:graphic xmlns:a="http://schemas.openxmlformats.org/drawingml/2006/main">
          <a:graphicData uri="http://schemas.openxmlformats.org/drawingml/2006/chart">
            <c:chart xmlns:r="http://schemas.openxmlformats.org/officeDocument/2006/relationships" xmlns:c="http://schemas.openxmlformats.org/drawingml/2006/chart" r:id="R46bcdfcced114ec7"/>
          </a:graphicData>
        </a:graphic>
      </p:graphicFrame>
      <p:sp>
        <p:nvSpPr>
          <p:cNvPr id="10" name="s10-text-6">
            <a:extLst xmlns:a="http://schemas.openxmlformats.org/drawingml/2006/main">
              <a:ext uri="{FF2B5EF4-FFF2-40B4-BE49-F238E27FC236}">
                <a16:creationId xmlns:a16="http://schemas.microsoft.com/office/drawing/2014/main" id="{0025CF06-CBA8-442D-9DA7-6D6A30D184B3}"/>
              </a:ext>
            </a:extLst>
          </p:cNvPr>
          <p:cNvSpPr>
            <a:spLocks xmlns:a="http://schemas.openxmlformats.org/drawingml/2006/main" noGrp="1"/>
          </p:cNvSpPr>
          <p:nvPr/>
        </p:nvSpPr>
        <p:spPr>
          <a:xfrm xmlns:a="http://schemas.openxmlformats.org/drawingml/2006/main">
            <a:off x="9525000" y="333375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212B21"/>
                </a:solidFill>
                <a:latin typeface="Open Sauce Medium"/>
                <a:ea typeface="Open Sauce Medium"/>
                <a:cs typeface="Open Sauce Medium"/>
              </a:defRPr>
            </a:pPr>
            <a:r>
              <a:rPr sz="2850" b="1">
                <a:solidFill>
                  <a:srgbClr val="212B21"/>
                </a:solidFill>
                <a:latin typeface="Open Sauce Medium"/>
                <a:ea typeface="Open Sauce Medium"/>
                <a:cs typeface="Open Sauce Medium"/>
              </a:rPr>
              <a:t>Validation mAP</a:t>
            </a:r>
          </a:p>
        </p:txBody>
      </p:sp>
      <p:graphicFrame>
        <p:nvGraphicFramePr>
          <p:cNvPr id="22" name="Chart"/>
          <p:cNvGraphicFramePr/>
          <p:nvPr/>
        </p:nvGraphicFramePr>
        <p:xfrm>
          <a:off xmlns:a="http://schemas.openxmlformats.org/drawingml/2006/main" x="9382125" y="4048125"/>
          <a:ext xmlns:a="http://schemas.openxmlformats.org/drawingml/2006/main" cx="7715250" cy="4476750"/>
        </p:xfrm>
        <a:graphic xmlns:a="http://schemas.openxmlformats.org/drawingml/2006/main">
          <a:graphicData uri="http://schemas.openxmlformats.org/drawingml/2006/chart">
            <c:chart xmlns:r="http://schemas.openxmlformats.org/officeDocument/2006/relationships" xmlns:c="http://schemas.openxmlformats.org/drawingml/2006/chart" r:id="Ra05eab76bfa14c1c"/>
          </a:graphicData>
        </a:graphic>
      </p:graphicFrame>
      <p:sp>
        <p:nvSpPr>
          <p:cNvPr id="12" name="s10-text-7">
            <a:extLst xmlns:a="http://schemas.openxmlformats.org/drawingml/2006/main">
              <a:ext uri="{FF2B5EF4-FFF2-40B4-BE49-F238E27FC236}">
                <a16:creationId xmlns:a16="http://schemas.microsoft.com/office/drawing/2014/main" id="{9D34A4E1-1281-41FA-94D3-F2141BF4AAE7}"/>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Earlier Version 1 run: learning progresses and then levels off. Final deployed scores appear on slide 12.</a:t>
            </a:r>
          </a:p>
        </p:txBody>
      </p:sp>
      <p:sp>
        <p:nvSpPr>
          <p:cNvPr id="13" name="s10-text-8">
            <a:extLst xmlns:a="http://schemas.openxmlformats.org/drawingml/2006/main">
              <a:ext uri="{FF2B5EF4-FFF2-40B4-BE49-F238E27FC236}">
                <a16:creationId xmlns:a16="http://schemas.microsoft.com/office/drawing/2014/main" id="{142BCF56-055B-4DCF-A16F-34331489FE89}"/>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10</a:t>
            </a:r>
          </a:p>
        </p:txBody>
      </p:sp>
    </p:spTree>
    <p:extLst>
      <p:ext uri="{BB962C8B-B14F-4D97-AF65-F5344CB8AC3E}">
        <p14:creationId xmlns:p14="http://schemas.microsoft.com/office/powerpoint/2010/main" val="397454297"/>
      </p:ext>
    </p:extLst>
  </p:cSld>
</p:sld>
</file>

<file path=ppt/slides/slide11.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4ed1d66f7cd049a4">
              <a:extLst>
                <a:ext uri="{96DAC541-7B7A-43D3-8B79-37D633B846F1}">
                  <asvg:svgBlip xmlns:asvg="http://schemas.microsoft.com/office/drawing/2016/SVG/main" r:embed="Rf2658d900f824753"/>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4.2 PRECISION, RECALL AND CONFIDENCE</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0be08fb670f4a31"/>
          <a:stretch xmlns:a="http://schemas.openxmlformats.org/drawingml/2006/main"/>
        </p:blipFill>
        <p:spPr>
          <a:xfrm xmlns:a="http://schemas.openxmlformats.org/drawingml/2006/main">
            <a:off x="976313" y="2952750"/>
            <a:ext cx="8143875" cy="54292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e9847a484324074"/>
          <a:stretch xmlns:a="http://schemas.openxmlformats.org/drawingml/2006/main"/>
        </p:blipFill>
        <p:spPr>
          <a:xfrm xmlns:a="http://schemas.openxmlformats.org/drawingml/2006/main">
            <a:off x="9286875" y="2952750"/>
            <a:ext cx="8143875" cy="5429250"/>
          </a:xfrm>
          <a:prstGeom xmlns:a="http://schemas.openxmlformats.org/drawingml/2006/main" prst="rect">
            <a:avLst/>
          </a:prstGeom>
        </p:spPr>
      </p:pic>
      <p:sp>
        <p:nvSpPr>
          <p:cNvPr id="9" name="s11-text-4">
            <a:extLst xmlns:a="http://schemas.openxmlformats.org/drawingml/2006/main">
              <a:ext uri="{FF2B5EF4-FFF2-40B4-BE49-F238E27FC236}">
                <a16:creationId xmlns:a16="http://schemas.microsoft.com/office/drawing/2014/main" id="{CD1C5B6C-9383-483E-A4D8-E13075268E48}"/>
              </a:ext>
            </a:extLst>
          </p:cNvPr>
          <p:cNvSpPr>
            <a:spLocks xmlns:a="http://schemas.openxmlformats.org/drawingml/2006/main" noGrp="1"/>
          </p:cNvSpPr>
          <p:nvPr/>
        </p:nvSpPr>
        <p:spPr>
          <a:xfrm xmlns:a="http://schemas.openxmlformats.org/drawingml/2006/main">
            <a:off x="1028700" y="2409825"/>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F5A000"/>
                </a:solidFill>
                <a:latin typeface="Open Sauce Medium"/>
                <a:ea typeface="Open Sauce Medium"/>
                <a:cs typeface="Open Sauce Medium"/>
              </a:defRPr>
            </a:pPr>
            <a:r>
              <a:rPr sz="2775" b="1">
                <a:solidFill>
                  <a:srgbClr val="F5A000"/>
                </a:solidFill>
                <a:latin typeface="Open Sauce Medium"/>
                <a:ea typeface="Open Sauce Medium"/>
                <a:cs typeface="Open Sauce Medium"/>
              </a:rPr>
              <a:t>Precision–recall curve</a:t>
            </a:r>
          </a:p>
        </p:txBody>
      </p:sp>
      <p:sp>
        <p:nvSpPr>
          <p:cNvPr id="10" name="s11-text-5">
            <a:extLst xmlns:a="http://schemas.openxmlformats.org/drawingml/2006/main">
              <a:ext uri="{FF2B5EF4-FFF2-40B4-BE49-F238E27FC236}">
                <a16:creationId xmlns:a16="http://schemas.microsoft.com/office/drawing/2014/main" id="{1D9518F9-D896-43D3-AB45-B5D55F5B7971}"/>
              </a:ext>
            </a:extLst>
          </p:cNvPr>
          <p:cNvSpPr>
            <a:spLocks xmlns:a="http://schemas.openxmlformats.org/drawingml/2006/main" noGrp="1"/>
          </p:cNvSpPr>
          <p:nvPr/>
        </p:nvSpPr>
        <p:spPr>
          <a:xfrm xmlns:a="http://schemas.openxmlformats.org/drawingml/2006/main">
            <a:off x="9525000" y="2409825"/>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F5A000"/>
                </a:solidFill>
                <a:latin typeface="Open Sauce Medium"/>
                <a:ea typeface="Open Sauce Medium"/>
                <a:cs typeface="Open Sauce Medium"/>
              </a:defRPr>
            </a:pPr>
            <a:r>
              <a:rPr sz="2775" b="1">
                <a:solidFill>
                  <a:srgbClr val="F5A000"/>
                </a:solidFill>
                <a:latin typeface="Open Sauce Medium"/>
                <a:ea typeface="Open Sauce Medium"/>
                <a:cs typeface="Open Sauce Medium"/>
              </a:rPr>
              <a:t>F1 versus confidence</a:t>
            </a:r>
          </a:p>
        </p:txBody>
      </p:sp>
      <p:sp>
        <p:nvSpPr>
          <p:cNvPr id="11" name="s11-text-6">
            <a:extLst xmlns:a="http://schemas.openxmlformats.org/drawingml/2006/main">
              <a:ext uri="{FF2B5EF4-FFF2-40B4-BE49-F238E27FC236}">
                <a16:creationId xmlns:a16="http://schemas.microsoft.com/office/drawing/2014/main" id="{BFA62B17-A5D2-4DF5-8343-9A132BA29463}"/>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1 tuned-model test curves. The deployed app uses separate upload and camera thresholds.</a:t>
            </a:r>
          </a:p>
        </p:txBody>
      </p:sp>
      <p:sp>
        <p:nvSpPr>
          <p:cNvPr id="12" name="s11-text-7">
            <a:extLst xmlns:a="http://schemas.openxmlformats.org/drawingml/2006/main">
              <a:ext uri="{FF2B5EF4-FFF2-40B4-BE49-F238E27FC236}">
                <a16:creationId xmlns:a16="http://schemas.microsoft.com/office/drawing/2014/main" id="{C8BC9CFE-321E-48AA-88DF-B1BC696A065E}"/>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11</a:t>
            </a:r>
          </a:p>
        </p:txBody>
      </p:sp>
    </p:spTree>
    <p:extLst>
      <p:ext uri="{BB962C8B-B14F-4D97-AF65-F5344CB8AC3E}">
        <p14:creationId xmlns:p14="http://schemas.microsoft.com/office/powerpoint/2010/main" val="1804990118"/>
      </p:ext>
    </p:extLst>
  </p:cSld>
</p:sld>
</file>

<file path=ppt/slides/slide12.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ffb0d460b4714ce0">
              <a:extLst>
                <a:ext uri="{96DAC541-7B7A-43D3-8B79-37D633B846F1}">
                  <asvg:svgBlip xmlns:asvg="http://schemas.microsoft.com/office/drawing/2016/SVG/main" r:embed="Ref60e9584d064a8d"/>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4.3 FINAL DEPLOYED MODEL RESULTS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graphicFrame>
        <p:nvGraphicFramePr>
          <p:cNvPr id="17" name="Chart"/>
          <p:cNvGraphicFramePr/>
          <p:nvPr/>
        </p:nvGraphicFramePr>
        <p:xfrm>
          <a:off xmlns:a="http://schemas.openxmlformats.org/drawingml/2006/main" x="762000" y="3238500"/>
          <a:ext xmlns:a="http://schemas.openxmlformats.org/drawingml/2006/main" cx="11906250" cy="5381625"/>
        </p:xfrm>
        <a:graphic xmlns:a="http://schemas.openxmlformats.org/drawingml/2006/main">
          <a:graphicData uri="http://schemas.openxmlformats.org/drawingml/2006/chart">
            <c:chart xmlns:r="http://schemas.openxmlformats.org/officeDocument/2006/relationships" xmlns:c="http://schemas.openxmlformats.org/drawingml/2006/chart" r:id="Rdf86811f71de460a"/>
          </a:graphicData>
        </a:graphic>
      </p:graphicFrame>
      <p:sp>
        <p:nvSpPr>
          <p:cNvPr id="8" name="s12-text-4">
            <a:extLst xmlns:a="http://schemas.openxmlformats.org/drawingml/2006/main">
              <a:ext uri="{FF2B5EF4-FFF2-40B4-BE49-F238E27FC236}">
                <a16:creationId xmlns:a16="http://schemas.microsoft.com/office/drawing/2014/main" id="{B9088F04-BF1E-45CF-96FB-1FF76754F33E}"/>
              </a:ext>
            </a:extLst>
          </p:cNvPr>
          <p:cNvSpPr>
            <a:spLocks xmlns:a="http://schemas.openxmlformats.org/drawingml/2006/main" noGrp="1"/>
          </p:cNvSpPr>
          <p:nvPr/>
        </p:nvSpPr>
        <p:spPr>
          <a:xfrm xmlns:a="http://schemas.openxmlformats.org/drawingml/2006/main">
            <a:off x="13335000" y="3333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150" b="1">
                <a:solidFill>
                  <a:srgbClr val="212B21"/>
                </a:solidFill>
                <a:latin typeface="Open Sauce Medium"/>
                <a:ea typeface="Open Sauce Medium"/>
                <a:cs typeface="Open Sauce Medium"/>
              </a:defRPr>
            </a:pPr>
            <a:r>
              <a:rPr sz="6150" b="1">
                <a:solidFill>
                  <a:srgbClr val="212B21"/>
                </a:solidFill>
                <a:latin typeface="Open Sauce Medium"/>
                <a:ea typeface="Open Sauce Medium"/>
                <a:cs typeface="Open Sauce Medium"/>
              </a:rPr>
              <a:t>93.86%</a:t>
            </a:r>
          </a:p>
        </p:txBody>
      </p:sp>
      <p:sp>
        <p:nvSpPr>
          <p:cNvPr id="9" name="s12-text-5">
            <a:extLst xmlns:a="http://schemas.openxmlformats.org/drawingml/2006/main">
              <a:ext uri="{FF2B5EF4-FFF2-40B4-BE49-F238E27FC236}">
                <a16:creationId xmlns:a16="http://schemas.microsoft.com/office/drawing/2014/main" id="{EC03D435-E2ED-422B-B801-51FEB3559B8C}"/>
              </a:ext>
            </a:extLst>
          </p:cNvPr>
          <p:cNvSpPr>
            <a:spLocks xmlns:a="http://schemas.openxmlformats.org/drawingml/2006/main" noGrp="1"/>
          </p:cNvSpPr>
          <p:nvPr/>
        </p:nvSpPr>
        <p:spPr>
          <a:xfrm xmlns:a="http://schemas.openxmlformats.org/drawingml/2006/main">
            <a:off x="13335000" y="4619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F5A000"/>
                </a:solidFill>
                <a:latin typeface="Open Sauce Medium"/>
                <a:ea typeface="Open Sauce Medium"/>
                <a:cs typeface="Open Sauce Medium"/>
              </a:defRPr>
            </a:pPr>
            <a:r>
              <a:rPr sz="3000" b="1">
                <a:solidFill>
                  <a:srgbClr val="F5A000"/>
                </a:solidFill>
                <a:latin typeface="Open Sauce Medium"/>
                <a:ea typeface="Open Sauce Medium"/>
                <a:cs typeface="Open Sauce Medium"/>
              </a:rPr>
              <a:t>mAP@0.5</a:t>
            </a:r>
          </a:p>
        </p:txBody>
      </p:sp>
      <p:sp>
        <p:nvSpPr>
          <p:cNvPr id="10" name="s12-text-6">
            <a:extLst xmlns:a="http://schemas.openxmlformats.org/drawingml/2006/main">
              <a:ext uri="{FF2B5EF4-FFF2-40B4-BE49-F238E27FC236}">
                <a16:creationId xmlns:a16="http://schemas.microsoft.com/office/drawing/2014/main" id="{2E4A6372-94E0-405E-9B5D-A4E212269792}"/>
              </a:ext>
            </a:extLst>
          </p:cNvPr>
          <p:cNvSpPr>
            <a:spLocks xmlns:a="http://schemas.openxmlformats.org/drawingml/2006/main" noGrp="1"/>
          </p:cNvSpPr>
          <p:nvPr/>
        </p:nvSpPr>
        <p:spPr>
          <a:xfrm xmlns:a="http://schemas.openxmlformats.org/drawingml/2006/main">
            <a:off x="13335000" y="5715000"/>
            <a:ext cx="4000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838 test images</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867 labelled signs</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Recall remains below precision: some signs are still missed.</a:t>
            </a:r>
          </a:p>
        </p:txBody>
      </p:sp>
      <p:sp>
        <p:nvSpPr>
          <p:cNvPr id="11" name="s12-text-7">
            <a:extLst xmlns:a="http://schemas.openxmlformats.org/drawingml/2006/main">
              <a:ext uri="{FF2B5EF4-FFF2-40B4-BE49-F238E27FC236}">
                <a16:creationId xmlns:a16="http://schemas.microsoft.com/office/drawing/2014/main" id="{18FE9728-01B6-4E47-A11F-397BA7906E2E}"/>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3 held-out detection evaluation. mAP is a detection metric, not per-image classification accuracy.</a:t>
            </a:r>
          </a:p>
        </p:txBody>
      </p:sp>
      <p:sp>
        <p:nvSpPr>
          <p:cNvPr id="12" name="s12-text-8">
            <a:extLst xmlns:a="http://schemas.openxmlformats.org/drawingml/2006/main">
              <a:ext uri="{FF2B5EF4-FFF2-40B4-BE49-F238E27FC236}">
                <a16:creationId xmlns:a16="http://schemas.microsoft.com/office/drawing/2014/main" id="{9F188556-C311-4A91-9AF4-CA280191CB1B}"/>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12</a:t>
            </a:r>
          </a:p>
        </p:txBody>
      </p:sp>
    </p:spTree>
    <p:extLst>
      <p:ext uri="{BB962C8B-B14F-4D97-AF65-F5344CB8AC3E}">
        <p14:creationId xmlns:p14="http://schemas.microsoft.com/office/powerpoint/2010/main" val="742556576"/>
      </p:ext>
    </p:extLst>
  </p:cSld>
</p:sld>
</file>

<file path=ppt/slides/slide13.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99b8512d04634828">
              <a:extLst>
                <a:ext uri="{96DAC541-7B7A-43D3-8B79-37D633B846F1}">
                  <asvg:svgBlip xmlns:asvg="http://schemas.microsoft.com/office/drawing/2016/SVG/main" r:embed="Rcb51b78b85c6405b"/>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4.4 DETECTION SPEED</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graphicFrame>
        <p:nvGraphicFramePr>
          <p:cNvPr id="16" name=""/>
          <p:cNvGraphicFramePr/>
          <p:nvPr/>
        </p:nvGraphicFramePr>
        <p:xfrm>
          <a:off xmlns:a="http://schemas.openxmlformats.org/drawingml/2006/main" x="1028700" y="3048000"/>
          <a:ext xmlns:a="http://schemas.openxmlformats.org/drawingml/2006/main" cx="11239500" cy="4191000"/>
        </p:xfrm>
        <a:graphic xmlns:a="http://schemas.openxmlformats.org/drawingml/2006/main">
          <a:graphicData uri="http://schemas.openxmlformats.org/drawingml/2006/table">
            <a:tbl>
              <a:tblPr/>
              <a:tblGrid>
                <a:gridCol w="3714750"/>
                <a:gridCol w="4095750"/>
                <a:gridCol w="3429000"/>
              </a:tblGrid>
              <a:tr h="1047750">
                <a:tc>
                  <a:txBody>
                    <a:bodyPr/>
                    <a:lstStyle/>
                    <a:p>
                      <a:r>
                        <a:rPr sz="2400" b="1">
                          <a:solidFill>
                            <a:srgbClr val="FFFFFF"/>
                          </a:solidFill>
                          <a:latin typeface="Open Sauce"/>
                          <a:ea typeface="Open Sauce"/>
                          <a:cs typeface="Open Sauce"/>
                        </a:rPr>
                        <a:t>Detector mode</a:t>
                      </a:r>
                    </a:p>
                  </a:txBody>
                  <a:tcPr marL="91440" marR="91440" marT="45720" marB="45720">
                    <a:solidFill>
                      <a:srgbClr val="212B21"/>
                    </a:solidFill>
                  </a:tcPr>
                </a:tc>
                <a:tc>
                  <a:txBody>
                    <a:bodyPr/>
                    <a:lstStyle/>
                    <a:p>
                      <a:r>
                        <a:rPr sz="2400" b="1">
                          <a:solidFill>
                            <a:srgbClr val="FFFFFF"/>
                          </a:solidFill>
                          <a:latin typeface="Open Sauce"/>
                          <a:ea typeface="Open Sauce"/>
                          <a:cs typeface="Open Sauce"/>
                        </a:rPr>
                        <a:t>Frames with detections</a:t>
                      </a:r>
                    </a:p>
                  </a:txBody>
                  <a:tcPr marL="91440" marR="91440" marT="45720" marB="45720">
                    <a:solidFill>
                      <a:srgbClr val="212B21"/>
                    </a:solidFill>
                  </a:tcPr>
                </a:tc>
                <a:tc>
                  <a:txBody>
                    <a:bodyPr/>
                    <a:lstStyle/>
                    <a:p>
                      <a:r>
                        <a:rPr sz="2400" b="1">
                          <a:solidFill>
                            <a:srgbClr val="FFFFFF"/>
                          </a:solidFill>
                          <a:latin typeface="Open Sauce"/>
                          <a:ea typeface="Open Sauce"/>
                          <a:cs typeface="Open Sauce"/>
                        </a:rPr>
                        <a:t>Throughput</a:t>
                      </a:r>
                    </a:p>
                  </a:txBody>
                  <a:tcPr marL="91440" marR="91440" marT="45720" marB="45720">
                    <a:solidFill>
                      <a:srgbClr val="212B21"/>
                    </a:solidFill>
                  </a:tcPr>
                </a:tc>
              </a:tr>
              <a:tr h="1047750">
                <a:tc>
                  <a:txBody>
                    <a:bodyPr/>
                    <a:lstStyle/>
                    <a:p>
                      <a:r>
                        <a:rPr sz="2400" b="0">
                          <a:solidFill>
                            <a:srgbClr val="212B21"/>
                          </a:solidFill>
                          <a:latin typeface="Open Sauce"/>
                          <a:ea typeface="Open Sauce"/>
                          <a:cs typeface="Open Sauce"/>
                        </a:rPr>
                        <a:t>Full frame</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84 / 84</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3.34 FPS</a:t>
                      </a:r>
                    </a:p>
                  </a:txBody>
                  <a:tcPr marL="91440" marR="91440" marT="45720" marB="45720">
                    <a:solidFill>
                      <a:srgbClr val="F1F0E7"/>
                    </a:solidFill>
                  </a:tcPr>
                </a:tc>
              </a:tr>
              <a:tr h="1047750">
                <a:tc>
                  <a:txBody>
                    <a:bodyPr/>
                    <a:lstStyle/>
                    <a:p>
                      <a:r>
                        <a:rPr sz="2400" b="0">
                          <a:solidFill>
                            <a:srgbClr val="212B21"/>
                          </a:solidFill>
                          <a:latin typeface="Open Sauce"/>
                          <a:ea typeface="Open Sauce"/>
                          <a:cs typeface="Open Sauce"/>
                        </a:rPr>
                        <a:t>ROI only</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2 / 84</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76.63 FPS</a:t>
                      </a:r>
                    </a:p>
                  </a:txBody>
                  <a:tcPr marL="91440" marR="91440" marT="45720" marB="45720">
                    <a:solidFill>
                      <a:srgbClr val="FFFDFA"/>
                    </a:solidFill>
                  </a:tcPr>
                </a:tc>
              </a:tr>
              <a:tr h="1047750">
                <a:tc>
                  <a:txBody>
                    <a:bodyPr/>
                    <a:lstStyle/>
                    <a:p>
                      <a:r>
                        <a:rPr sz="2400" b="0">
                          <a:solidFill>
                            <a:srgbClr val="212B21"/>
                          </a:solidFill>
                          <a:latin typeface="Open Sauce"/>
                          <a:ea typeface="Open Sauce"/>
                          <a:cs typeface="Open Sauce"/>
                        </a:rPr>
                        <a:t>Periodic hybrid</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19 / 84</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13.98 FPS</a:t>
                      </a:r>
                    </a:p>
                  </a:txBody>
                  <a:tcPr marL="91440" marR="91440" marT="45720" marB="45720">
                    <a:solidFill>
                      <a:srgbClr val="F1F0E7"/>
                    </a:solidFill>
                  </a:tcPr>
                </a:tc>
              </a:tr>
            </a:tbl>
          </a:graphicData>
        </a:graphic>
      </p:graphicFrame>
      <p:sp>
        <p:nvSpPr>
          <p:cNvPr id="8" name="s13-text-4">
            <a:extLst xmlns:a="http://schemas.openxmlformats.org/drawingml/2006/main">
              <a:ext uri="{FF2B5EF4-FFF2-40B4-BE49-F238E27FC236}">
                <a16:creationId xmlns:a16="http://schemas.microsoft.com/office/drawing/2014/main" id="{587A44DE-BD38-48E7-A346-86D892718724}"/>
              </a:ext>
            </a:extLst>
          </p:cNvPr>
          <p:cNvSpPr>
            <a:spLocks xmlns:a="http://schemas.openxmlformats.org/drawingml/2006/main" noGrp="1"/>
          </p:cNvSpPr>
          <p:nvPr/>
        </p:nvSpPr>
        <p:spPr>
          <a:xfrm xmlns:a="http://schemas.openxmlformats.org/drawingml/2006/main">
            <a:off x="13049250" y="2952750"/>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75" b="1">
                <a:solidFill>
                  <a:srgbClr val="F5A000"/>
                </a:solidFill>
                <a:latin typeface="Open Sauce Medium"/>
                <a:ea typeface="Open Sauce Medium"/>
                <a:cs typeface="Open Sauce Medium"/>
              </a:defRPr>
            </a:pPr>
            <a:r>
              <a:rPr sz="3075" b="1">
                <a:solidFill>
                  <a:srgbClr val="F5A000"/>
                </a:solidFill>
                <a:latin typeface="Open Sauce Medium"/>
                <a:ea typeface="Open Sauce Medium"/>
                <a:cs typeface="Open Sauce Medium"/>
              </a:rPr>
              <a:t>Why we kept full frame</a:t>
            </a:r>
          </a:p>
        </p:txBody>
      </p:sp>
      <p:sp>
        <p:nvSpPr>
          <p:cNvPr id="9" name="s13-text-5">
            <a:extLst xmlns:a="http://schemas.openxmlformats.org/drawingml/2006/main">
              <a:ext uri="{FF2B5EF4-FFF2-40B4-BE49-F238E27FC236}">
                <a16:creationId xmlns:a16="http://schemas.microsoft.com/office/drawing/2014/main" id="{DFE0055A-6A13-4963-8786-45126E02FC25}"/>
              </a:ext>
            </a:extLst>
          </p:cNvPr>
          <p:cNvSpPr>
            <a:spLocks xmlns:a="http://schemas.openxmlformats.org/drawingml/2006/main" noGrp="1"/>
          </p:cNvSpPr>
          <p:nvPr/>
        </p:nvSpPr>
        <p:spPr>
          <a:xfrm xmlns:a="http://schemas.openxmlformats.org/drawingml/2006/main">
            <a:off x="13049250" y="4524375"/>
            <a:ext cx="43815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The fast ROI route skipped most signs in this image sequence.</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Full-frame processing retained detection coverage.</a:t>
            </a:r>
          </a:p>
          <a:p xmlns:a="http://schemas.openxmlformats.org/drawingml/2006/main">
            <a:r>
              <a:t/>
            </a:r>
          </a:p>
          <a:p xmlns:a="http://schemas.openxmlformats.org/drawingml/2006/main">
            <a:pPr>
              <a:defRPr sz="2625" b="0">
                <a:solidFill>
                  <a:srgbClr val="212B21"/>
                </a:solidFill>
                <a:latin typeface="Open Sauce"/>
                <a:ea typeface="Open Sauce"/>
                <a:cs typeface="Open Sauce"/>
              </a:defRPr>
            </a:pPr>
            <a:r>
              <a:rPr sz="2625" b="0">
                <a:solidFill>
                  <a:srgbClr val="212B21"/>
                </a:solidFill>
                <a:latin typeface="Open Sauce"/>
                <a:ea typeface="Open Sauce"/>
                <a:cs typeface="Open Sauce"/>
              </a:rPr>
              <a:t>About 300 ms per image in this saved benchmark.</a:t>
            </a:r>
          </a:p>
        </p:txBody>
      </p:sp>
      <p:sp>
        <p:nvSpPr>
          <p:cNvPr id="10" name="s13-text-6">
            <a:extLst xmlns:a="http://schemas.openxmlformats.org/drawingml/2006/main">
              <a:ext uri="{FF2B5EF4-FFF2-40B4-BE49-F238E27FC236}">
                <a16:creationId xmlns:a16="http://schemas.microsoft.com/office/drawing/2014/main" id="{FF729DD1-837B-4CFA-BBF9-8ACB36A7C6AB}"/>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Same 84-image sequence, CPU benchmark, detector stage before temporal confirmation. Coverage is not recall.</a:t>
            </a:r>
          </a:p>
        </p:txBody>
      </p:sp>
      <p:sp>
        <p:nvSpPr>
          <p:cNvPr id="11" name="s13-text-7">
            <a:extLst xmlns:a="http://schemas.openxmlformats.org/drawingml/2006/main">
              <a:ext uri="{FF2B5EF4-FFF2-40B4-BE49-F238E27FC236}">
                <a16:creationId xmlns:a16="http://schemas.microsoft.com/office/drawing/2014/main" id="{0D5C0BFE-C2A5-40FD-B572-8868306CD698}"/>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13</a:t>
            </a:r>
          </a:p>
        </p:txBody>
      </p:sp>
    </p:spTree>
    <p:extLst>
      <p:ext uri="{BB962C8B-B14F-4D97-AF65-F5344CB8AC3E}">
        <p14:creationId xmlns:p14="http://schemas.microsoft.com/office/powerpoint/2010/main" val="1707007300"/>
      </p:ext>
    </p:extLst>
  </p:cSld>
</p:sld>
</file>

<file path=ppt/slides/slide14.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42603810cc4c4e98">
              <a:extLst>
                <a:ext uri="{96DAC541-7B7A-43D3-8B79-37D633B846F1}">
                  <asvg:svgBlip xmlns:asvg="http://schemas.microsoft.com/office/drawing/2016/SVG/main" r:embed="Rd9d58efa98af4c9b"/>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4.5 FUNCTIONAL AND CLASS TESTING</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sp>
        <p:nvSpPr>
          <p:cNvPr id="7" name="s14-text-4">
            <a:extLst xmlns:a="http://schemas.openxmlformats.org/drawingml/2006/main">
              <a:ext uri="{FF2B5EF4-FFF2-40B4-BE49-F238E27FC236}">
                <a16:creationId xmlns:a16="http://schemas.microsoft.com/office/drawing/2014/main" id="{D2772B93-5F8A-4143-8328-A920242D7984}"/>
              </a:ext>
            </a:extLst>
          </p:cNvPr>
          <p:cNvSpPr>
            <a:spLocks xmlns:a="http://schemas.openxmlformats.org/drawingml/2006/main" noGrp="1"/>
          </p:cNvSpPr>
          <p:nvPr/>
        </p:nvSpPr>
        <p:spPr>
          <a:xfrm xmlns:a="http://schemas.openxmlformats.org/drawingml/2006/main">
            <a:off x="1028700" y="2714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Held-out detection test</a:t>
            </a:r>
          </a:p>
        </p:txBody>
      </p:sp>
      <p:sp>
        <p:nvSpPr>
          <p:cNvPr id="8" name="s14-text-5">
            <a:extLst xmlns:a="http://schemas.openxmlformats.org/drawingml/2006/main">
              <a:ext uri="{FF2B5EF4-FFF2-40B4-BE49-F238E27FC236}">
                <a16:creationId xmlns:a16="http://schemas.microsoft.com/office/drawing/2014/main" id="{941DCF41-EF73-4DBA-A890-0594B1317A7B}"/>
              </a:ext>
            </a:extLst>
          </p:cNvPr>
          <p:cNvSpPr>
            <a:spLocks xmlns:a="http://schemas.openxmlformats.org/drawingml/2006/main" noGrp="1"/>
          </p:cNvSpPr>
          <p:nvPr/>
        </p:nvSpPr>
        <p:spPr>
          <a:xfrm xmlns:a="http://schemas.openxmlformats.org/drawingml/2006/main">
            <a:off x="1028700" y="3400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838 images and 867 labelled objects. Precision, recall and mAP measure detection quality.</a:t>
            </a:r>
          </a:p>
        </p:txBody>
      </p:sp>
      <p:sp>
        <p:nvSpPr>
          <p:cNvPr id="9" name="s14-text-6">
            <a:extLst xmlns:a="http://schemas.openxmlformats.org/drawingml/2006/main">
              <a:ext uri="{FF2B5EF4-FFF2-40B4-BE49-F238E27FC236}">
                <a16:creationId xmlns:a16="http://schemas.microsoft.com/office/drawing/2014/main" id="{9671F904-5CB9-49A3-BF57-9B8FF6D81F7C}"/>
              </a:ext>
            </a:extLst>
          </p:cNvPr>
          <p:cNvSpPr>
            <a:spLocks xmlns:a="http://schemas.openxmlformats.org/drawingml/2006/main" noGrp="1"/>
          </p:cNvSpPr>
          <p:nvPr/>
        </p:nvSpPr>
        <p:spPr>
          <a:xfrm xmlns:a="http://schemas.openxmlformats.org/drawingml/2006/main">
            <a:off x="9715500" y="2714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Reviewed image check</a:t>
            </a:r>
          </a:p>
        </p:txBody>
      </p:sp>
      <p:sp>
        <p:nvSpPr>
          <p:cNvPr id="10" name="s14-text-7">
            <a:extLst xmlns:a="http://schemas.openxmlformats.org/drawingml/2006/main">
              <a:ext uri="{FF2B5EF4-FFF2-40B4-BE49-F238E27FC236}">
                <a16:creationId xmlns:a16="http://schemas.microsoft.com/office/drawing/2014/main" id="{0A15E0FF-262C-44A9-A380-4CDAC33573D2}"/>
              </a:ext>
            </a:extLst>
          </p:cNvPr>
          <p:cNvSpPr>
            <a:spLocks xmlns:a="http://schemas.openxmlformats.org/drawingml/2006/main" noGrp="1"/>
          </p:cNvSpPr>
          <p:nvPr/>
        </p:nvSpPr>
        <p:spPr>
          <a:xfrm xmlns:a="http://schemas.openxmlformats.org/drawingml/2006/main">
            <a:off x="9715500" y="3400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84 / 84 expected top classes at a 20% threshold. The set represents 48 distinct classes.</a:t>
            </a:r>
          </a:p>
        </p:txBody>
      </p:sp>
      <p:sp>
        <p:nvSpPr>
          <p:cNvPr id="11" name="s14-text-8">
            <a:extLst xmlns:a="http://schemas.openxmlformats.org/drawingml/2006/main">
              <a:ext uri="{FF2B5EF4-FFF2-40B4-BE49-F238E27FC236}">
                <a16:creationId xmlns:a16="http://schemas.microsoft.com/office/drawing/2014/main" id="{42645E01-70FD-441A-8E75-096C73356B7C}"/>
              </a:ext>
            </a:extLst>
          </p:cNvPr>
          <p:cNvSpPr>
            <a:spLocks xmlns:a="http://schemas.openxmlformats.org/drawingml/2006/main" noGrp="1"/>
          </p:cNvSpPr>
          <p:nvPr/>
        </p:nvSpPr>
        <p:spPr>
          <a:xfrm xmlns:a="http://schemas.openxmlformats.org/drawingml/2006/main">
            <a:off x="1028700" y="5715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Prepared demonstration set</a:t>
            </a:r>
          </a:p>
        </p:txBody>
      </p:sp>
      <p:sp>
        <p:nvSpPr>
          <p:cNvPr id="12" name="s14-text-9">
            <a:extLst xmlns:a="http://schemas.openxmlformats.org/drawingml/2006/main">
              <a:ext uri="{FF2B5EF4-FFF2-40B4-BE49-F238E27FC236}">
                <a16:creationId xmlns:a16="http://schemas.microsoft.com/office/drawing/2014/main" id="{AAD2E56B-6845-4F72-90C8-8BEA3F85B924}"/>
              </a:ext>
            </a:extLst>
          </p:cNvPr>
          <p:cNvSpPr>
            <a:spLocks xmlns:a="http://schemas.openxmlformats.org/drawingml/2006/main" noGrp="1"/>
          </p:cNvSpPr>
          <p:nvPr/>
        </p:nvSpPr>
        <p:spPr>
          <a:xfrm xmlns:a="http://schemas.openxmlformats.org/drawingml/2006/main">
            <a:off x="1028700" y="6400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48 / 48 selected original images returned the expected class through the local API.</a:t>
            </a:r>
          </a:p>
        </p:txBody>
      </p:sp>
      <p:sp>
        <p:nvSpPr>
          <p:cNvPr id="13" name="s14-text-10">
            <a:extLst xmlns:a="http://schemas.openxmlformats.org/drawingml/2006/main">
              <a:ext uri="{FF2B5EF4-FFF2-40B4-BE49-F238E27FC236}">
                <a16:creationId xmlns:a16="http://schemas.microsoft.com/office/drawing/2014/main" id="{17B01E5E-EA79-4EB6-AD11-07D93F509622}"/>
              </a:ext>
            </a:extLst>
          </p:cNvPr>
          <p:cNvSpPr>
            <a:spLocks xmlns:a="http://schemas.openxmlformats.org/drawingml/2006/main" noGrp="1"/>
          </p:cNvSpPr>
          <p:nvPr/>
        </p:nvSpPr>
        <p:spPr>
          <a:xfrm xmlns:a="http://schemas.openxmlformats.org/drawingml/2006/main">
            <a:off x="9715500" y="5715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Application checks</a:t>
            </a:r>
          </a:p>
        </p:txBody>
      </p:sp>
      <p:sp>
        <p:nvSpPr>
          <p:cNvPr id="14" name="s14-text-11">
            <a:extLst xmlns:a="http://schemas.openxmlformats.org/drawingml/2006/main">
              <a:ext uri="{FF2B5EF4-FFF2-40B4-BE49-F238E27FC236}">
                <a16:creationId xmlns:a16="http://schemas.microsoft.com/office/drawing/2014/main" id="{87AFB8AF-9629-48CE-A8DD-EE29F594BE70}"/>
              </a:ext>
            </a:extLst>
          </p:cNvPr>
          <p:cNvSpPr>
            <a:spLocks xmlns:a="http://schemas.openxmlformats.org/drawingml/2006/main" noGrp="1"/>
          </p:cNvSpPr>
          <p:nvPr/>
        </p:nvSpPr>
        <p:spPr>
          <a:xfrm xmlns:a="http://schemas.openxmlformats.org/drawingml/2006/main">
            <a:off x="9715500" y="6400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Image upload, live camera, speech replay, multi-sign confirmation and history support the demonstration.</a:t>
            </a:r>
          </a:p>
        </p:txBody>
      </p:sp>
      <p:sp>
        <p:nvSpPr>
          <p:cNvPr id="15" name="s14-text-12">
            <a:extLst xmlns:a="http://schemas.openxmlformats.org/drawingml/2006/main">
              <a:ext uri="{FF2B5EF4-FFF2-40B4-BE49-F238E27FC236}">
                <a16:creationId xmlns:a16="http://schemas.microsoft.com/office/drawing/2014/main" id="{1AC745C2-5B49-4930-ABFE-A49AA8F09265}"/>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Current prepared demo coverage: 48 of 63 supported classes.</a:t>
            </a:r>
          </a:p>
        </p:txBody>
      </p:sp>
      <p:sp>
        <p:nvSpPr>
          <p:cNvPr id="16" name="s14-text-13">
            <a:extLst xmlns:a="http://schemas.openxmlformats.org/drawingml/2006/main">
              <a:ext uri="{FF2B5EF4-FFF2-40B4-BE49-F238E27FC236}">
                <a16:creationId xmlns:a16="http://schemas.microsoft.com/office/drawing/2014/main" id="{4287E2E9-D1C4-4504-BA86-03104DA87D98}"/>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14</a:t>
            </a:r>
          </a:p>
        </p:txBody>
      </p:sp>
    </p:spTree>
    <p:extLst>
      <p:ext uri="{BB962C8B-B14F-4D97-AF65-F5344CB8AC3E}">
        <p14:creationId xmlns:p14="http://schemas.microsoft.com/office/powerpoint/2010/main" val="1325672973"/>
      </p:ext>
    </p:extLst>
  </p:cSld>
</p:sld>
</file>

<file path=ppt/slides/slide15.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20e4ff7c63544758">
              <a:extLst>
                <a:ext uri="{96DAC541-7B7A-43D3-8B79-37D633B846F1}">
                  <asvg:svgBlip xmlns:asvg="http://schemas.microsoft.com/office/drawing/2016/SVG/main" r:embed="R7a12f314db514996"/>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4.6 ERROR ANALYSIS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sp>
        <p:nvSpPr>
          <p:cNvPr id="7" name="s15-text-4">
            <a:extLst xmlns:a="http://schemas.openxmlformats.org/drawingml/2006/main">
              <a:ext uri="{FF2B5EF4-FFF2-40B4-BE49-F238E27FC236}">
                <a16:creationId xmlns:a16="http://schemas.microsoft.com/office/drawing/2014/main" id="{02E1EF32-9143-4233-95EA-961CA62429D5}"/>
              </a:ext>
            </a:extLst>
          </p:cNvPr>
          <p:cNvSpPr>
            <a:spLocks xmlns:a="http://schemas.openxmlformats.org/drawingml/2006/main" noGrp="1"/>
          </p:cNvSpPr>
          <p:nvPr/>
        </p:nvSpPr>
        <p:spPr>
          <a:xfrm xmlns:a="http://schemas.openxmlformats.org/drawingml/2006/main">
            <a:off x="1028700" y="2714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Crowded frames</a:t>
            </a:r>
          </a:p>
        </p:txBody>
      </p:sp>
      <p:sp>
        <p:nvSpPr>
          <p:cNvPr id="8" name="s15-text-5">
            <a:extLst xmlns:a="http://schemas.openxmlformats.org/drawingml/2006/main">
              <a:ext uri="{FF2B5EF4-FFF2-40B4-BE49-F238E27FC236}">
                <a16:creationId xmlns:a16="http://schemas.microsoft.com/office/drawing/2014/main" id="{DB1BC364-4F4C-45A8-BBA5-140F14E5C679}"/>
              </a:ext>
            </a:extLst>
          </p:cNvPr>
          <p:cNvSpPr>
            <a:spLocks xmlns:a="http://schemas.openxmlformats.org/drawingml/2006/main" noGrp="1"/>
          </p:cNvSpPr>
          <p:nvPr/>
        </p:nvSpPr>
        <p:spPr>
          <a:xfrm xmlns:a="http://schemas.openxmlformats.org/drawingml/2006/main">
            <a:off x="1028700" y="3400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Only 4 / 12 trial collages returned all four expected classes. Sign scale and context changed after compositing.</a:t>
            </a:r>
          </a:p>
        </p:txBody>
      </p:sp>
      <p:sp>
        <p:nvSpPr>
          <p:cNvPr id="9" name="s15-text-6">
            <a:extLst xmlns:a="http://schemas.openxmlformats.org/drawingml/2006/main">
              <a:ext uri="{FF2B5EF4-FFF2-40B4-BE49-F238E27FC236}">
                <a16:creationId xmlns:a16="http://schemas.microsoft.com/office/drawing/2014/main" id="{3D0A58E3-2258-4A99-B329-B52E54CC2665}"/>
              </a:ext>
            </a:extLst>
          </p:cNvPr>
          <p:cNvSpPr>
            <a:spLocks xmlns:a="http://schemas.openxmlformats.org/drawingml/2006/main" noGrp="1"/>
          </p:cNvSpPr>
          <p:nvPr/>
        </p:nvSpPr>
        <p:spPr>
          <a:xfrm xmlns:a="http://schemas.openxmlformats.org/drawingml/2006/main">
            <a:off x="9715500" y="2714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Missed detections</a:t>
            </a:r>
          </a:p>
        </p:txBody>
      </p:sp>
      <p:sp>
        <p:nvSpPr>
          <p:cNvPr id="10" name="s15-text-7">
            <a:extLst xmlns:a="http://schemas.openxmlformats.org/drawingml/2006/main">
              <a:ext uri="{FF2B5EF4-FFF2-40B4-BE49-F238E27FC236}">
                <a16:creationId xmlns:a16="http://schemas.microsoft.com/office/drawing/2014/main" id="{E7EA7BBF-DEE9-4820-86D4-9A26F7F648D7}"/>
              </a:ext>
            </a:extLst>
          </p:cNvPr>
          <p:cNvSpPr>
            <a:spLocks xmlns:a="http://schemas.openxmlformats.org/drawingml/2006/main" noGrp="1"/>
          </p:cNvSpPr>
          <p:nvPr/>
        </p:nvSpPr>
        <p:spPr>
          <a:xfrm xmlns:a="http://schemas.openxmlformats.org/drawingml/2006/main">
            <a:off x="9715500" y="3400425"/>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Final test recall is 86.70%. High precision does not mean the detector finds every sign.</a:t>
            </a:r>
          </a:p>
        </p:txBody>
      </p:sp>
      <p:sp>
        <p:nvSpPr>
          <p:cNvPr id="11" name="s15-text-8">
            <a:extLst xmlns:a="http://schemas.openxmlformats.org/drawingml/2006/main">
              <a:ext uri="{FF2B5EF4-FFF2-40B4-BE49-F238E27FC236}">
                <a16:creationId xmlns:a16="http://schemas.microsoft.com/office/drawing/2014/main" id="{1B6AB401-F705-49E9-A500-2ABF8C58C45A}"/>
              </a:ext>
            </a:extLst>
          </p:cNvPr>
          <p:cNvSpPr>
            <a:spLocks xmlns:a="http://schemas.openxmlformats.org/drawingml/2006/main" noGrp="1"/>
          </p:cNvSpPr>
          <p:nvPr/>
        </p:nvSpPr>
        <p:spPr>
          <a:xfrm xmlns:a="http://schemas.openxmlformats.org/drawingml/2006/main">
            <a:off x="1028700" y="5715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Uneven class support</a:t>
            </a:r>
          </a:p>
        </p:txBody>
      </p:sp>
      <p:sp>
        <p:nvSpPr>
          <p:cNvPr id="12" name="s15-text-9">
            <a:extLst xmlns:a="http://schemas.openxmlformats.org/drawingml/2006/main">
              <a:ext uri="{FF2B5EF4-FFF2-40B4-BE49-F238E27FC236}">
                <a16:creationId xmlns:a16="http://schemas.microsoft.com/office/drawing/2014/main" id="{F8A1B2E9-E1E4-4359-85A9-1716BB9B9E43}"/>
              </a:ext>
            </a:extLst>
          </p:cNvPr>
          <p:cNvSpPr>
            <a:spLocks xmlns:a="http://schemas.openxmlformats.org/drawingml/2006/main" noGrp="1"/>
          </p:cNvSpPr>
          <p:nvPr/>
        </p:nvSpPr>
        <p:spPr>
          <a:xfrm xmlns:a="http://schemas.openxmlformats.org/drawingml/2006/main">
            <a:off x="1028700" y="6400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Rare classes have few test examples. More varied samples are needed to assess them reliably.</a:t>
            </a:r>
          </a:p>
        </p:txBody>
      </p:sp>
      <p:sp>
        <p:nvSpPr>
          <p:cNvPr id="13" name="s15-text-10">
            <a:extLst xmlns:a="http://schemas.openxmlformats.org/drawingml/2006/main">
              <a:ext uri="{FF2B5EF4-FFF2-40B4-BE49-F238E27FC236}">
                <a16:creationId xmlns:a16="http://schemas.microsoft.com/office/drawing/2014/main" id="{2306C96C-4590-47B7-92A7-2CB8E364E654}"/>
              </a:ext>
            </a:extLst>
          </p:cNvPr>
          <p:cNvSpPr>
            <a:spLocks xmlns:a="http://schemas.openxmlformats.org/drawingml/2006/main" noGrp="1"/>
          </p:cNvSpPr>
          <p:nvPr/>
        </p:nvSpPr>
        <p:spPr>
          <a:xfrm xmlns:a="http://schemas.openxmlformats.org/drawingml/2006/main">
            <a:off x="9715500" y="5715000"/>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Unknown signs and OCR</a:t>
            </a:r>
          </a:p>
        </p:txBody>
      </p:sp>
      <p:sp>
        <p:nvSpPr>
          <p:cNvPr id="14" name="s15-text-11">
            <a:extLst xmlns:a="http://schemas.openxmlformats.org/drawingml/2006/main">
              <a:ext uri="{FF2B5EF4-FFF2-40B4-BE49-F238E27FC236}">
                <a16:creationId xmlns:a16="http://schemas.microsoft.com/office/drawing/2014/main" id="{3043CB1C-1DDD-464B-9BA6-7838EA1B07E5}"/>
              </a:ext>
            </a:extLst>
          </p:cNvPr>
          <p:cNvSpPr>
            <a:spLocks xmlns:a="http://schemas.openxmlformats.org/drawingml/2006/main" noGrp="1"/>
          </p:cNvSpPr>
          <p:nvPr/>
        </p:nvSpPr>
        <p:spPr>
          <a:xfrm xmlns:a="http://schemas.openxmlformats.org/drawingml/2006/main">
            <a:off x="9715500" y="6400800"/>
            <a:ext cx="733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The model has 63 classes. Unsupported signs may receive a known label; weak digit crops remain difficult.</a:t>
            </a:r>
          </a:p>
        </p:txBody>
      </p:sp>
      <p:sp>
        <p:nvSpPr>
          <p:cNvPr id="15" name="s15-text-12">
            <a:extLst xmlns:a="http://schemas.openxmlformats.org/drawingml/2006/main">
              <a:ext uri="{FF2B5EF4-FFF2-40B4-BE49-F238E27FC236}">
                <a16:creationId xmlns:a16="http://schemas.microsoft.com/office/drawing/2014/main" id="{DE00259C-0F9E-4967-88BB-AB5E2DB5C8E4}"/>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Collage test: 36 / 48 expected signs found, with 11 extra class detections across 12 frames.</a:t>
            </a:r>
          </a:p>
        </p:txBody>
      </p:sp>
      <p:sp>
        <p:nvSpPr>
          <p:cNvPr id="16" name="s15-text-13">
            <a:extLst xmlns:a="http://schemas.openxmlformats.org/drawingml/2006/main">
              <a:ext uri="{FF2B5EF4-FFF2-40B4-BE49-F238E27FC236}">
                <a16:creationId xmlns:a16="http://schemas.microsoft.com/office/drawing/2014/main" id="{60670CE3-8589-4B38-BC25-1B69F091F29B}"/>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15</a:t>
            </a:r>
          </a:p>
        </p:txBody>
      </p:sp>
    </p:spTree>
    <p:extLst>
      <p:ext uri="{BB962C8B-B14F-4D97-AF65-F5344CB8AC3E}">
        <p14:creationId xmlns:p14="http://schemas.microsoft.com/office/powerpoint/2010/main" val="756751630"/>
      </p:ext>
    </p:extLst>
  </p:cSld>
</p:sld>
</file>

<file path=ppt/slides/slide16.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864c4c90e4ea450f">
              <a:extLst>
                <a:ext uri="{96DAC541-7B7A-43D3-8B79-37D633B846F1}">
                  <asvg:svgBlip xmlns:asvg="http://schemas.microsoft.com/office/drawing/2016/SVG/main" r:embed="Re39ff26b336a4b0a"/>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4.7 BETA TESTING</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sp>
        <p:nvSpPr>
          <p:cNvPr id="7" name="s16-text-4">
            <a:extLst xmlns:a="http://schemas.openxmlformats.org/drawingml/2006/main">
              <a:ext uri="{FF2B5EF4-FFF2-40B4-BE49-F238E27FC236}">
                <a16:creationId xmlns:a16="http://schemas.microsoft.com/office/drawing/2014/main" id="{03C20A36-E5A2-4235-A851-411F78108DCC}"/>
              </a:ext>
            </a:extLst>
          </p:cNvPr>
          <p:cNvSpPr>
            <a:spLocks xmlns:a="http://schemas.openxmlformats.org/drawingml/2006/main" noGrp="1"/>
          </p:cNvSpPr>
          <p:nvPr/>
        </p:nvSpPr>
        <p:spPr>
          <a:xfrm xmlns:a="http://schemas.openxmlformats.org/drawingml/2006/main">
            <a:off x="1028700" y="2571750"/>
            <a:ext cx="1524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F5A000"/>
                </a:solidFill>
                <a:latin typeface="Open Sauce Medium"/>
                <a:ea typeface="Open Sauce Medium"/>
                <a:cs typeface="Open Sauce Medium"/>
              </a:defRPr>
            </a:pPr>
            <a:r>
              <a:rPr sz="2550" b="1">
                <a:solidFill>
                  <a:srgbClr val="F5A000"/>
                </a:solidFill>
                <a:latin typeface="Open Sauce Medium"/>
                <a:ea typeface="Open Sauce Medium"/>
                <a:cs typeface="Open Sauce Medium"/>
              </a:rPr>
              <a:t>PROPOSED USER EVALUATION</a:t>
            </a:r>
          </a:p>
        </p:txBody>
      </p:sp>
      <p:sp>
        <p:nvSpPr>
          <p:cNvPr id="8" name="s16-text-5">
            <a:extLst xmlns:a="http://schemas.openxmlformats.org/drawingml/2006/main">
              <a:ext uri="{FF2B5EF4-FFF2-40B4-BE49-F238E27FC236}">
                <a16:creationId xmlns:a16="http://schemas.microsoft.com/office/drawing/2014/main" id="{75FB554C-F793-4FAB-AE13-EE8C039AEF0F}"/>
              </a:ext>
            </a:extLst>
          </p:cNvPr>
          <p:cNvSpPr>
            <a:spLocks xmlns:a="http://schemas.openxmlformats.org/drawingml/2006/main" noGrp="1"/>
          </p:cNvSpPr>
          <p:nvPr/>
        </p:nvSpPr>
        <p:spPr>
          <a:xfrm xmlns:a="http://schemas.openxmlformats.org/drawingml/2006/main">
            <a:off x="1028700" y="36671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Participants and tasks</a:t>
            </a:r>
          </a:p>
        </p:txBody>
      </p:sp>
      <p:sp>
        <p:nvSpPr>
          <p:cNvPr id="9" name="s16-text-6">
            <a:extLst xmlns:a="http://schemas.openxmlformats.org/drawingml/2006/main">
              <a:ext uri="{FF2B5EF4-FFF2-40B4-BE49-F238E27FC236}">
                <a16:creationId xmlns:a16="http://schemas.microsoft.com/office/drawing/2014/main" id="{90734313-41B2-4EF0-900D-3C4738F501AC}"/>
              </a:ext>
            </a:extLst>
          </p:cNvPr>
          <p:cNvSpPr>
            <a:spLocks xmlns:a="http://schemas.openxmlformats.org/drawingml/2006/main" noGrp="1"/>
          </p:cNvSpPr>
          <p:nvPr/>
        </p:nvSpPr>
        <p:spPr>
          <a:xfrm xmlns:a="http://schemas.openxmlformats.org/drawingml/2006/main">
            <a:off x="1028700" y="4352925"/>
            <a:ext cx="762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Invite non-team participants and, where feasible, users who experience difficulty reading signs. Use a stationary demonstration.</a:t>
            </a:r>
          </a:p>
        </p:txBody>
      </p:sp>
      <p:sp>
        <p:nvSpPr>
          <p:cNvPr id="10" name="s16-text-7">
            <a:extLst xmlns:a="http://schemas.openxmlformats.org/drawingml/2006/main">
              <a:ext uri="{FF2B5EF4-FFF2-40B4-BE49-F238E27FC236}">
                <a16:creationId xmlns:a16="http://schemas.microsoft.com/office/drawing/2014/main" id="{25F46880-E01F-440F-93E7-7615007CBABB}"/>
              </a:ext>
            </a:extLst>
          </p:cNvPr>
          <p:cNvSpPr>
            <a:spLocks xmlns:a="http://schemas.openxmlformats.org/drawingml/2006/main" noGrp="1"/>
          </p:cNvSpPr>
          <p:nvPr/>
        </p:nvSpPr>
        <p:spPr>
          <a:xfrm xmlns:a="http://schemas.openxmlformats.org/drawingml/2006/main">
            <a:off x="9715500" y="36671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What we will measure</a:t>
            </a:r>
          </a:p>
        </p:txBody>
      </p:sp>
      <p:sp>
        <p:nvSpPr>
          <p:cNvPr id="11" name="s16-text-8">
            <a:extLst xmlns:a="http://schemas.openxmlformats.org/drawingml/2006/main">
              <a:ext uri="{FF2B5EF4-FFF2-40B4-BE49-F238E27FC236}">
                <a16:creationId xmlns:a16="http://schemas.microsoft.com/office/drawing/2014/main" id="{30B38920-C1EB-48A2-B223-16F21F5A2F4B}"/>
              </a:ext>
            </a:extLst>
          </p:cNvPr>
          <p:cNvSpPr>
            <a:spLocks xmlns:a="http://schemas.openxmlformats.org/drawingml/2006/main" noGrp="1"/>
          </p:cNvSpPr>
          <p:nvPr/>
        </p:nvSpPr>
        <p:spPr>
          <a:xfrm xmlns:a="http://schemas.openxmlformats.org/drawingml/2006/main">
            <a:off x="9715500" y="4352925"/>
            <a:ext cx="762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Task completion, spoken-message clarity, repeat-message burden, readability and time to understand the result.</a:t>
            </a:r>
          </a:p>
        </p:txBody>
      </p:sp>
      <p:sp>
        <p:nvSpPr>
          <p:cNvPr id="12" name="s16-text-9">
            <a:extLst xmlns:a="http://schemas.openxmlformats.org/drawingml/2006/main">
              <a:ext uri="{FF2B5EF4-FFF2-40B4-BE49-F238E27FC236}">
                <a16:creationId xmlns:a16="http://schemas.microsoft.com/office/drawing/2014/main" id="{141876CB-0BD7-4260-8E36-EA5FE219D006}"/>
              </a:ext>
            </a:extLst>
          </p:cNvPr>
          <p:cNvSpPr>
            <a:spLocks xmlns:a="http://schemas.openxmlformats.org/drawingml/2006/main" noGrp="1"/>
          </p:cNvSpPr>
          <p:nvPr/>
        </p:nvSpPr>
        <p:spPr>
          <a:xfrm xmlns:a="http://schemas.openxmlformats.org/drawingml/2006/main">
            <a:off x="1028700" y="70485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F5A000"/>
                </a:solidFill>
                <a:latin typeface="Open Sauce Medium"/>
                <a:ea typeface="Open Sauce Medium"/>
                <a:cs typeface="Open Sauce Medium"/>
              </a:defRPr>
            </a:pPr>
            <a:r>
              <a:rPr sz="2925" b="1">
                <a:solidFill>
                  <a:srgbClr val="F5A000"/>
                </a:solidFill>
                <a:latin typeface="Open Sauce Medium"/>
                <a:ea typeface="Open Sauce Medium"/>
                <a:cs typeface="Open Sauce Medium"/>
              </a:rPr>
              <a:t>Short procedure</a:t>
            </a:r>
          </a:p>
        </p:txBody>
      </p:sp>
      <p:sp>
        <p:nvSpPr>
          <p:cNvPr id="13" name="s16-text-10">
            <a:extLst xmlns:a="http://schemas.openxmlformats.org/drawingml/2006/main">
              <a:ext uri="{FF2B5EF4-FFF2-40B4-BE49-F238E27FC236}">
                <a16:creationId xmlns:a16="http://schemas.microsoft.com/office/drawing/2014/main" id="{2F86D7F9-BAEF-4078-B11F-3AF0B87177BC}"/>
              </a:ext>
            </a:extLst>
          </p:cNvPr>
          <p:cNvSpPr>
            <a:spLocks xmlns:a="http://schemas.openxmlformats.org/drawingml/2006/main" noGrp="1"/>
          </p:cNvSpPr>
          <p:nvPr/>
        </p:nvSpPr>
        <p:spPr>
          <a:xfrm xmlns:a="http://schemas.openxmlformats.org/drawingml/2006/main">
            <a:off x="1028700" y="7858125"/>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0">
                <a:solidFill>
                  <a:srgbClr val="212B21"/>
                </a:solidFill>
                <a:latin typeface="Open Sauce"/>
                <a:ea typeface="Open Sauce"/>
                <a:cs typeface="Open Sauce"/>
              </a:defRPr>
            </a:pPr>
            <a:r>
              <a:rPr sz="2775" b="0">
                <a:solidFill>
                  <a:srgbClr val="212B21"/>
                </a:solidFill>
                <a:latin typeface="Open Sauce"/>
                <a:ea typeface="Open Sauce"/>
                <a:cs typeface="Open Sauce"/>
              </a:rPr>
              <a:t>Upload a sign, listen to the result, explain its meaning, then rate the experience and suggest improvements.</a:t>
            </a:r>
          </a:p>
        </p:txBody>
      </p:sp>
      <p:sp>
        <p:nvSpPr>
          <p:cNvPr id="14" name="s16-text-11">
            <a:extLst xmlns:a="http://schemas.openxmlformats.org/drawingml/2006/main">
              <a:ext uri="{FF2B5EF4-FFF2-40B4-BE49-F238E27FC236}">
                <a16:creationId xmlns:a16="http://schemas.microsoft.com/office/drawing/2014/main" id="{EC3F04A2-F9AE-44B1-B5F8-B57D73208295}"/>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Planned evaluation. No participant results are reported.</a:t>
            </a:r>
          </a:p>
        </p:txBody>
      </p:sp>
      <p:sp>
        <p:nvSpPr>
          <p:cNvPr id="15" name="s16-text-12">
            <a:extLst xmlns:a="http://schemas.openxmlformats.org/drawingml/2006/main">
              <a:ext uri="{FF2B5EF4-FFF2-40B4-BE49-F238E27FC236}">
                <a16:creationId xmlns:a16="http://schemas.microsoft.com/office/drawing/2014/main" id="{DA5F6094-8FC8-4845-B078-FD6E5C162AE9}"/>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16</a:t>
            </a:r>
          </a:p>
        </p:txBody>
      </p:sp>
    </p:spTree>
    <p:extLst>
      <p:ext uri="{BB962C8B-B14F-4D97-AF65-F5344CB8AC3E}">
        <p14:creationId xmlns:p14="http://schemas.microsoft.com/office/powerpoint/2010/main" val="1645689137"/>
      </p:ext>
    </p:extLst>
  </p:cSld>
</p:sld>
</file>

<file path=ppt/slides/slide17.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2b307e5adcdb4def">
              <a:extLst>
                <a:ext uri="{96DAC541-7B7A-43D3-8B79-37D633B846F1}">
                  <asvg:svgBlip xmlns:asvg="http://schemas.microsoft.com/office/drawing/2016/SVG/main" r:embed="R6b7ce47715c3494f"/>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5.1 LIMITATIONS AND IMPROVEMENTS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Crystalina Dibble</a:t>
            </a:r>
          </a:p>
        </p:txBody>
      </p:sp>
      <p:graphicFrame>
        <p:nvGraphicFramePr>
          <p:cNvPr id="14" name=""/>
          <p:cNvGraphicFramePr/>
          <p:nvPr/>
        </p:nvGraphicFramePr>
        <p:xfrm>
          <a:off xmlns:a="http://schemas.openxmlformats.org/drawingml/2006/main" x="1028700" y="2952750"/>
          <a:ext xmlns:a="http://schemas.openxmlformats.org/drawingml/2006/main" cx="16192500" cy="5905500"/>
        </p:xfrm>
        <a:graphic xmlns:a="http://schemas.openxmlformats.org/drawingml/2006/main">
          <a:graphicData uri="http://schemas.openxmlformats.org/drawingml/2006/table">
            <a:tbl>
              <a:tblPr/>
              <a:tblGrid>
                <a:gridCol w="5905500"/>
                <a:gridCol w="10287000"/>
              </a:tblGrid>
              <a:tr h="984250">
                <a:tc>
                  <a:txBody>
                    <a:bodyPr/>
                    <a:lstStyle/>
                    <a:p>
                      <a:r>
                        <a:rPr sz="2400" b="1">
                          <a:solidFill>
                            <a:srgbClr val="FFFFFF"/>
                          </a:solidFill>
                          <a:latin typeface="Open Sauce"/>
                          <a:ea typeface="Open Sauce"/>
                          <a:cs typeface="Open Sauce"/>
                        </a:rPr>
                        <a:t>Current limitation</a:t>
                      </a:r>
                    </a:p>
                  </a:txBody>
                  <a:tcPr marL="91440" marR="91440" marT="45720" marB="45720">
                    <a:solidFill>
                      <a:srgbClr val="212B21"/>
                    </a:solidFill>
                  </a:tcPr>
                </a:tc>
                <a:tc>
                  <a:txBody>
                    <a:bodyPr/>
                    <a:lstStyle/>
                    <a:p>
                      <a:r>
                        <a:rPr sz="2400" b="1">
                          <a:solidFill>
                            <a:srgbClr val="FFFFFF"/>
                          </a:solidFill>
                          <a:latin typeface="Open Sauce"/>
                          <a:ea typeface="Open Sauce"/>
                          <a:cs typeface="Open Sauce"/>
                        </a:rPr>
                        <a:t>Next improvement</a:t>
                      </a:r>
                    </a:p>
                  </a:txBody>
                  <a:tcPr marL="91440" marR="91440" marT="45720" marB="45720">
                    <a:solidFill>
                      <a:srgbClr val="212B21"/>
                    </a:solidFill>
                  </a:tcPr>
                </a:tc>
              </a:tr>
              <a:tr h="984250">
                <a:tc>
                  <a:txBody>
                    <a:bodyPr/>
                    <a:lstStyle/>
                    <a:p>
                      <a:r>
                        <a:rPr sz="2400" b="0">
                          <a:solidFill>
                            <a:srgbClr val="212B21"/>
                          </a:solidFill>
                          <a:latin typeface="Open Sauce"/>
                          <a:ea typeface="Open Sauce"/>
                          <a:cs typeface="Open Sauce"/>
                        </a:rPr>
                        <a:t>Limited real-world evidence</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Test blur, night, glare, occlusion and unsupported signs</a:t>
                      </a:r>
                    </a:p>
                  </a:txBody>
                  <a:tcPr marL="91440" marR="91440" marT="45720" marB="45720">
                    <a:solidFill>
                      <a:srgbClr val="F1F0E7"/>
                    </a:solidFill>
                  </a:tcPr>
                </a:tc>
              </a:tr>
              <a:tr h="984250">
                <a:tc>
                  <a:txBody>
                    <a:bodyPr/>
                    <a:lstStyle/>
                    <a:p>
                      <a:r>
                        <a:rPr sz="2400" b="0">
                          <a:solidFill>
                            <a:srgbClr val="212B21"/>
                          </a:solidFill>
                          <a:latin typeface="Open Sauce"/>
                          <a:ea typeface="Open Sauce"/>
                          <a:cs typeface="Open Sauce"/>
                        </a:rPr>
                        <a:t>Laptop and internet dependence</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Evaluate on-device inference and a persistent host</a:t>
                      </a:r>
                    </a:p>
                  </a:txBody>
                  <a:tcPr marL="91440" marR="91440" marT="45720" marB="45720">
                    <a:solidFill>
                      <a:srgbClr val="FFFDFA"/>
                    </a:solidFill>
                  </a:tcPr>
                </a:tc>
              </a:tr>
              <a:tr h="984250">
                <a:tc>
                  <a:txBody>
                    <a:bodyPr/>
                    <a:lstStyle/>
                    <a:p>
                      <a:r>
                        <a:rPr sz="2400" b="0">
                          <a:solidFill>
                            <a:srgbClr val="212B21"/>
                          </a:solidFill>
                          <a:latin typeface="Open Sauce"/>
                          <a:ea typeface="Open Sauce"/>
                          <a:cs typeface="Open Sauce"/>
                        </a:rPr>
                        <a:t>Accessibility still unvalidated</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Co-design controls, contrast and speech with target users</a:t>
                      </a:r>
                    </a:p>
                  </a:txBody>
                  <a:tcPr marL="91440" marR="91440" marT="45720" marB="45720">
                    <a:solidFill>
                      <a:srgbClr val="F1F0E7"/>
                    </a:solidFill>
                  </a:tcPr>
                </a:tc>
              </a:tr>
              <a:tr h="984250">
                <a:tc>
                  <a:txBody>
                    <a:bodyPr/>
                    <a:lstStyle/>
                    <a:p>
                      <a:r>
                        <a:rPr sz="2400" b="0">
                          <a:solidFill>
                            <a:srgbClr val="212B21"/>
                          </a:solidFill>
                          <a:latin typeface="Open Sauce"/>
                          <a:ea typeface="Open Sauce"/>
                          <a:cs typeface="Open Sauce"/>
                        </a:rPr>
                        <a:t>Crowded scenes and small signs</a:t>
                      </a:r>
                    </a:p>
                  </a:txBody>
                  <a:tcPr marL="91440" marR="91440" marT="45720" marB="45720">
                    <a:solidFill>
                      <a:srgbClr val="FFFDFA"/>
                    </a:solidFill>
                  </a:tcPr>
                </a:tc>
                <a:tc>
                  <a:txBody>
                    <a:bodyPr/>
                    <a:lstStyle/>
                    <a:p>
                      <a:r>
                        <a:rPr sz="2400" b="0">
                          <a:solidFill>
                            <a:srgbClr val="212B21"/>
                          </a:solidFill>
                          <a:latin typeface="Open Sauce"/>
                          <a:ea typeface="Open Sauce"/>
                          <a:cs typeface="Open Sauce"/>
                        </a:rPr>
                        <a:t>Collect multi-sign scenes and evaluate larger input sizes</a:t>
                      </a:r>
                    </a:p>
                  </a:txBody>
                  <a:tcPr marL="91440" marR="91440" marT="45720" marB="45720">
                    <a:solidFill>
                      <a:srgbClr val="FFFDFA"/>
                    </a:solidFill>
                  </a:tcPr>
                </a:tc>
              </a:tr>
              <a:tr h="984250">
                <a:tc>
                  <a:txBody>
                    <a:bodyPr/>
                    <a:lstStyle/>
                    <a:p>
                      <a:r>
                        <a:rPr sz="2400" b="0">
                          <a:solidFill>
                            <a:srgbClr val="212B21"/>
                          </a:solidFill>
                          <a:latin typeface="Open Sauce"/>
                          <a:ea typeface="Open Sauce"/>
                          <a:cs typeface="Open Sauce"/>
                        </a:rPr>
                        <a:t>Uneven training examples</a:t>
                      </a:r>
                    </a:p>
                  </a:txBody>
                  <a:tcPr marL="91440" marR="91440" marT="45720" marB="45720">
                    <a:solidFill>
                      <a:srgbClr val="F1F0E7"/>
                    </a:solidFill>
                  </a:tcPr>
                </a:tc>
                <a:tc>
                  <a:txBody>
                    <a:bodyPr/>
                    <a:lstStyle/>
                    <a:p>
                      <a:r>
                        <a:rPr sz="2400" b="0">
                          <a:solidFill>
                            <a:srgbClr val="212B21"/>
                          </a:solidFill>
                          <a:latin typeface="Open Sauce"/>
                          <a:ea typeface="Open Sauce"/>
                          <a:cs typeface="Open Sauce"/>
                        </a:rPr>
                        <a:t>Add rare classes and negative scenes, then re-evaluate</a:t>
                      </a:r>
                    </a:p>
                  </a:txBody>
                  <a:tcPr marL="91440" marR="91440" marT="45720" marB="45720">
                    <a:solidFill>
                      <a:srgbClr val="F1F0E7"/>
                    </a:solidFill>
                  </a:tcPr>
                </a:tc>
              </a:tr>
            </a:tbl>
          </a:graphicData>
        </a:graphic>
      </p:graphicFrame>
      <p:sp>
        <p:nvSpPr>
          <p:cNvPr id="8" name="s17-text-4">
            <a:extLst xmlns:a="http://schemas.openxmlformats.org/drawingml/2006/main">
              <a:ext uri="{FF2B5EF4-FFF2-40B4-BE49-F238E27FC236}">
                <a16:creationId xmlns:a16="http://schemas.microsoft.com/office/drawing/2014/main" id="{2E29D2C6-3D89-41BC-96BC-C4AF5819542B}"/>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Performance and usability improvements need evaluation on the same held-out and realistic camera sets.</a:t>
            </a:r>
          </a:p>
        </p:txBody>
      </p:sp>
      <p:sp>
        <p:nvSpPr>
          <p:cNvPr id="9" name="s17-text-5">
            <a:extLst xmlns:a="http://schemas.openxmlformats.org/drawingml/2006/main">
              <a:ext uri="{FF2B5EF4-FFF2-40B4-BE49-F238E27FC236}">
                <a16:creationId xmlns:a16="http://schemas.microsoft.com/office/drawing/2014/main" id="{3BA6DE86-6454-48AF-AB7D-AF3D6A4ABFB1}"/>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17</a:t>
            </a:r>
          </a:p>
        </p:txBody>
      </p:sp>
    </p:spTree>
    <p:extLst>
      <p:ext uri="{BB962C8B-B14F-4D97-AF65-F5344CB8AC3E}">
        <p14:creationId xmlns:p14="http://schemas.microsoft.com/office/powerpoint/2010/main" val="170433106"/>
      </p:ext>
    </p:extLst>
  </p:cSld>
</p:sld>
</file>

<file path=ppt/slides/slide18.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b456f09f42784cda">
              <a:extLst>
                <a:ext uri="{96DAC541-7B7A-43D3-8B79-37D633B846F1}">
                  <asvg:svgBlip xmlns:asvg="http://schemas.microsoft.com/office/drawing/2016/SVG/main" r:embed="R4be8b1982de64754"/>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5.2 CONCLUSION</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Aedan Loh</a:t>
            </a:r>
          </a:p>
        </p:txBody>
      </p:sp>
      <p:sp>
        <p:nvSpPr>
          <p:cNvPr id="7" name="s18-text-4">
            <a:extLst xmlns:a="http://schemas.openxmlformats.org/drawingml/2006/main">
              <a:ext uri="{FF2B5EF4-FFF2-40B4-BE49-F238E27FC236}">
                <a16:creationId xmlns:a16="http://schemas.microsoft.com/office/drawing/2014/main" id="{812D4083-C126-4C34-84A2-263E5575BBBE}"/>
              </a:ext>
            </a:extLst>
          </p:cNvPr>
          <p:cNvSpPr>
            <a:spLocks xmlns:a="http://schemas.openxmlformats.org/drawingml/2006/main" noGrp="1"/>
          </p:cNvSpPr>
          <p:nvPr/>
        </p:nvSpPr>
        <p:spPr>
          <a:xfrm xmlns:a="http://schemas.openxmlformats.org/drawingml/2006/main">
            <a:off x="1028700" y="2857500"/>
            <a:ext cx="1562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1">
                <a:solidFill>
                  <a:srgbClr val="212B21"/>
                </a:solidFill>
                <a:latin typeface="Open Sauce Medium"/>
                <a:ea typeface="Open Sauce Medium"/>
                <a:cs typeface="Open Sauce Medium"/>
              </a:defRPr>
            </a:pPr>
            <a:r>
              <a:rPr sz="4875" b="1">
                <a:solidFill>
                  <a:srgbClr val="212B21"/>
                </a:solidFill>
                <a:latin typeface="Open Sauce Medium"/>
                <a:ea typeface="Open Sauce Medium"/>
                <a:cs typeface="Open Sauce Medium"/>
              </a:rPr>
              <a:t>Sign recognition connected to spoken information</a:t>
            </a:r>
          </a:p>
        </p:txBody>
      </p:sp>
      <p:sp>
        <p:nvSpPr>
          <p:cNvPr id="8" name="s18-text-5">
            <a:extLst xmlns:a="http://schemas.openxmlformats.org/drawingml/2006/main">
              <a:ext uri="{FF2B5EF4-FFF2-40B4-BE49-F238E27FC236}">
                <a16:creationId xmlns:a16="http://schemas.microsoft.com/office/drawing/2014/main" id="{AB5ED982-6968-4372-936A-F6C2D7A6CA13}"/>
              </a:ext>
            </a:extLst>
          </p:cNvPr>
          <p:cNvSpPr>
            <a:spLocks xmlns:a="http://schemas.openxmlformats.org/drawingml/2006/main" noGrp="1"/>
          </p:cNvSpPr>
          <p:nvPr/>
        </p:nvSpPr>
        <p:spPr>
          <a:xfrm xmlns:a="http://schemas.openxmlformats.org/drawingml/2006/main">
            <a:off x="1028700" y="50006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Working prototype</a:t>
            </a:r>
          </a:p>
        </p:txBody>
      </p:sp>
      <p:sp>
        <p:nvSpPr>
          <p:cNvPr id="9" name="s18-text-6">
            <a:extLst xmlns:a="http://schemas.openxmlformats.org/drawingml/2006/main">
              <a:ext uri="{FF2B5EF4-FFF2-40B4-BE49-F238E27FC236}">
                <a16:creationId xmlns:a16="http://schemas.microsoft.com/office/drawing/2014/main" id="{95F27587-D88F-4B8F-9DA1-35EF86AEFAFA}"/>
              </a:ext>
            </a:extLst>
          </p:cNvPr>
          <p:cNvSpPr>
            <a:spLocks xmlns:a="http://schemas.openxmlformats.org/drawingml/2006/main" noGrp="1"/>
          </p:cNvSpPr>
          <p:nvPr/>
        </p:nvSpPr>
        <p:spPr>
          <a:xfrm xmlns:a="http://schemas.openxmlformats.org/drawingml/2006/main">
            <a:off x="1028700" y="5686425"/>
            <a:ext cx="762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YOLO26s, OpenVINO, OCR and a browser interface form one functioning pipeline.</a:t>
            </a:r>
          </a:p>
        </p:txBody>
      </p:sp>
      <p:sp>
        <p:nvSpPr>
          <p:cNvPr id="10" name="s18-text-7">
            <a:extLst xmlns:a="http://schemas.openxmlformats.org/drawingml/2006/main">
              <a:ext uri="{FF2B5EF4-FFF2-40B4-BE49-F238E27FC236}">
                <a16:creationId xmlns:a16="http://schemas.microsoft.com/office/drawing/2014/main" id="{55AD8725-2C83-4C49-AEBD-06BCD2D5F34C}"/>
              </a:ext>
            </a:extLst>
          </p:cNvPr>
          <p:cNvSpPr>
            <a:spLocks xmlns:a="http://schemas.openxmlformats.org/drawingml/2006/main" noGrp="1"/>
          </p:cNvSpPr>
          <p:nvPr/>
        </p:nvSpPr>
        <p:spPr>
          <a:xfrm xmlns:a="http://schemas.openxmlformats.org/drawingml/2006/main">
            <a:off x="9715500" y="50006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F5A000"/>
                </a:solidFill>
                <a:latin typeface="Open Sauce Medium"/>
                <a:ea typeface="Open Sauce Medium"/>
                <a:cs typeface="Open Sauce Medium"/>
              </a:defRPr>
            </a:pPr>
            <a:r>
              <a:rPr sz="3150" b="1">
                <a:solidFill>
                  <a:srgbClr val="F5A000"/>
                </a:solidFill>
                <a:latin typeface="Open Sauce Medium"/>
                <a:ea typeface="Open Sauce Medium"/>
                <a:cs typeface="Open Sauce Medium"/>
              </a:rPr>
              <a:t>Measured outcome</a:t>
            </a:r>
          </a:p>
        </p:txBody>
      </p:sp>
      <p:sp>
        <p:nvSpPr>
          <p:cNvPr id="11" name="s18-text-8">
            <a:extLst xmlns:a="http://schemas.openxmlformats.org/drawingml/2006/main">
              <a:ext uri="{FF2B5EF4-FFF2-40B4-BE49-F238E27FC236}">
                <a16:creationId xmlns:a16="http://schemas.microsoft.com/office/drawing/2014/main" id="{054A037C-7B4F-4C7C-9469-19950BFF24E8}"/>
              </a:ext>
            </a:extLst>
          </p:cNvPr>
          <p:cNvSpPr>
            <a:spLocks xmlns:a="http://schemas.openxmlformats.org/drawingml/2006/main" noGrp="1"/>
          </p:cNvSpPr>
          <p:nvPr/>
        </p:nvSpPr>
        <p:spPr>
          <a:xfrm xmlns:a="http://schemas.openxmlformats.org/drawingml/2006/main">
            <a:off x="9715500" y="5686425"/>
            <a:ext cx="752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212B21"/>
                </a:solidFill>
                <a:latin typeface="Open Sauce"/>
                <a:ea typeface="Open Sauce"/>
                <a:cs typeface="Open Sauce"/>
              </a:defRPr>
            </a:pPr>
            <a:r>
              <a:rPr sz="2700" b="0">
                <a:solidFill>
                  <a:srgbClr val="212B21"/>
                </a:solidFill>
                <a:latin typeface="Open Sauce"/>
                <a:ea typeface="Open Sauce"/>
                <a:cs typeface="Open Sauce"/>
              </a:rPr>
              <a:t>93.86% mAP@0.5 on the final held-out test and 84 / 84 expected top classes in the reviewed check.</a:t>
            </a:r>
          </a:p>
        </p:txBody>
      </p:sp>
      <p:sp>
        <p:nvSpPr>
          <p:cNvPr id="12" name="s18-text-9">
            <a:extLst xmlns:a="http://schemas.openxmlformats.org/drawingml/2006/main">
              <a:ext uri="{FF2B5EF4-FFF2-40B4-BE49-F238E27FC236}">
                <a16:creationId xmlns:a16="http://schemas.microsoft.com/office/drawing/2014/main" id="{A5D82DF4-94CD-41F2-A950-287DF1A11DA0}"/>
              </a:ext>
            </a:extLst>
          </p:cNvPr>
          <p:cNvSpPr>
            <a:spLocks xmlns:a="http://schemas.openxmlformats.org/drawingml/2006/main" noGrp="1"/>
          </p:cNvSpPr>
          <p:nvPr/>
        </p:nvSpPr>
        <p:spPr>
          <a:xfrm xmlns:a="http://schemas.openxmlformats.org/drawingml/2006/main">
            <a:off x="1028700" y="7953375"/>
            <a:ext cx="1562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a:solidFill>
                  <a:srgbClr val="F5A000"/>
                </a:solidFill>
                <a:latin typeface="Open Sauce Medium"/>
                <a:ea typeface="Open Sauce Medium"/>
                <a:cs typeface="Open Sauce Medium"/>
              </a:defRPr>
            </a:pPr>
            <a:r>
              <a:rPr sz="3000" b="1">
                <a:solidFill>
                  <a:srgbClr val="F5A000"/>
                </a:solidFill>
                <a:latin typeface="Open Sauce Medium"/>
                <a:ea typeface="Open Sauce Medium"/>
                <a:cs typeface="Open Sauce Medium"/>
              </a:rPr>
              <a:t>Next priority: validate useful, understandable speech with target users and improve difficult-scene detection.</a:t>
            </a:r>
          </a:p>
        </p:txBody>
      </p:sp>
      <p:sp>
        <p:nvSpPr>
          <p:cNvPr id="13" name="s18-text-10">
            <a:extLst xmlns:a="http://schemas.openxmlformats.org/drawingml/2006/main">
              <a:ext uri="{FF2B5EF4-FFF2-40B4-BE49-F238E27FC236}">
                <a16:creationId xmlns:a16="http://schemas.microsoft.com/office/drawing/2014/main" id="{9B06580F-8609-4532-AA58-FE9675EC8015}"/>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The current result supports a prototype demonstration, not independent navigation or a vehicle-safety claim.</a:t>
            </a:r>
          </a:p>
        </p:txBody>
      </p:sp>
      <p:sp>
        <p:nvSpPr>
          <p:cNvPr id="14" name="s18-text-11">
            <a:extLst xmlns:a="http://schemas.openxmlformats.org/drawingml/2006/main">
              <a:ext uri="{FF2B5EF4-FFF2-40B4-BE49-F238E27FC236}">
                <a16:creationId xmlns:a16="http://schemas.microsoft.com/office/drawing/2014/main" id="{5026C892-92AE-451A-8610-C7736FA9B227}"/>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18</a:t>
            </a:r>
          </a:p>
        </p:txBody>
      </p:sp>
    </p:spTree>
    <p:extLst>
      <p:ext uri="{BB962C8B-B14F-4D97-AF65-F5344CB8AC3E}">
        <p14:creationId xmlns:p14="http://schemas.microsoft.com/office/powerpoint/2010/main" val="1820917256"/>
      </p:ext>
    </p:extLst>
  </p:cSld>
</p:sld>
</file>

<file path=ppt/slides/slide19.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0d44952563c34c52">
              <a:extLst>
                <a:ext uri="{96DAC541-7B7A-43D3-8B79-37D633B846F1}">
                  <asvg:svgBlip xmlns:asvg="http://schemas.microsoft.com/office/drawing/2016/SVG/main" r:embed="Rd9982c9c9af84fb6"/>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DEMONSTRATION</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Tan Hui Min</a:t>
            </a:r>
          </a:p>
        </p:txBody>
      </p:sp>
      <p:sp>
        <p:nvSpPr>
          <p:cNvPr id="7" name="s19-text-4">
            <a:extLst xmlns:a="http://schemas.openxmlformats.org/drawingml/2006/main">
              <a:ext uri="{FF2B5EF4-FFF2-40B4-BE49-F238E27FC236}">
                <a16:creationId xmlns:a16="http://schemas.microsoft.com/office/drawing/2014/main" id="{E9B5A126-049C-4B96-99C9-0241DBAB46D4}"/>
              </a:ext>
            </a:extLst>
          </p:cNvPr>
          <p:cNvSpPr>
            <a:spLocks xmlns:a="http://schemas.openxmlformats.org/drawingml/2006/main" noGrp="1"/>
          </p:cNvSpPr>
          <p:nvPr/>
        </p:nvSpPr>
        <p:spPr>
          <a:xfrm xmlns:a="http://schemas.openxmlformats.org/drawingml/2006/main">
            <a:off x="1028700" y="295275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5A000"/>
                </a:solidFill>
                <a:latin typeface="Open Sauce Medium"/>
                <a:ea typeface="Open Sauce Medium"/>
                <a:cs typeface="Open Sauce Medium"/>
              </a:defRPr>
            </a:pPr>
            <a:r>
              <a:rPr sz="5250" b="1">
                <a:solidFill>
                  <a:srgbClr val="F5A000"/>
                </a:solidFill>
                <a:latin typeface="Open Sauce Medium"/>
                <a:ea typeface="Open Sauce Medium"/>
                <a:cs typeface="Open Sauce Medium"/>
              </a:rPr>
              <a:t>1–2 minutes</a:t>
            </a:r>
          </a:p>
        </p:txBody>
      </p:sp>
      <p:sp>
        <p:nvSpPr>
          <p:cNvPr id="8" name="s19-text-5">
            <a:extLst xmlns:a="http://schemas.openxmlformats.org/drawingml/2006/main">
              <a:ext uri="{FF2B5EF4-FFF2-40B4-BE49-F238E27FC236}">
                <a16:creationId xmlns:a16="http://schemas.microsoft.com/office/drawing/2014/main" id="{5927B2C6-80D1-4455-B41A-1E3D6C347C5F}"/>
              </a:ext>
            </a:extLst>
          </p:cNvPr>
          <p:cNvSpPr>
            <a:spLocks xmlns:a="http://schemas.openxmlformats.org/drawingml/2006/main" noGrp="1"/>
          </p:cNvSpPr>
          <p:nvPr/>
        </p:nvSpPr>
        <p:spPr>
          <a:xfrm xmlns:a="http://schemas.openxmlformats.org/drawingml/2006/main">
            <a:off x="1028700" y="4095750"/>
            <a:ext cx="781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825" b="1">
                <a:solidFill>
                  <a:srgbClr val="212B21"/>
                </a:solidFill>
                <a:latin typeface="Open Sauce Medium"/>
                <a:ea typeface="Open Sauce Medium"/>
                <a:cs typeface="Open Sauce Medium"/>
              </a:defRPr>
            </a:pPr>
            <a:r>
              <a:rPr sz="3825" b="1">
                <a:solidFill>
                  <a:srgbClr val="212B21"/>
                </a:solidFill>
                <a:latin typeface="Open Sauce Medium"/>
                <a:ea typeface="Open Sauce Medium"/>
                <a:cs typeface="Open Sauce Medium"/>
              </a:rPr>
              <a:t>School-zone video</a:t>
            </a:r>
          </a:p>
        </p:txBody>
      </p:sp>
      <p:sp>
        <p:nvSpPr>
          <p:cNvPr id="9" name="s19-text-6">
            <a:extLst xmlns:a="http://schemas.openxmlformats.org/drawingml/2006/main">
              <a:ext uri="{FF2B5EF4-FFF2-40B4-BE49-F238E27FC236}">
                <a16:creationId xmlns:a16="http://schemas.microsoft.com/office/drawing/2014/main" id="{B6410CC8-FAEA-4DB7-B4E7-FD1D7BB50760}"/>
              </a:ext>
            </a:extLst>
          </p:cNvPr>
          <p:cNvSpPr>
            <a:spLocks xmlns:a="http://schemas.openxmlformats.org/drawingml/2006/main" noGrp="1"/>
          </p:cNvSpPr>
          <p:nvPr/>
        </p:nvSpPr>
        <p:spPr>
          <a:xfrm xmlns:a="http://schemas.openxmlformats.org/drawingml/2006/main">
            <a:off x="1028700" y="5286375"/>
            <a:ext cx="752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0">
                <a:solidFill>
                  <a:srgbClr val="212B21"/>
                </a:solidFill>
                <a:latin typeface="Open Sauce"/>
                <a:ea typeface="Open Sauce"/>
                <a:cs typeface="Open Sauce"/>
              </a:defRPr>
            </a:pPr>
            <a:r>
              <a:rPr sz="3000" b="0">
                <a:solidFill>
                  <a:srgbClr val="212B21"/>
                </a:solidFill>
                <a:latin typeface="Open Sauce"/>
                <a:ea typeface="Open Sauce"/>
                <a:cs typeface="Open Sauce"/>
              </a:rPr>
              <a:t>Recorded road scene with detection labels and spoken sign guidance.</a:t>
            </a:r>
          </a:p>
        </p:txBody>
      </p:sp>
      <p:sp>
        <p:nvSpPr>
          <p:cNvPr id="10" name="s19-text-7">
            <a:extLst xmlns:a="http://schemas.openxmlformats.org/drawingml/2006/main">
              <a:ext uri="{FF2B5EF4-FFF2-40B4-BE49-F238E27FC236}">
                <a16:creationId xmlns:a16="http://schemas.microsoft.com/office/drawing/2014/main" id="{17F22BDB-22A7-4148-B0EE-0D5E1A9A2FDB}"/>
              </a:ext>
            </a:extLst>
          </p:cNvPr>
          <p:cNvSpPr>
            <a:spLocks xmlns:a="http://schemas.openxmlformats.org/drawingml/2006/main" noGrp="1"/>
          </p:cNvSpPr>
          <p:nvPr/>
        </p:nvSpPr>
        <p:spPr>
          <a:xfrm xmlns:a="http://schemas.openxmlformats.org/drawingml/2006/main">
            <a:off x="9810750" y="2952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5A000"/>
                </a:solidFill>
                <a:latin typeface="Open Sauce Medium"/>
                <a:ea typeface="Open Sauce Medium"/>
                <a:cs typeface="Open Sauce Medium"/>
              </a:defRPr>
            </a:pPr>
            <a:r>
              <a:rPr sz="5250" b="1">
                <a:solidFill>
                  <a:srgbClr val="F5A000"/>
                </a:solidFill>
                <a:latin typeface="Open Sauce Medium"/>
                <a:ea typeface="Open Sauce Medium"/>
                <a:cs typeface="Open Sauce Medium"/>
              </a:rPr>
              <a:t>About 3 minutes</a:t>
            </a:r>
          </a:p>
        </p:txBody>
      </p:sp>
      <p:sp>
        <p:nvSpPr>
          <p:cNvPr id="11" name="s19-text-8">
            <a:extLst xmlns:a="http://schemas.openxmlformats.org/drawingml/2006/main">
              <a:ext uri="{FF2B5EF4-FFF2-40B4-BE49-F238E27FC236}">
                <a16:creationId xmlns:a16="http://schemas.microsoft.com/office/drawing/2014/main" id="{E8967585-18EE-4994-B936-FA24C0EC052F}"/>
              </a:ext>
            </a:extLst>
          </p:cNvPr>
          <p:cNvSpPr>
            <a:spLocks xmlns:a="http://schemas.openxmlformats.org/drawingml/2006/main" noGrp="1"/>
          </p:cNvSpPr>
          <p:nvPr/>
        </p:nvSpPr>
        <p:spPr>
          <a:xfrm xmlns:a="http://schemas.openxmlformats.org/drawingml/2006/main">
            <a:off x="9810750" y="4095750"/>
            <a:ext cx="714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825" b="1">
                <a:solidFill>
                  <a:srgbClr val="212B21"/>
                </a:solidFill>
                <a:latin typeface="Open Sauce Medium"/>
                <a:ea typeface="Open Sauce Medium"/>
                <a:cs typeface="Open Sauce Medium"/>
              </a:defRPr>
            </a:pPr>
            <a:r>
              <a:rPr sz="3825" b="1">
                <a:solidFill>
                  <a:srgbClr val="212B21"/>
                </a:solidFill>
                <a:latin typeface="Open Sauce Medium"/>
                <a:ea typeface="Open Sauce Medium"/>
                <a:cs typeface="Open Sauce Medium"/>
              </a:rPr>
              <a:t>Class-coverage demonstration</a:t>
            </a:r>
          </a:p>
        </p:txBody>
      </p:sp>
      <p:sp>
        <p:nvSpPr>
          <p:cNvPr id="12" name="s19-text-9">
            <a:extLst xmlns:a="http://schemas.openxmlformats.org/drawingml/2006/main">
              <a:ext uri="{FF2B5EF4-FFF2-40B4-BE49-F238E27FC236}">
                <a16:creationId xmlns:a16="http://schemas.microsoft.com/office/drawing/2014/main" id="{576B7EAF-9D4E-4D3A-833B-D28E5A5A42E8}"/>
              </a:ext>
            </a:extLst>
          </p:cNvPr>
          <p:cNvSpPr>
            <a:spLocks xmlns:a="http://schemas.openxmlformats.org/drawingml/2006/main" noGrp="1"/>
          </p:cNvSpPr>
          <p:nvPr/>
        </p:nvSpPr>
        <p:spPr>
          <a:xfrm xmlns:a="http://schemas.openxmlformats.org/drawingml/2006/main">
            <a:off x="9810750" y="5762625"/>
            <a:ext cx="714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0">
                <a:solidFill>
                  <a:srgbClr val="212B21"/>
                </a:solidFill>
                <a:latin typeface="Open Sauce"/>
                <a:ea typeface="Open Sauce"/>
                <a:cs typeface="Open Sauce"/>
              </a:defRPr>
            </a:pPr>
            <a:r>
              <a:rPr sz="3000" b="0">
                <a:solidFill>
                  <a:srgbClr val="212B21"/>
                </a:solidFill>
                <a:latin typeface="Open Sauce"/>
                <a:ea typeface="Open Sauce"/>
                <a:cs typeface="Open Sauce"/>
              </a:rPr>
              <a:t>Original sign examples with predicted class names, confidence values and selected speech output.</a:t>
            </a:r>
          </a:p>
        </p:txBody>
      </p:sp>
      <p:sp>
        <p:nvSpPr>
          <p:cNvPr id="13" name="s19-text-10">
            <a:extLst xmlns:a="http://schemas.openxmlformats.org/drawingml/2006/main">
              <a:ext uri="{FF2B5EF4-FFF2-40B4-BE49-F238E27FC236}">
                <a16:creationId xmlns:a16="http://schemas.microsoft.com/office/drawing/2014/main" id="{909B13AF-4899-435E-82DF-A6B894623C7C}"/>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Recorded demonstration and class examples</a:t>
            </a:r>
          </a:p>
        </p:txBody>
      </p:sp>
      <p:sp>
        <p:nvSpPr>
          <p:cNvPr id="14" name="s19-text-11">
            <a:extLst xmlns:a="http://schemas.openxmlformats.org/drawingml/2006/main">
              <a:ext uri="{FF2B5EF4-FFF2-40B4-BE49-F238E27FC236}">
                <a16:creationId xmlns:a16="http://schemas.microsoft.com/office/drawing/2014/main" id="{39579696-E32C-4BD6-A43F-B314E8C96776}"/>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19</a:t>
            </a:r>
          </a:p>
        </p:txBody>
      </p:sp>
    </p:spTree>
    <p:extLst>
      <p:ext uri="{BB962C8B-B14F-4D97-AF65-F5344CB8AC3E}">
        <p14:creationId xmlns:p14="http://schemas.microsoft.com/office/powerpoint/2010/main" val="1528454778"/>
      </p:ext>
    </p:extLst>
  </p:cSld>
</p:sld>
</file>

<file path=ppt/slides/slide20.xml><?xml version="1.0" encoding="utf-8"?>
<p:sld xmlns:p="http://schemas.openxmlformats.org/presentationml/2006/main">
  <p:cSld>
    <p:bg>
      <p:bgPr>
        <a:solidFill xmlns:a="http://schemas.openxmlformats.org/drawingml/2006/main">
          <a:srgbClr val="212B21"/>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E3EC1CD-74EC-489B-9511-647259AFF557}"/>
              </a:ext>
            </a:extLst>
          </p:cNvPr>
          <p:cNvSpPr>
            <a:spLocks xmlns:a="http://schemas.openxmlformats.org/drawingml/2006/main" noGrp="1"/>
          </p:cNvSpPr>
          <p:nvPr/>
        </p:nvSpPr>
        <p:spPr>
          <a:xfrm xmlns:a="http://schemas.openxmlformats.org/drawingml/2006/main" rot="0" flipH="0" flipV="0">
            <a:off x="1028700" y="985634"/>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8a14c404fb404141">
              <a:extLst>
                <a:ext uri="{96DAC541-7B7A-43D3-8B79-37D633B846F1}">
                  <asvg:svgBlip xmlns:asvg="http://schemas.microsoft.com/office/drawing/2016/SVG/main" r:embed="R1604e777f36d4d50"/>
                </a:ext>
              </a:extLst>
            </a:blip>
            <a:stretch>
              <a:fillRect l="0" t="0" r="0" b="0"/>
            </a:stretch>
          </a:blipFill>
        </p:spPr>
      </p:sp>
      <p:sp>
        <p:nvSpPr>
          <p:cNvPr id="3" name="AutoShape 3">
            <a:extLst xmlns:a="http://schemas.openxmlformats.org/drawingml/2006/main">
              <a:ext uri="{FF2B5EF4-FFF2-40B4-BE49-F238E27FC236}">
                <a16:creationId xmlns:a16="http://schemas.microsoft.com/office/drawing/2014/main" id="{B122CC8A-2A49-4A42-A0A7-6BAAB8810B26}"/>
              </a:ext>
            </a:extLst>
          </p:cNvPr>
          <p:cNvSpPr>
            <a:spLocks xmlns:a="http://schemas.openxmlformats.org/drawingml/2006/main" noGrp="1"/>
          </p:cNvSpPr>
          <p:nvPr/>
        </p:nvSpPr>
        <p:spPr>
          <a:xfrm xmlns:a="http://schemas.openxmlformats.org/drawingml/2006/main">
            <a:off x="4263270" y="1191823"/>
            <a:ext cx="3872038"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4" name="TextBox 4">
            <a:extLst xmlns:a="http://schemas.openxmlformats.org/drawingml/2006/main">
              <a:ext uri="{FF2B5EF4-FFF2-40B4-BE49-F238E27FC236}">
                <a16:creationId xmlns:a16="http://schemas.microsoft.com/office/drawing/2014/main" id="{DFF5B6E3-3302-4D33-AE18-1C19BB082C2E}"/>
              </a:ext>
            </a:extLst>
          </p:cNvPr>
          <p:cNvSpPr>
            <a:spLocks xmlns:a="http://schemas.openxmlformats.org/drawingml/2006/main" noGrp="1"/>
          </p:cNvSpPr>
          <p:nvPr/>
        </p:nvSpPr>
        <p:spPr>
          <a:xfrm xmlns:a="http://schemas.openxmlformats.org/drawingml/2006/main" rot="0">
            <a:off x="1552575" y="1047750"/>
            <a:ext cx="4572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FFFFFF"/>
                </a:solidFill>
                <a:latin typeface="Open Sauce"/>
                <a:ea typeface="Open Sauce"/>
                <a:cs typeface="Open Sauce"/>
              </a:rPr>
              <a:t>MYSignVoice</a:t>
            </a:r>
          </a:p>
        </p:txBody>
      </p:sp>
      <p:sp>
        <p:nvSpPr>
          <p:cNvPr id="5" name="TextBox 5">
            <a:extLst xmlns:a="http://schemas.openxmlformats.org/drawingml/2006/main">
              <a:ext uri="{FF2B5EF4-FFF2-40B4-BE49-F238E27FC236}">
                <a16:creationId xmlns:a16="http://schemas.microsoft.com/office/drawing/2014/main" id="{65DAEB47-D26D-443C-93B2-31C829A5A9F2}"/>
              </a:ext>
            </a:extLst>
          </p:cNvPr>
          <p:cNvSpPr>
            <a:spLocks xmlns:a="http://schemas.openxmlformats.org/drawingml/2006/main" noGrp="1"/>
          </p:cNvSpPr>
          <p:nvPr/>
        </p:nvSpPr>
        <p:spPr>
          <a:xfrm xmlns:a="http://schemas.openxmlformats.org/drawingml/2006/main" rot="0">
            <a:off x="1028700" y="8662853"/>
            <a:ext cx="1823820" cy="1524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spc="-60">
                <a:solidFill>
                  <a:srgbClr val="FFFFFF"/>
                </a:solidFill>
                <a:latin typeface="Open Sauce"/>
                <a:ea typeface="Open Sauce"/>
                <a:cs typeface="Open Sauce"/>
              </a:rPr>
              <a:t>Questions?</a:t>
            </a:r>
          </a:p>
        </p:txBody>
      </p:sp>
      <p:sp>
        <p:nvSpPr>
          <p:cNvPr id="6" name="TextBox 6">
            <a:extLst xmlns:a="http://schemas.openxmlformats.org/drawingml/2006/main">
              <a:ext uri="{FF2B5EF4-FFF2-40B4-BE49-F238E27FC236}">
                <a16:creationId xmlns:a16="http://schemas.microsoft.com/office/drawing/2014/main" id="{B969E5CD-55DD-4D1E-B890-3E1F5DC207EE}"/>
              </a:ext>
            </a:extLst>
          </p:cNvPr>
          <p:cNvSpPr>
            <a:spLocks xmlns:a="http://schemas.openxmlformats.org/drawingml/2006/main" noGrp="1"/>
          </p:cNvSpPr>
          <p:nvPr/>
        </p:nvSpPr>
        <p:spPr>
          <a:xfrm xmlns:a="http://schemas.openxmlformats.org/drawingml/2006/main" rot="0">
            <a:off x="4587724" y="8662853"/>
            <a:ext cx="1823820" cy="1524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spc="-60">
                <a:solidFill>
                  <a:srgbClr val="FFFFFF"/>
                </a:solidFill>
                <a:latin typeface="Open Sauce"/>
                <a:ea typeface="Open Sauce"/>
                <a:cs typeface="Open Sauce"/>
              </a:rPr>
              <a:t>Group Member</a:t>
            </a:r>
          </a:p>
        </p:txBody>
      </p:sp>
      <p:sp>
        <p:nvSpPr>
          <p:cNvPr id="7" name="TextBox 7">
            <a:extLst xmlns:a="http://schemas.openxmlformats.org/drawingml/2006/main">
              <a:ext uri="{FF2B5EF4-FFF2-40B4-BE49-F238E27FC236}">
                <a16:creationId xmlns:a16="http://schemas.microsoft.com/office/drawing/2014/main" id="{CE0D9E7C-C95D-49B6-BE1C-814DD445E8A3}"/>
              </a:ext>
            </a:extLst>
          </p:cNvPr>
          <p:cNvSpPr>
            <a:spLocks xmlns:a="http://schemas.openxmlformats.org/drawingml/2006/main" noGrp="1"/>
          </p:cNvSpPr>
          <p:nvPr/>
        </p:nvSpPr>
        <p:spPr>
          <a:xfrm xmlns:a="http://schemas.openxmlformats.org/drawingml/2006/main" rot="0">
            <a:off x="13960802" y="8662853"/>
            <a:ext cx="2191945" cy="1524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spc="-60">
                <a:solidFill>
                  <a:srgbClr val="FFFFFF"/>
                </a:solidFill>
                <a:latin typeface="Open Sauce"/>
                <a:ea typeface="Open Sauce"/>
                <a:cs typeface="Open Sauce"/>
              </a:rPr>
              <a:t>Universiti Tunku Abdul Rahman</a:t>
            </a:r>
          </a:p>
        </p:txBody>
      </p:sp>
      <p:sp>
        <p:nvSpPr>
          <p:cNvPr id="8" name="TextBox 8">
            <a:extLst xmlns:a="http://schemas.openxmlformats.org/drawingml/2006/main">
              <a:ext uri="{FF2B5EF4-FFF2-40B4-BE49-F238E27FC236}">
                <a16:creationId xmlns:a16="http://schemas.microsoft.com/office/drawing/2014/main" id="{3B41E7AA-D734-48E3-99FD-2D76676C8067}"/>
              </a:ext>
            </a:extLst>
          </p:cNvPr>
          <p:cNvSpPr>
            <a:spLocks xmlns:a="http://schemas.openxmlformats.org/drawingml/2006/main" noGrp="1"/>
          </p:cNvSpPr>
          <p:nvPr/>
        </p:nvSpPr>
        <p:spPr>
          <a:xfrm xmlns:a="http://schemas.openxmlformats.org/drawingml/2006/main" rot="0">
            <a:off x="1028700" y="9026525"/>
            <a:ext cx="2611949" cy="2952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b="1" spc="-60">
                <a:solidFill>
                  <a:srgbClr val="F99C00"/>
                </a:solidFill>
                <a:latin typeface="Open Sauce Medium"/>
                <a:ea typeface="Open Sauce Medium"/>
                <a:cs typeface="Open Sauce Medium"/>
              </a:rPr>
              <a:t>We welcome your questions and feedback</a:t>
            </a:r>
          </a:p>
        </p:txBody>
      </p:sp>
      <p:sp>
        <p:nvSpPr>
          <p:cNvPr id="9" name="TextBox 9">
            <a:extLst xmlns:a="http://schemas.openxmlformats.org/drawingml/2006/main">
              <a:ext uri="{FF2B5EF4-FFF2-40B4-BE49-F238E27FC236}">
                <a16:creationId xmlns:a16="http://schemas.microsoft.com/office/drawing/2014/main" id="{F9ADEFFF-B3AC-404C-A4FA-818F3458FD7C}"/>
              </a:ext>
            </a:extLst>
          </p:cNvPr>
          <p:cNvSpPr>
            <a:spLocks xmlns:a="http://schemas.openxmlformats.org/drawingml/2006/main" noGrp="1"/>
          </p:cNvSpPr>
          <p:nvPr/>
        </p:nvSpPr>
        <p:spPr>
          <a:xfrm xmlns:a="http://schemas.openxmlformats.org/drawingml/2006/main" rot="0">
            <a:off x="4587724" y="9026525"/>
            <a:ext cx="3939912" cy="58102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139"/>
              </a:lnSpc>
              <a:buNone/>
            </a:pPr>
            <a:r>
              <a:rPr sz="1200" b="1" spc="-60">
                <a:solidFill>
                  <a:srgbClr val="F99C00"/>
                </a:solidFill>
                <a:latin typeface="Open Sauce Medium"/>
                <a:ea typeface="Open Sauce Medium"/>
                <a:cs typeface="Open Sauce Medium"/>
              </a:rPr>
              <a:t>Aedan Loh Yi Cheng</a:t>
            </a:r>
          </a:p>
          <a:p xmlns:a="http://schemas.openxmlformats.org/drawingml/2006/main">
            <a:pPr algn="l">
              <a:lnSpc>
                <a:spcPts val="1139"/>
              </a:lnSpc>
              <a:buNone/>
            </a:pPr>
            <a:r>
              <a:rPr sz="1200" b="1" spc="-60">
                <a:solidFill>
                  <a:srgbClr val="F99C00"/>
                </a:solidFill>
                <a:latin typeface="Open Sauce Medium"/>
                <a:ea typeface="Open Sauce Medium"/>
                <a:cs typeface="Open Sauce Medium"/>
              </a:rPr>
              <a:t>Crystalina Dibble</a:t>
            </a:r>
          </a:p>
          <a:p xmlns:a="http://schemas.openxmlformats.org/drawingml/2006/main">
            <a:pPr algn="l">
              <a:lnSpc>
                <a:spcPts val="1139"/>
              </a:lnSpc>
              <a:buNone/>
            </a:pPr>
            <a:r>
              <a:rPr sz="1200" b="1" spc="-60">
                <a:solidFill>
                  <a:srgbClr val="F99C00"/>
                </a:solidFill>
                <a:latin typeface="Open Sauce Medium"/>
                <a:ea typeface="Open Sauce Medium"/>
                <a:cs typeface="Open Sauce Medium"/>
              </a:rPr>
              <a:t>Tan Hui Min</a:t>
            </a:r>
          </a:p>
          <a:p xmlns:a="http://schemas.openxmlformats.org/drawingml/2006/main">
            <a:pPr marL="0" lvl="0" indent="0" algn="l">
              <a:lnSpc>
                <a:spcPts val="1139"/>
              </a:lnSpc>
              <a:buNone/>
            </a:pPr>
            <a:r>
              <a:rPr sz="1200" b="1" spc="-60">
                <a:solidFill>
                  <a:srgbClr val="F99C00"/>
                </a:solidFill>
                <a:latin typeface="Open Sauce Medium"/>
                <a:ea typeface="Open Sauce Medium"/>
                <a:cs typeface="Open Sauce Medium"/>
              </a:rPr>
              <a:t>Kendrew Lim Yan Zhe</a:t>
            </a:r>
          </a:p>
        </p:txBody>
      </p:sp>
      <p:sp>
        <p:nvSpPr>
          <p:cNvPr id="10" name="TextBox 10">
            <a:extLst xmlns:a="http://schemas.openxmlformats.org/drawingml/2006/main">
              <a:ext uri="{FF2B5EF4-FFF2-40B4-BE49-F238E27FC236}">
                <a16:creationId xmlns:a16="http://schemas.microsoft.com/office/drawing/2014/main" id="{F2EE8DE7-F911-4C0C-AC9B-17088992F839}"/>
              </a:ext>
            </a:extLst>
          </p:cNvPr>
          <p:cNvSpPr>
            <a:spLocks xmlns:a="http://schemas.openxmlformats.org/drawingml/2006/main" noGrp="1"/>
          </p:cNvSpPr>
          <p:nvPr/>
        </p:nvSpPr>
        <p:spPr>
          <a:xfrm xmlns:a="http://schemas.openxmlformats.org/drawingml/2006/main" rot="0">
            <a:off x="13960802" y="9026525"/>
            <a:ext cx="3298498" cy="29527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b="1" spc="-60">
                <a:solidFill>
                  <a:srgbClr val="F99C00"/>
                </a:solidFill>
                <a:latin typeface="Open Sauce Medium"/>
                <a:ea typeface="Open Sauce Medium"/>
                <a:cs typeface="Open Sauce Medium"/>
              </a:rPr>
              <a:t>Faculty of Information and Communication Technology</a:t>
            </a:r>
          </a:p>
        </p:txBody>
      </p:sp>
      <p:sp>
        <p:nvSpPr>
          <p:cNvPr id="11" name="TextBox 11">
            <a:extLst xmlns:a="http://schemas.openxmlformats.org/drawingml/2006/main">
              <a:ext uri="{FF2B5EF4-FFF2-40B4-BE49-F238E27FC236}">
                <a16:creationId xmlns:a16="http://schemas.microsoft.com/office/drawing/2014/main" id="{362DBF10-AB3C-4E27-96C5-15CDE42A02D7}"/>
              </a:ext>
            </a:extLst>
          </p:cNvPr>
          <p:cNvSpPr>
            <a:spLocks xmlns:a="http://schemas.openxmlformats.org/drawingml/2006/main" noGrp="1"/>
          </p:cNvSpPr>
          <p:nvPr/>
        </p:nvSpPr>
        <p:spPr>
          <a:xfrm xmlns:a="http://schemas.openxmlformats.org/drawingml/2006/main" rot="0">
            <a:off x="8900016" y="1077188"/>
            <a:ext cx="2611949" cy="1524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1139"/>
              </a:lnSpc>
              <a:buNone/>
            </a:pPr>
            <a:r>
              <a:rPr sz="1200" spc="-60">
                <a:solidFill>
                  <a:srgbClr val="FFFFFF"/>
                </a:solidFill>
                <a:latin typeface="Open Sauce"/>
                <a:ea typeface="Open Sauce"/>
                <a:cs typeface="Open Sauce"/>
              </a:rPr>
              <a:t>Presented by Team 4</a:t>
            </a:r>
          </a:p>
        </p:txBody>
      </p:sp>
      <p:sp>
        <p:nvSpPr>
          <p:cNvPr id="12" name="Freeform 12">
            <a:extLst xmlns:a="http://schemas.openxmlformats.org/drawingml/2006/main">
              <a:ext uri="{FF2B5EF4-FFF2-40B4-BE49-F238E27FC236}">
                <a16:creationId xmlns:a16="http://schemas.microsoft.com/office/drawing/2014/main" id="{D09EFB33-45D0-4890-82BC-D859EB9623EA}"/>
              </a:ext>
            </a:extLst>
          </p:cNvPr>
          <p:cNvSpPr>
            <a:spLocks xmlns:a="http://schemas.openxmlformats.org/drawingml/2006/main" noGrp="1"/>
          </p:cNvSpPr>
          <p:nvPr/>
        </p:nvSpPr>
        <p:spPr>
          <a:xfrm xmlns:a="http://schemas.openxmlformats.org/drawingml/2006/main" rot="0" flipH="0" flipV="0">
            <a:off x="9863269" y="8764453"/>
            <a:ext cx="645809" cy="361653"/>
          </a:xfrm>
          <a:custGeom xmlns:a="http://schemas.openxmlformats.org/drawingml/2006/main">
            <a:rect l="l" t="t" r="r" b="b"/>
            <a:pathLst>
              <a:path w="645809" h="361653">
                <a:moveTo>
                  <a:pt x="0" y="0"/>
                </a:moveTo>
                <a:lnTo>
                  <a:pt x="645809" y="0"/>
                </a:lnTo>
                <a:lnTo>
                  <a:pt x="645809" y="361653"/>
                </a:lnTo>
                <a:lnTo>
                  <a:pt x="0" y="361653"/>
                </a:lnTo>
                <a:lnTo>
                  <a:pt x="0" y="0"/>
                </a:lnTo>
                <a:close/>
              </a:path>
            </a:pathLst>
          </a:custGeom>
          <a:blipFill xmlns:a="http://schemas.openxmlformats.org/drawingml/2006/main">
            <a:blip xmlns:r="http://schemas.openxmlformats.org/officeDocument/2006/relationships" r:embed="Rc7dab8bc6f644831">
              <a:extLst>
                <a:ext uri="{96DAC541-7B7A-43D3-8B79-37D633B846F1}">
                  <asvg:svgBlip xmlns:asvg="http://schemas.microsoft.com/office/drawing/2016/SVG/main" r:embed="Ra5f6f9491901477b"/>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1A536AF3-F73E-40AA-B780-A96A15B9DC23}"/>
              </a:ext>
            </a:extLst>
          </p:cNvPr>
          <p:cNvSpPr>
            <a:spLocks xmlns:a="http://schemas.openxmlformats.org/drawingml/2006/main" noGrp="1"/>
          </p:cNvSpPr>
          <p:nvPr/>
        </p:nvSpPr>
        <p:spPr>
          <a:xfrm xmlns:a="http://schemas.openxmlformats.org/drawingml/2006/main" rot="0">
            <a:off x="1028700" y="3714750"/>
            <a:ext cx="15049500" cy="2286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6150" b="1">
                <a:solidFill>
                  <a:srgbClr val="FFFFFF"/>
                </a:solidFill>
                <a:latin typeface="Open Sauce Medium"/>
                <a:ea typeface="Open Sauce Medium"/>
                <a:cs typeface="Open Sauce Medium"/>
              </a:rPr>
              <a:t>THANK YOU
Questions and discussion</a:t>
            </a:r>
          </a:p>
        </p:txBody>
      </p:sp>
    </p:spTree>
    <p:extLst>
      <p:ext uri="{BB962C8B-B14F-4D97-AF65-F5344CB8AC3E}">
        <p14:creationId xmlns:p14="http://schemas.microsoft.com/office/powerpoint/2010/main" val="962927389"/>
      </p:ext>
    </p:extLst>
  </p:cSld>
</p:sld>
</file>

<file path=ppt/slides/slide21.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a2d770b2da8e4bb5">
              <a:extLst>
                <a:ext uri="{96DAC541-7B7A-43D3-8B79-37D633B846F1}">
                  <asvg:svgBlip xmlns:asvg="http://schemas.microsoft.com/office/drawing/2016/SVG/main" r:embed="Rbef073825e2b4628"/>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BACKUP: VERSION 1 LOSS DETAILS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cb31239d93846ab"/>
          <a:stretch xmlns:a="http://schemas.openxmlformats.org/drawingml/2006/main"/>
        </p:blipFill>
        <p:spPr>
          <a:xfrm xmlns:a="http://schemas.openxmlformats.org/drawingml/2006/main">
            <a:off x="3468688" y="2762250"/>
            <a:ext cx="11350625" cy="6191250"/>
          </a:xfrm>
          <a:prstGeom xmlns:a="http://schemas.openxmlformats.org/drawingml/2006/main" prst="rect">
            <a:avLst/>
          </a:prstGeom>
        </p:spPr>
      </p:pic>
      <p:sp>
        <p:nvSpPr>
          <p:cNvPr id="8" name="s21-text-4">
            <a:extLst xmlns:a="http://schemas.openxmlformats.org/drawingml/2006/main">
              <a:ext uri="{FF2B5EF4-FFF2-40B4-BE49-F238E27FC236}">
                <a16:creationId xmlns:a16="http://schemas.microsoft.com/office/drawing/2014/main" id="{8DF40B7A-4917-445C-B7A2-43202DC65DA3}"/>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1 baseline run. Box, classification and L1 losses measure different parts of training.</a:t>
            </a:r>
          </a:p>
        </p:txBody>
      </p:sp>
      <p:sp>
        <p:nvSpPr>
          <p:cNvPr id="9" name="s21-text-5">
            <a:extLst xmlns:a="http://schemas.openxmlformats.org/drawingml/2006/main">
              <a:ext uri="{FF2B5EF4-FFF2-40B4-BE49-F238E27FC236}">
                <a16:creationId xmlns:a16="http://schemas.microsoft.com/office/drawing/2014/main" id="{AE6DF17F-6519-49DE-ACF7-7B8C65CA796E}"/>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21</a:t>
            </a:r>
          </a:p>
        </p:txBody>
      </p:sp>
    </p:spTree>
    <p:extLst>
      <p:ext uri="{BB962C8B-B14F-4D97-AF65-F5344CB8AC3E}">
        <p14:creationId xmlns:p14="http://schemas.microsoft.com/office/powerpoint/2010/main" val="2060094256"/>
      </p:ext>
    </p:extLst>
  </p:cSld>
</p:sld>
</file>

<file path=ppt/slides/slide22.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dbe562da1d1648f9">
              <a:extLst>
                <a:ext uri="{96DAC541-7B7A-43D3-8B79-37D633B846F1}">
                  <asvg:svgBlip xmlns:asvg="http://schemas.microsoft.com/office/drawing/2016/SVG/main" r:embed="R9dca41b7801f498d"/>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BACKUP: VERSION 1 EVALUATION CURVES</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b4a24585c84b02"/>
          <a:stretch xmlns:a="http://schemas.openxmlformats.org/drawingml/2006/main"/>
        </p:blipFill>
        <p:spPr>
          <a:xfrm xmlns:a="http://schemas.openxmlformats.org/drawingml/2006/main">
            <a:off x="952500" y="2952750"/>
            <a:ext cx="8001000" cy="5334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9e7eecefd434e73"/>
          <a:stretch xmlns:a="http://schemas.openxmlformats.org/drawingml/2006/main"/>
        </p:blipFill>
        <p:spPr>
          <a:xfrm xmlns:a="http://schemas.openxmlformats.org/drawingml/2006/main">
            <a:off x="9429750" y="2984500"/>
            <a:ext cx="7905750" cy="5270500"/>
          </a:xfrm>
          <a:prstGeom xmlns:a="http://schemas.openxmlformats.org/drawingml/2006/main" prst="rect">
            <a:avLst/>
          </a:prstGeom>
        </p:spPr>
      </p:pic>
      <p:sp>
        <p:nvSpPr>
          <p:cNvPr id="9" name="s22-text-4">
            <a:extLst xmlns:a="http://schemas.openxmlformats.org/drawingml/2006/main">
              <a:ext uri="{FF2B5EF4-FFF2-40B4-BE49-F238E27FC236}">
                <a16:creationId xmlns:a16="http://schemas.microsoft.com/office/drawing/2014/main" id="{B5C35522-DCBF-43C9-A5F3-9CB77E0617B1}"/>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1 tuned-model test curves. Raising confidence changes precision and recall in opposite ways.</a:t>
            </a:r>
          </a:p>
        </p:txBody>
      </p:sp>
      <p:sp>
        <p:nvSpPr>
          <p:cNvPr id="10" name="s22-text-5">
            <a:extLst xmlns:a="http://schemas.openxmlformats.org/drawingml/2006/main">
              <a:ext uri="{FF2B5EF4-FFF2-40B4-BE49-F238E27FC236}">
                <a16:creationId xmlns:a16="http://schemas.microsoft.com/office/drawing/2014/main" id="{E22AECAC-553F-43F9-9B3E-A361B0E22769}"/>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22</a:t>
            </a:r>
          </a:p>
        </p:txBody>
      </p:sp>
    </p:spTree>
    <p:extLst>
      <p:ext uri="{BB962C8B-B14F-4D97-AF65-F5344CB8AC3E}">
        <p14:creationId xmlns:p14="http://schemas.microsoft.com/office/powerpoint/2010/main" val="1420625453"/>
      </p:ext>
    </p:extLst>
  </p:cSld>
</p:sld>
</file>

<file path=ppt/slides/slide23.xml><?xml version="1.0" encoding="utf-8"?>
<p:sld xmlns:p="http://schemas.openxmlformats.org/presentationml/2006/main">
  <p:cSld>
    <p:bg>
      <p:bgPr>
        <a:solidFill xmlns:a="http://schemas.openxmlformats.org/drawingml/2006/main">
          <a:srgbClr val="FFFDFA"/>
        </a:solidFill>
      </p:bgPr>
    </p:bg>
    <p:spTree>
      <p:nvGrpSpPr>
        <p:cNvPr id="1" name=""/>
        <p:cNvGrpSpPr/>
        <p:nvPr/>
      </p:nvGrpSpPr>
      <p:grpSpPr>
        <a:xfrm xmlns:a="http://schemas.openxmlformats.org/drawingml/2006/main"/>
      </p:grpSpPr>
      <p:sp>
        <p:nvSpPr>
          <p:cNvPr id="5" name="Freeform 2">
            <a:extLst xmlns:a="http://schemas.openxmlformats.org/drawingml/2006/main">
              <a:ext uri="{FF2B5EF4-FFF2-40B4-BE49-F238E27FC236}">
                <a16:creationId xmlns:a16="http://schemas.microsoft.com/office/drawing/2014/main" id="{4916D490-FB25-4EC8-A4E6-D996C0FA2496}"/>
              </a:ext>
            </a:extLst>
          </p:cNvPr>
          <p:cNvSpPr>
            <a:spLocks xmlns:a="http://schemas.openxmlformats.org/drawingml/2006/main" noGrp="1"/>
          </p:cNvSpPr>
          <p:nvPr/>
        </p:nvSpPr>
        <p:spPr>
          <a:xfrm xmlns:a="http://schemas.openxmlformats.org/drawingml/2006/main" rot="0" flipH="0" flipV="0">
            <a:off x="1028700" y="681355"/>
            <a:ext cx="367258" cy="367258"/>
          </a:xfrm>
          <a:custGeom xmlns:a="http://schemas.openxmlformats.org/drawingml/2006/main">
            <a:rect l="l" t="t" r="r" b="b"/>
            <a:pathLst>
              <a:path w="367258" h="367258">
                <a:moveTo>
                  <a:pt x="0" y="0"/>
                </a:moveTo>
                <a:lnTo>
                  <a:pt x="367258" y="0"/>
                </a:lnTo>
                <a:lnTo>
                  <a:pt x="367258" y="367258"/>
                </a:lnTo>
                <a:lnTo>
                  <a:pt x="0" y="367258"/>
                </a:lnTo>
                <a:lnTo>
                  <a:pt x="0" y="0"/>
                </a:lnTo>
                <a:close/>
              </a:path>
            </a:pathLst>
          </a:custGeom>
          <a:blipFill xmlns:a="http://schemas.openxmlformats.org/drawingml/2006/main">
            <a:blip xmlns:r="http://schemas.openxmlformats.org/officeDocument/2006/relationships" r:embed="Rdf4366bbabc941a9">
              <a:extLst>
                <a:ext uri="{96DAC541-7B7A-43D3-8B79-37D633B846F1}">
                  <asvg:svgBlip xmlns:asvg="http://schemas.microsoft.com/office/drawing/2016/SVG/main" r:embed="Refff2c7b32234b97"/>
                </a:ext>
              </a:extLst>
            </a:blip>
            <a:stretch>
              <a:fillRect l="0" t="0" r="0" b="0"/>
            </a:stretch>
          </a:blipFill>
        </p:spPr>
      </p:sp>
      <p:sp>
        <p:nvSpPr>
          <p:cNvPr id="6" name="AutoShape 3">
            <a:extLst xmlns:a="http://schemas.openxmlformats.org/drawingml/2006/main">
              <a:ext uri="{FF2B5EF4-FFF2-40B4-BE49-F238E27FC236}">
                <a16:creationId xmlns:a16="http://schemas.microsoft.com/office/drawing/2014/main" id="{4ABACF74-418D-4472-A68F-4F344EDF139C}"/>
              </a:ext>
            </a:extLst>
          </p:cNvPr>
          <p:cNvSpPr>
            <a:spLocks xmlns:a="http://schemas.openxmlformats.org/drawingml/2006/main" noGrp="1"/>
          </p:cNvSpPr>
          <p:nvPr/>
        </p:nvSpPr>
        <p:spPr>
          <a:xfrm xmlns:a="http://schemas.openxmlformats.org/drawingml/2006/main">
            <a:off x="7905750" y="900870"/>
            <a:ext cx="3810000" cy="0"/>
          </a:xfrm>
          <a:prstGeom xmlns:a="http://schemas.openxmlformats.org/drawingml/2006/main" prst="line">
            <a:avLst/>
          </a:prstGeom>
          <a:ln xmlns:a="http://schemas.openxmlformats.org/drawingml/2006/main" w="19050">
            <a:solidFill>
              <a:srgbClr val="F99C00"/>
            </a:solidFill>
            <a:prstDash val="solid"/>
            <a:headEnd type="none" w="sm" len="sm"/>
            <a:tailEnd type="none" w="sm" len="sm"/>
          </a:ln>
        </p:spPr>
      </p:sp>
      <p:sp>
        <p:nvSpPr>
          <p:cNvPr id="3" name="TextBox 3">
            <a:extLst xmlns:a="http://schemas.openxmlformats.org/drawingml/2006/main">
              <a:ext uri="{FF2B5EF4-FFF2-40B4-BE49-F238E27FC236}">
                <a16:creationId xmlns:a16="http://schemas.microsoft.com/office/drawing/2014/main" id="{73F88042-F0C1-485B-A351-C744BAA8D663}"/>
              </a:ext>
            </a:extLst>
          </p:cNvPr>
          <p:cNvSpPr>
            <a:spLocks xmlns:a="http://schemas.openxmlformats.org/drawingml/2006/main" noGrp="1"/>
          </p:cNvSpPr>
          <p:nvPr/>
        </p:nvSpPr>
        <p:spPr>
          <a:xfrm xmlns:a="http://schemas.openxmlformats.org/drawingml/2006/main" rot="0">
            <a:off x="1028700" y="1352550"/>
            <a:ext cx="16192500" cy="876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4500" b="1">
                <a:solidFill>
                  <a:srgbClr val="212B21"/>
                </a:solidFill>
                <a:latin typeface="Open Sauce Medium"/>
                <a:ea typeface="Open Sauce Medium"/>
                <a:cs typeface="Open Sauce Medium"/>
              </a:rPr>
              <a:t>BACKUP: VERSION 1 CONFUSION MATRIX</a:t>
            </a:r>
          </a:p>
        </p:txBody>
      </p:sp>
      <p:sp>
        <p:nvSpPr>
          <p:cNvPr id="4" name="TextBox 4">
            <a:extLst xmlns:a="http://schemas.openxmlformats.org/drawingml/2006/main">
              <a:ext uri="{FF2B5EF4-FFF2-40B4-BE49-F238E27FC236}">
                <a16:creationId xmlns:a16="http://schemas.microsoft.com/office/drawing/2014/main" id="{1281A11A-7666-4FBE-B128-2D74F0A8E361}"/>
              </a:ext>
            </a:extLst>
          </p:cNvPr>
          <p:cNvSpPr>
            <a:spLocks xmlns:a="http://schemas.openxmlformats.org/drawingml/2006/main" noGrp="1"/>
          </p:cNvSpPr>
          <p:nvPr/>
        </p:nvSpPr>
        <p:spPr>
          <a:xfrm xmlns:a="http://schemas.openxmlformats.org/drawingml/2006/main" rot="0">
            <a:off x="1504950" y="742950"/>
            <a:ext cx="62865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lvl="0" algn="l">
              <a:buNone/>
            </a:pPr>
            <a:r>
              <a:rPr sz="2100" b="0">
                <a:solidFill>
                  <a:srgbClr val="212B21"/>
                </a:solidFill>
                <a:latin typeface="Open Sauce"/>
                <a:ea typeface="Open Sauce"/>
                <a:cs typeface="Open Sauce"/>
              </a:rPr>
              <a:t>Presented by Kendrew Lim Yan Zhe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0e1b0a1bba4e73"/>
          <a:stretch xmlns:a="http://schemas.openxmlformats.org/drawingml/2006/main"/>
        </p:blipFill>
        <p:spPr>
          <a:xfrm xmlns:a="http://schemas.openxmlformats.org/drawingml/2006/main">
            <a:off x="2476500" y="2381250"/>
            <a:ext cx="9525000" cy="7143750"/>
          </a:xfrm>
          <a:prstGeom xmlns:a="http://schemas.openxmlformats.org/drawingml/2006/main" prst="rect">
            <a:avLst/>
          </a:prstGeom>
        </p:spPr>
      </p:pic>
      <p:sp>
        <p:nvSpPr>
          <p:cNvPr id="8" name="s23-text-4">
            <a:extLst xmlns:a="http://schemas.openxmlformats.org/drawingml/2006/main">
              <a:ext uri="{FF2B5EF4-FFF2-40B4-BE49-F238E27FC236}">
                <a16:creationId xmlns:a16="http://schemas.microsoft.com/office/drawing/2014/main" id="{2D627F7B-8BAE-420E-9C57-8C4A43CEFCA8}"/>
              </a:ext>
            </a:extLst>
          </p:cNvPr>
          <p:cNvSpPr>
            <a:spLocks xmlns:a="http://schemas.openxmlformats.org/drawingml/2006/main" noGrp="1"/>
          </p:cNvSpPr>
          <p:nvPr/>
        </p:nvSpPr>
        <p:spPr>
          <a:xfrm xmlns:a="http://schemas.openxmlformats.org/drawingml/2006/main">
            <a:off x="14192250" y="28575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F5A000"/>
                </a:solidFill>
                <a:latin typeface="Open Sauce Medium"/>
                <a:ea typeface="Open Sauce Medium"/>
                <a:cs typeface="Open Sauce Medium"/>
              </a:defRPr>
            </a:pPr>
            <a:r>
              <a:rPr sz="2925" b="1">
                <a:solidFill>
                  <a:srgbClr val="F5A000"/>
                </a:solidFill>
                <a:latin typeface="Open Sauce Medium"/>
                <a:ea typeface="Open Sauce Medium"/>
                <a:cs typeface="Open Sauce Medium"/>
              </a:rPr>
              <a:t>Reading the matrix</a:t>
            </a:r>
          </a:p>
        </p:txBody>
      </p:sp>
      <p:sp>
        <p:nvSpPr>
          <p:cNvPr id="9" name="s23-text-5">
            <a:extLst xmlns:a="http://schemas.openxmlformats.org/drawingml/2006/main">
              <a:ext uri="{FF2B5EF4-FFF2-40B4-BE49-F238E27FC236}">
                <a16:creationId xmlns:a16="http://schemas.microsoft.com/office/drawing/2014/main" id="{B49F005C-9932-4EB3-A6D6-1C2F787DF47A}"/>
              </a:ext>
            </a:extLst>
          </p:cNvPr>
          <p:cNvSpPr>
            <a:spLocks xmlns:a="http://schemas.openxmlformats.org/drawingml/2006/main" noGrp="1"/>
          </p:cNvSpPr>
          <p:nvPr/>
        </p:nvSpPr>
        <p:spPr>
          <a:xfrm xmlns:a="http://schemas.openxmlformats.org/drawingml/2006/main">
            <a:off x="14192250" y="4286250"/>
            <a:ext cx="323850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212B21"/>
                </a:solidFill>
                <a:latin typeface="Open Sauce"/>
                <a:ea typeface="Open Sauce"/>
                <a:cs typeface="Open Sauce"/>
              </a:defRPr>
            </a:pPr>
            <a:r>
              <a:rPr sz="2475" b="0">
                <a:solidFill>
                  <a:srgbClr val="212B21"/>
                </a:solidFill>
                <a:latin typeface="Open Sauce"/>
                <a:ea typeface="Open Sauce"/>
                <a:cs typeface="Open Sauce"/>
              </a:rPr>
              <a:t>Diagonal: correct class</a:t>
            </a:r>
          </a:p>
          <a:p xmlns:a="http://schemas.openxmlformats.org/drawingml/2006/main">
            <a:r>
              <a:t/>
            </a:r>
          </a:p>
          <a:p xmlns:a="http://schemas.openxmlformats.org/drawingml/2006/main">
            <a:pPr>
              <a:defRPr sz="2475" b="0">
                <a:solidFill>
                  <a:srgbClr val="212B21"/>
                </a:solidFill>
                <a:latin typeface="Open Sauce"/>
                <a:ea typeface="Open Sauce"/>
                <a:cs typeface="Open Sauce"/>
              </a:defRPr>
            </a:pPr>
            <a:r>
              <a:rPr sz="2475" b="0">
                <a:solidFill>
                  <a:srgbClr val="212B21"/>
                </a:solidFill>
                <a:latin typeface="Open Sauce"/>
                <a:ea typeface="Open Sauce"/>
                <a:cs typeface="Open Sauce"/>
              </a:rPr>
              <a:t>Off diagonal: class confusion</a:t>
            </a:r>
          </a:p>
          <a:p xmlns:a="http://schemas.openxmlformats.org/drawingml/2006/main">
            <a:r>
              <a:t/>
            </a:r>
          </a:p>
          <a:p xmlns:a="http://schemas.openxmlformats.org/drawingml/2006/main">
            <a:pPr>
              <a:defRPr sz="2475" b="0">
                <a:solidFill>
                  <a:srgbClr val="212B21"/>
                </a:solidFill>
                <a:latin typeface="Open Sauce"/>
                <a:ea typeface="Open Sauce"/>
                <a:cs typeface="Open Sauce"/>
              </a:defRPr>
            </a:pPr>
            <a:r>
              <a:rPr sz="2475" b="0">
                <a:solidFill>
                  <a:srgbClr val="212B21"/>
                </a:solidFill>
                <a:latin typeface="Open Sauce"/>
                <a:ea typeface="Open Sauce"/>
                <a:cs typeface="Open Sauce"/>
              </a:rPr>
              <a:t>Background: missed or extra detections</a:t>
            </a:r>
          </a:p>
          <a:p xmlns:a="http://schemas.openxmlformats.org/drawingml/2006/main">
            <a:r>
              <a:t/>
            </a:r>
          </a:p>
          <a:p xmlns:a="http://schemas.openxmlformats.org/drawingml/2006/main">
            <a:pPr>
              <a:defRPr sz="2475" b="0">
                <a:solidFill>
                  <a:srgbClr val="212B21"/>
                </a:solidFill>
                <a:latin typeface="Open Sauce"/>
                <a:ea typeface="Open Sauce"/>
                <a:cs typeface="Open Sauce"/>
              </a:defRPr>
            </a:pPr>
            <a:r>
              <a:rPr sz="2475" b="0">
                <a:solidFill>
                  <a:srgbClr val="212B21"/>
                </a:solidFill>
                <a:latin typeface="Open Sauce"/>
                <a:ea typeface="Open Sauce"/>
                <a:cs typeface="Open Sauce"/>
              </a:rPr>
              <a:t>Inspect rare classes with their sample counts.</a:t>
            </a:r>
          </a:p>
        </p:txBody>
      </p:sp>
      <p:sp>
        <p:nvSpPr>
          <p:cNvPr id="10" name="s23-text-6">
            <a:extLst xmlns:a="http://schemas.openxmlformats.org/drawingml/2006/main">
              <a:ext uri="{FF2B5EF4-FFF2-40B4-BE49-F238E27FC236}">
                <a16:creationId xmlns:a16="http://schemas.microsoft.com/office/drawing/2014/main" id="{F529859A-59D8-49B6-837E-3BF719BB097E}"/>
              </a:ext>
            </a:extLst>
          </p:cNvPr>
          <p:cNvSpPr>
            <a:spLocks xmlns:a="http://schemas.openxmlformats.org/drawingml/2006/main" noGrp="1"/>
          </p:cNvSpPr>
          <p:nvPr/>
        </p:nvSpPr>
        <p:spPr>
          <a:xfrm xmlns:a="http://schemas.openxmlformats.org/drawingml/2006/main">
            <a:off x="1028700" y="9544050"/>
            <a:ext cx="1562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0655E"/>
                </a:solidFill>
                <a:latin typeface="Open Sauce"/>
                <a:ea typeface="Open Sauce"/>
                <a:cs typeface="Open Sauce"/>
              </a:defRPr>
            </a:pPr>
            <a:r>
              <a:rPr sz="1875" b="0">
                <a:solidFill>
                  <a:srgbClr val="60655E"/>
                </a:solidFill>
                <a:latin typeface="Open Sauce"/>
                <a:ea typeface="Open Sauce"/>
                <a:cs typeface="Open Sauce"/>
              </a:rPr>
              <a:t>Version 1 tuned-model held-out confusion matrix. Included as a backup because 63 classes make it dense.</a:t>
            </a:r>
          </a:p>
        </p:txBody>
      </p:sp>
      <p:sp>
        <p:nvSpPr>
          <p:cNvPr id="11" name="s23-text-7">
            <a:extLst xmlns:a="http://schemas.openxmlformats.org/drawingml/2006/main">
              <a:ext uri="{FF2B5EF4-FFF2-40B4-BE49-F238E27FC236}">
                <a16:creationId xmlns:a16="http://schemas.microsoft.com/office/drawing/2014/main" id="{1ECA7535-12DA-4DB5-B5B9-25D20D9532FF}"/>
              </a:ext>
            </a:extLst>
          </p:cNvPr>
          <p:cNvSpPr>
            <a:spLocks xmlns:a="http://schemas.openxmlformats.org/drawingml/2006/main" noGrp="1"/>
          </p:cNvSpPr>
          <p:nvPr/>
        </p:nvSpPr>
        <p:spPr>
          <a:xfrm xmlns:a="http://schemas.openxmlformats.org/drawingml/2006/main">
            <a:off x="17287875" y="9591675"/>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0655E"/>
                </a:solidFill>
                <a:latin typeface="Open Sauce"/>
                <a:ea typeface="Open Sauce"/>
                <a:cs typeface="Open Sauce"/>
              </a:defRPr>
            </a:pPr>
            <a:r>
              <a:rPr sz="1800" b="0">
                <a:solidFill>
                  <a:srgbClr val="60655E"/>
                </a:solidFill>
                <a:latin typeface="Open Sauce"/>
                <a:ea typeface="Open Sauce"/>
                <a:cs typeface="Open Sauce"/>
              </a:rPr>
              <a:t>23</a:t>
            </a:r>
          </a:p>
        </p:txBody>
      </p:sp>
    </p:spTree>
    <p:extLst>
      <p:ext uri="{BB962C8B-B14F-4D97-AF65-F5344CB8AC3E}">
        <p14:creationId xmlns:p14="http://schemas.microsoft.com/office/powerpoint/2010/main" val="93363307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2026-09-11T18:37:50.4360000Z</dcterms:created>
  <dcterms:modified xsi:type="dcterms:W3CDTF">2026-09-11T18:37:50.4360000Z</dcterms:modified>
</coreProperties>
</file>